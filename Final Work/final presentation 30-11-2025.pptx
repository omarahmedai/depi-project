
<file path=[Content_Types].xml><?xml version="1.0" encoding="utf-8"?>
<Types xmlns="http://schemas.openxmlformats.org/package/2006/content-types">
  <Default Extension="jpeg" ContentType="image/jpeg"/>
  <Default Extension="jpg" ContentType="image/pn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media/image3.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1"/>
  </p:notesMasterIdLst>
  <p:handoutMasterIdLst>
    <p:handoutMasterId r:id="rId42"/>
  </p:handoutMasterIdLst>
  <p:sldIdLst>
    <p:sldId id="296" r:id="rId5"/>
    <p:sldId id="259" r:id="rId6"/>
    <p:sldId id="329" r:id="rId7"/>
    <p:sldId id="325" r:id="rId8"/>
    <p:sldId id="337" r:id="rId9"/>
    <p:sldId id="338" r:id="rId10"/>
    <p:sldId id="343" r:id="rId11"/>
    <p:sldId id="344" r:id="rId12"/>
    <p:sldId id="345" r:id="rId13"/>
    <p:sldId id="346" r:id="rId14"/>
    <p:sldId id="321" r:id="rId15"/>
    <p:sldId id="263" r:id="rId16"/>
    <p:sldId id="264" r:id="rId17"/>
    <p:sldId id="266" r:id="rId18"/>
    <p:sldId id="322" r:id="rId19"/>
    <p:sldId id="324" r:id="rId20"/>
    <p:sldId id="293" r:id="rId21"/>
    <p:sldId id="294" r:id="rId22"/>
    <p:sldId id="295" r:id="rId23"/>
    <p:sldId id="286" r:id="rId24"/>
    <p:sldId id="347" r:id="rId25"/>
    <p:sldId id="323" r:id="rId26"/>
    <p:sldId id="306" r:id="rId27"/>
    <p:sldId id="288" r:id="rId28"/>
    <p:sldId id="290" r:id="rId29"/>
    <p:sldId id="328" r:id="rId30"/>
    <p:sldId id="292" r:id="rId31"/>
    <p:sldId id="287" r:id="rId32"/>
    <p:sldId id="308" r:id="rId33"/>
    <p:sldId id="309" r:id="rId34"/>
    <p:sldId id="310" r:id="rId35"/>
    <p:sldId id="311" r:id="rId36"/>
    <p:sldId id="312" r:id="rId37"/>
    <p:sldId id="348" r:id="rId38"/>
    <p:sldId id="327" r:id="rId39"/>
    <p:sldId id="32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33CCFF"/>
    <a:srgbClr val="103350"/>
    <a:srgbClr val="002136"/>
    <a:srgbClr val="008EE6"/>
    <a:srgbClr val="3333FF"/>
    <a:srgbClr val="0C4360"/>
    <a:srgbClr val="1B6872"/>
    <a:srgbClr val="63B7C6"/>
    <a:srgbClr val="0C75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67" autoAdjust="0"/>
    <p:restoredTop sz="94660"/>
  </p:normalViewPr>
  <p:slideViewPr>
    <p:cSldViewPr snapToGrid="0">
      <p:cViewPr varScale="1">
        <p:scale>
          <a:sx n="66" d="100"/>
          <a:sy n="66" d="100"/>
        </p:scale>
        <p:origin x="900" y="66"/>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11/30/2025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11/30/2025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AA2F52-1454-4940-8D7E-B9BD220508F5}" type="slidenum">
              <a:rPr lang="en-US" smtClean="0"/>
              <a:t>1</a:t>
            </a:fld>
            <a:endParaRPr lang="en-US"/>
          </a:p>
        </p:txBody>
      </p:sp>
    </p:spTree>
    <p:extLst>
      <p:ext uri="{BB962C8B-B14F-4D97-AF65-F5344CB8AC3E}">
        <p14:creationId xmlns:p14="http://schemas.microsoft.com/office/powerpoint/2010/main" val="2578088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7.svg"/><Relationship Id="rId7" Type="http://schemas.openxmlformats.org/officeDocument/2006/relationships/image" Target="../media/image11.sv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16.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5" Type="http://schemas.openxmlformats.org/officeDocument/2006/relationships/image" Target="../media/image1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16.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16.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16.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16.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16.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23.sv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5.svg"/><Relationship Id="rId7" Type="http://schemas.openxmlformats.org/officeDocument/2006/relationships/image" Target="../media/image34.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36.svg"/></Relationships>
</file>

<file path=ppt/slides/_rels/slide1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5.svg"/><Relationship Id="rId7" Type="http://schemas.openxmlformats.org/officeDocument/2006/relationships/image" Target="../media/image36.sv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40.svg"/><Relationship Id="rId5" Type="http://schemas.openxmlformats.org/officeDocument/2006/relationships/image" Target="../media/image21.svg"/><Relationship Id="rId10" Type="http://schemas.openxmlformats.org/officeDocument/2006/relationships/image" Target="../media/image39.png"/><Relationship Id="rId4" Type="http://schemas.openxmlformats.org/officeDocument/2006/relationships/image" Target="../media/image20.png"/><Relationship Id="rId9" Type="http://schemas.openxmlformats.org/officeDocument/2006/relationships/image" Target="../media/image38.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image" Target="../media/image43.png"/><Relationship Id="rId1" Type="http://schemas.openxmlformats.org/officeDocument/2006/relationships/slideLayout" Target="../slideLayouts/slideLayout16.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svg"/><Relationship Id="rId3" Type="http://schemas.openxmlformats.org/officeDocument/2006/relationships/image" Target="../media/image50.svg"/><Relationship Id="rId7" Type="http://schemas.openxmlformats.org/officeDocument/2006/relationships/image" Target="../media/image54.svg"/><Relationship Id="rId12" Type="http://schemas.openxmlformats.org/officeDocument/2006/relationships/image" Target="../media/image59.png"/><Relationship Id="rId2"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image" Target="../media/image58.svg"/><Relationship Id="rId5" Type="http://schemas.openxmlformats.org/officeDocument/2006/relationships/image" Target="../media/image52.sv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svg"/></Relationships>
</file>

<file path=ppt/slides/_rels/slide21.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svg"/><Relationship Id="rId7" Type="http://schemas.openxmlformats.org/officeDocument/2006/relationships/image" Target="../media/image36.sv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64.png"/><Relationship Id="rId5" Type="http://schemas.openxmlformats.org/officeDocument/2006/relationships/image" Target="../media/image21.svg"/><Relationship Id="rId10" Type="http://schemas.openxmlformats.org/officeDocument/2006/relationships/image" Target="../media/image63.png"/><Relationship Id="rId4" Type="http://schemas.openxmlformats.org/officeDocument/2006/relationships/image" Target="../media/image20.png"/><Relationship Id="rId9" Type="http://schemas.openxmlformats.org/officeDocument/2006/relationships/image" Target="../media/image62.svg"/></Relationships>
</file>

<file path=ppt/slides/_rels/slide2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svg"/><Relationship Id="rId7" Type="http://schemas.openxmlformats.org/officeDocument/2006/relationships/image" Target="../media/image36.sv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62.svg"/></Relationships>
</file>

<file path=ppt/slides/_rels/slide2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70.svg"/><Relationship Id="rId7" Type="http://schemas.openxmlformats.org/officeDocument/2006/relationships/image" Target="../media/image19.svg"/><Relationship Id="rId2"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75.svg"/><Relationship Id="rId5" Type="http://schemas.openxmlformats.org/officeDocument/2006/relationships/image" Target="../media/image72.svg"/><Relationship Id="rId10" Type="http://schemas.openxmlformats.org/officeDocument/2006/relationships/image" Target="../media/image39.png"/><Relationship Id="rId4" Type="http://schemas.openxmlformats.org/officeDocument/2006/relationships/image" Target="../media/image71.png"/><Relationship Id="rId9" Type="http://schemas.openxmlformats.org/officeDocument/2006/relationships/image" Target="../media/image74.svg"/></Relationships>
</file>

<file path=ppt/slides/_rels/slide29.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77.svg"/><Relationship Id="rId7" Type="http://schemas.openxmlformats.org/officeDocument/2006/relationships/image" Target="../media/image19.svg"/><Relationship Id="rId2" Type="http://schemas.openxmlformats.org/officeDocument/2006/relationships/image" Target="../media/image76.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75.svg"/><Relationship Id="rId5" Type="http://schemas.openxmlformats.org/officeDocument/2006/relationships/image" Target="../media/image72.svg"/><Relationship Id="rId10" Type="http://schemas.openxmlformats.org/officeDocument/2006/relationships/image" Target="../media/image39.png"/><Relationship Id="rId4" Type="http://schemas.openxmlformats.org/officeDocument/2006/relationships/image" Target="../media/image71.png"/><Relationship Id="rId9" Type="http://schemas.openxmlformats.org/officeDocument/2006/relationships/image" Target="../media/image74.svg"/></Relationships>
</file>

<file path=ppt/slides/_rels/slide30.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70.svg"/><Relationship Id="rId7" Type="http://schemas.openxmlformats.org/officeDocument/2006/relationships/image" Target="../media/image19.svg"/><Relationship Id="rId2"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75.svg"/><Relationship Id="rId5" Type="http://schemas.openxmlformats.org/officeDocument/2006/relationships/image" Target="../media/image79.svg"/><Relationship Id="rId10" Type="http://schemas.openxmlformats.org/officeDocument/2006/relationships/image" Target="../media/image39.png"/><Relationship Id="rId4" Type="http://schemas.openxmlformats.org/officeDocument/2006/relationships/image" Target="../media/image78.png"/><Relationship Id="rId9" Type="http://schemas.openxmlformats.org/officeDocument/2006/relationships/image" Target="../media/image74.svg"/></Relationships>
</file>

<file path=ppt/slides/_rels/slide31.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70.svg"/><Relationship Id="rId7" Type="http://schemas.openxmlformats.org/officeDocument/2006/relationships/image" Target="../media/image81.svg"/><Relationship Id="rId2"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80.png"/><Relationship Id="rId11" Type="http://schemas.openxmlformats.org/officeDocument/2006/relationships/image" Target="../media/image75.svg"/><Relationship Id="rId5" Type="http://schemas.openxmlformats.org/officeDocument/2006/relationships/image" Target="../media/image72.svg"/><Relationship Id="rId10" Type="http://schemas.openxmlformats.org/officeDocument/2006/relationships/image" Target="../media/image39.png"/><Relationship Id="rId4" Type="http://schemas.openxmlformats.org/officeDocument/2006/relationships/image" Target="../media/image71.png"/><Relationship Id="rId9" Type="http://schemas.openxmlformats.org/officeDocument/2006/relationships/image" Target="../media/image74.svg"/></Relationships>
</file>

<file path=ppt/slides/_rels/slide32.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70.svg"/><Relationship Id="rId7" Type="http://schemas.openxmlformats.org/officeDocument/2006/relationships/image" Target="../media/image19.svg"/><Relationship Id="rId2"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83.svg"/><Relationship Id="rId5" Type="http://schemas.openxmlformats.org/officeDocument/2006/relationships/image" Target="../media/image72.svg"/><Relationship Id="rId10" Type="http://schemas.openxmlformats.org/officeDocument/2006/relationships/image" Target="../media/image82.png"/><Relationship Id="rId4" Type="http://schemas.openxmlformats.org/officeDocument/2006/relationships/image" Target="../media/image71.png"/><Relationship Id="rId9" Type="http://schemas.openxmlformats.org/officeDocument/2006/relationships/image" Target="../media/image74.svg"/></Relationships>
</file>

<file path=ppt/slides/_rels/slide33.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70.svg"/><Relationship Id="rId7" Type="http://schemas.openxmlformats.org/officeDocument/2006/relationships/image" Target="../media/image19.svg"/><Relationship Id="rId2"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75.svg"/><Relationship Id="rId5" Type="http://schemas.openxmlformats.org/officeDocument/2006/relationships/image" Target="../media/image72.svg"/><Relationship Id="rId10" Type="http://schemas.openxmlformats.org/officeDocument/2006/relationships/image" Target="../media/image39.png"/><Relationship Id="rId4" Type="http://schemas.openxmlformats.org/officeDocument/2006/relationships/image" Target="../media/image71.png"/><Relationship Id="rId9" Type="http://schemas.openxmlformats.org/officeDocument/2006/relationships/image" Target="../media/image74.svg"/></Relationships>
</file>

<file path=ppt/slides/_rels/slide34.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svg"/><Relationship Id="rId7" Type="http://schemas.openxmlformats.org/officeDocument/2006/relationships/image" Target="../media/image36.sv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1.svg"/><Relationship Id="rId10" Type="http://schemas.openxmlformats.org/officeDocument/2006/relationships/hyperlink" Target="https://github.com/OmarAhmedAI/DEPI-Project" TargetMode="External"/><Relationship Id="rId4" Type="http://schemas.openxmlformats.org/officeDocument/2006/relationships/image" Target="../media/image20.png"/><Relationship Id="rId9" Type="http://schemas.openxmlformats.org/officeDocument/2006/relationships/image" Target="../media/image62.svg"/></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84.jpeg"/><Relationship Id="rId1" Type="http://schemas.openxmlformats.org/officeDocument/2006/relationships/slideLayout" Target="../slideLayouts/slideLayout14.xml"/><Relationship Id="rId4" Type="http://schemas.openxmlformats.org/officeDocument/2006/relationships/image" Target="../media/image3.jp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1AB8DDCA-9C09-CB74-F797-C6D4D1DBED0C}"/>
              </a:ext>
            </a:extLst>
          </p:cNvPr>
          <p:cNvPicPr>
            <a:picLocks noChangeAspect="1"/>
          </p:cNvPicPr>
          <p:nvPr/>
        </p:nvPicPr>
        <p:blipFill>
          <a:blip r:embed="rId3"/>
          <a:stretch>
            <a:fillRect/>
          </a:stretch>
        </p:blipFill>
        <p:spPr>
          <a:xfrm>
            <a:off x="0" y="-88900"/>
            <a:ext cx="12471400" cy="7175499"/>
          </a:xfrm>
          <a:prstGeom prst="rect">
            <a:avLst/>
          </a:prstGeom>
        </p:spPr>
      </p:pic>
      <p:sp>
        <p:nvSpPr>
          <p:cNvPr id="13" name="Freeform: Shape 12">
            <a:extLst>
              <a:ext uri="{FF2B5EF4-FFF2-40B4-BE49-F238E27FC236}">
                <a16:creationId xmlns:a16="http://schemas.microsoft.com/office/drawing/2014/main" id="{2774EBF8-58EB-A7C6-F84D-00B0866F5D5C}"/>
              </a:ext>
            </a:extLst>
          </p:cNvPr>
          <p:cNvSpPr/>
          <p:nvPr/>
        </p:nvSpPr>
        <p:spPr>
          <a:xfrm>
            <a:off x="0" y="-1976770"/>
            <a:ext cx="12560298" cy="9063369"/>
          </a:xfrm>
          <a:custGeom>
            <a:avLst/>
            <a:gdLst>
              <a:gd name="connsiteX0" fmla="*/ 0 w 12191999"/>
              <a:gd name="connsiteY0" fmla="*/ 1798970 h 8656969"/>
              <a:gd name="connsiteX1" fmla="*/ 112824 w 12191999"/>
              <a:gd name="connsiteY1" fmla="*/ 1798970 h 8656969"/>
              <a:gd name="connsiteX2" fmla="*/ 112824 w 12191999"/>
              <a:gd name="connsiteY2" fmla="*/ 7475573 h 8656969"/>
              <a:gd name="connsiteX3" fmla="*/ 447749 w 12191999"/>
              <a:gd name="connsiteY3" fmla="*/ 7810499 h 8656969"/>
              <a:gd name="connsiteX4" fmla="*/ 447748 w 12191999"/>
              <a:gd name="connsiteY4" fmla="*/ 7810500 h 8656969"/>
              <a:gd name="connsiteX5" fmla="*/ 782674 w 12191999"/>
              <a:gd name="connsiteY5" fmla="*/ 7475574 h 8656969"/>
              <a:gd name="connsiteX6" fmla="*/ 782675 w 12191999"/>
              <a:gd name="connsiteY6" fmla="*/ 1798970 h 8656969"/>
              <a:gd name="connsiteX7" fmla="*/ 925623 w 12191999"/>
              <a:gd name="connsiteY7" fmla="*/ 1798970 h 8656969"/>
              <a:gd name="connsiteX8" fmla="*/ 925623 w 12191999"/>
              <a:gd name="connsiteY8" fmla="*/ 6523073 h 8656969"/>
              <a:gd name="connsiteX9" fmla="*/ 1260549 w 12191999"/>
              <a:gd name="connsiteY9" fmla="*/ 6857999 h 8656969"/>
              <a:gd name="connsiteX10" fmla="*/ 1260548 w 12191999"/>
              <a:gd name="connsiteY10" fmla="*/ 6858000 h 8656969"/>
              <a:gd name="connsiteX11" fmla="*/ 1595474 w 12191999"/>
              <a:gd name="connsiteY11" fmla="*/ 6523074 h 8656969"/>
              <a:gd name="connsiteX12" fmla="*/ 1595475 w 12191999"/>
              <a:gd name="connsiteY12" fmla="*/ 1798970 h 8656969"/>
              <a:gd name="connsiteX13" fmla="*/ 1738423 w 12191999"/>
              <a:gd name="connsiteY13" fmla="*/ 1798970 h 8656969"/>
              <a:gd name="connsiteX14" fmla="*/ 1738423 w 12191999"/>
              <a:gd name="connsiteY14" fmla="*/ 7475573 h 8656969"/>
              <a:gd name="connsiteX15" fmla="*/ 2073349 w 12191999"/>
              <a:gd name="connsiteY15" fmla="*/ 7810499 h 8656969"/>
              <a:gd name="connsiteX16" fmla="*/ 2073348 w 12191999"/>
              <a:gd name="connsiteY16" fmla="*/ 7810500 h 8656969"/>
              <a:gd name="connsiteX17" fmla="*/ 2408274 w 12191999"/>
              <a:gd name="connsiteY17" fmla="*/ 7475574 h 8656969"/>
              <a:gd name="connsiteX18" fmla="*/ 2408275 w 12191999"/>
              <a:gd name="connsiteY18" fmla="*/ 1798970 h 8656969"/>
              <a:gd name="connsiteX19" fmla="*/ 2551223 w 12191999"/>
              <a:gd name="connsiteY19" fmla="*/ 1798970 h 8656969"/>
              <a:gd name="connsiteX20" fmla="*/ 2551223 w 12191999"/>
              <a:gd name="connsiteY20" fmla="*/ 6789773 h 8656969"/>
              <a:gd name="connsiteX21" fmla="*/ 2886149 w 12191999"/>
              <a:gd name="connsiteY21" fmla="*/ 7124699 h 8656969"/>
              <a:gd name="connsiteX22" fmla="*/ 2886148 w 12191999"/>
              <a:gd name="connsiteY22" fmla="*/ 7124700 h 8656969"/>
              <a:gd name="connsiteX23" fmla="*/ 3221074 w 12191999"/>
              <a:gd name="connsiteY23" fmla="*/ 6789774 h 8656969"/>
              <a:gd name="connsiteX24" fmla="*/ 3221075 w 12191999"/>
              <a:gd name="connsiteY24" fmla="*/ 1798970 h 8656969"/>
              <a:gd name="connsiteX25" fmla="*/ 3364023 w 12191999"/>
              <a:gd name="connsiteY25" fmla="*/ 1798970 h 8656969"/>
              <a:gd name="connsiteX26" fmla="*/ 3364023 w 12191999"/>
              <a:gd name="connsiteY26" fmla="*/ 7475573 h 8656969"/>
              <a:gd name="connsiteX27" fmla="*/ 3698949 w 12191999"/>
              <a:gd name="connsiteY27" fmla="*/ 7810499 h 8656969"/>
              <a:gd name="connsiteX28" fmla="*/ 3698948 w 12191999"/>
              <a:gd name="connsiteY28" fmla="*/ 7810500 h 8656969"/>
              <a:gd name="connsiteX29" fmla="*/ 4033874 w 12191999"/>
              <a:gd name="connsiteY29" fmla="*/ 7475574 h 8656969"/>
              <a:gd name="connsiteX30" fmla="*/ 4033875 w 12191999"/>
              <a:gd name="connsiteY30" fmla="*/ 1798970 h 8656969"/>
              <a:gd name="connsiteX31" fmla="*/ 4157917 w 12191999"/>
              <a:gd name="connsiteY31" fmla="*/ 1798970 h 8656969"/>
              <a:gd name="connsiteX32" fmla="*/ 4157917 w 12191999"/>
              <a:gd name="connsiteY32" fmla="*/ 6789773 h 8656969"/>
              <a:gd name="connsiteX33" fmla="*/ 4492842 w 12191999"/>
              <a:gd name="connsiteY33" fmla="*/ 7124699 h 8656969"/>
              <a:gd name="connsiteX34" fmla="*/ 4492842 w 12191999"/>
              <a:gd name="connsiteY34" fmla="*/ 7124700 h 8656969"/>
              <a:gd name="connsiteX35" fmla="*/ 4827767 w 12191999"/>
              <a:gd name="connsiteY35" fmla="*/ 6789774 h 8656969"/>
              <a:gd name="connsiteX36" fmla="*/ 4827768 w 12191999"/>
              <a:gd name="connsiteY36" fmla="*/ 1798970 h 8656969"/>
              <a:gd name="connsiteX37" fmla="*/ 4989622 w 12191999"/>
              <a:gd name="connsiteY37" fmla="*/ 1798970 h 8656969"/>
              <a:gd name="connsiteX38" fmla="*/ 4989622 w 12191999"/>
              <a:gd name="connsiteY38" fmla="*/ 7475573 h 8656969"/>
              <a:gd name="connsiteX39" fmla="*/ 5324549 w 12191999"/>
              <a:gd name="connsiteY39" fmla="*/ 7810499 h 8656969"/>
              <a:gd name="connsiteX40" fmla="*/ 5324547 w 12191999"/>
              <a:gd name="connsiteY40" fmla="*/ 7810500 h 8656969"/>
              <a:gd name="connsiteX41" fmla="*/ 5659473 w 12191999"/>
              <a:gd name="connsiteY41" fmla="*/ 7475574 h 8656969"/>
              <a:gd name="connsiteX42" fmla="*/ 5659474 w 12191999"/>
              <a:gd name="connsiteY42" fmla="*/ 1798970 h 8656969"/>
              <a:gd name="connsiteX43" fmla="*/ 5862676 w 12191999"/>
              <a:gd name="connsiteY43" fmla="*/ 1798970 h 8656969"/>
              <a:gd name="connsiteX44" fmla="*/ 5862676 w 12191999"/>
              <a:gd name="connsiteY44" fmla="*/ 6967573 h 8656969"/>
              <a:gd name="connsiteX45" fmla="*/ 6197602 w 12191999"/>
              <a:gd name="connsiteY45" fmla="*/ 7302499 h 8656969"/>
              <a:gd name="connsiteX46" fmla="*/ 6197601 w 12191999"/>
              <a:gd name="connsiteY46" fmla="*/ 7302500 h 8656969"/>
              <a:gd name="connsiteX47" fmla="*/ 6532527 w 12191999"/>
              <a:gd name="connsiteY47" fmla="*/ 6967574 h 8656969"/>
              <a:gd name="connsiteX48" fmla="*/ 6532528 w 12191999"/>
              <a:gd name="connsiteY48" fmla="*/ 1798970 h 8656969"/>
              <a:gd name="connsiteX49" fmla="*/ 12191999 w 12191999"/>
              <a:gd name="connsiteY49" fmla="*/ 1798970 h 8656969"/>
              <a:gd name="connsiteX50" fmla="*/ 12191999 w 12191999"/>
              <a:gd name="connsiteY50" fmla="*/ 8656969 h 8656969"/>
              <a:gd name="connsiteX51" fmla="*/ 0 w 12191999"/>
              <a:gd name="connsiteY51" fmla="*/ 8656969 h 8656969"/>
              <a:gd name="connsiteX52" fmla="*/ 447749 w 12191999"/>
              <a:gd name="connsiteY52" fmla="*/ 952500 h 8656969"/>
              <a:gd name="connsiteX53" fmla="*/ 782675 w 12191999"/>
              <a:gd name="connsiteY53" fmla="*/ 1287426 h 8656969"/>
              <a:gd name="connsiteX54" fmla="*/ 782675 w 12191999"/>
              <a:gd name="connsiteY54" fmla="*/ 1798970 h 8656969"/>
              <a:gd name="connsiteX55" fmla="*/ 112824 w 12191999"/>
              <a:gd name="connsiteY55" fmla="*/ 1798970 h 8656969"/>
              <a:gd name="connsiteX56" fmla="*/ 112824 w 12191999"/>
              <a:gd name="connsiteY56" fmla="*/ 1287426 h 8656969"/>
              <a:gd name="connsiteX57" fmla="*/ 447749 w 12191999"/>
              <a:gd name="connsiteY57" fmla="*/ 952500 h 8656969"/>
              <a:gd name="connsiteX58" fmla="*/ 2073349 w 12191999"/>
              <a:gd name="connsiteY58" fmla="*/ 952500 h 8656969"/>
              <a:gd name="connsiteX59" fmla="*/ 2408275 w 12191999"/>
              <a:gd name="connsiteY59" fmla="*/ 1287426 h 8656969"/>
              <a:gd name="connsiteX60" fmla="*/ 2408275 w 12191999"/>
              <a:gd name="connsiteY60" fmla="*/ 1798970 h 8656969"/>
              <a:gd name="connsiteX61" fmla="*/ 1738423 w 12191999"/>
              <a:gd name="connsiteY61" fmla="*/ 1798970 h 8656969"/>
              <a:gd name="connsiteX62" fmla="*/ 1738423 w 12191999"/>
              <a:gd name="connsiteY62" fmla="*/ 1287426 h 8656969"/>
              <a:gd name="connsiteX63" fmla="*/ 2073349 w 12191999"/>
              <a:gd name="connsiteY63" fmla="*/ 952500 h 8656969"/>
              <a:gd name="connsiteX64" fmla="*/ 3698949 w 12191999"/>
              <a:gd name="connsiteY64" fmla="*/ 952500 h 8656969"/>
              <a:gd name="connsiteX65" fmla="*/ 4033875 w 12191999"/>
              <a:gd name="connsiteY65" fmla="*/ 1287426 h 8656969"/>
              <a:gd name="connsiteX66" fmla="*/ 4033875 w 12191999"/>
              <a:gd name="connsiteY66" fmla="*/ 1798970 h 8656969"/>
              <a:gd name="connsiteX67" fmla="*/ 3364023 w 12191999"/>
              <a:gd name="connsiteY67" fmla="*/ 1798970 h 8656969"/>
              <a:gd name="connsiteX68" fmla="*/ 3364023 w 12191999"/>
              <a:gd name="connsiteY68" fmla="*/ 1287426 h 8656969"/>
              <a:gd name="connsiteX69" fmla="*/ 3698949 w 12191999"/>
              <a:gd name="connsiteY69" fmla="*/ 952500 h 8656969"/>
              <a:gd name="connsiteX70" fmla="*/ 5324549 w 12191999"/>
              <a:gd name="connsiteY70" fmla="*/ 952499 h 8656969"/>
              <a:gd name="connsiteX71" fmla="*/ 5659475 w 12191999"/>
              <a:gd name="connsiteY71" fmla="*/ 1287425 h 8656969"/>
              <a:gd name="connsiteX72" fmla="*/ 5659474 w 12191999"/>
              <a:gd name="connsiteY72" fmla="*/ 1798970 h 8656969"/>
              <a:gd name="connsiteX73" fmla="*/ 4989622 w 12191999"/>
              <a:gd name="connsiteY73" fmla="*/ 1798970 h 8656969"/>
              <a:gd name="connsiteX74" fmla="*/ 4989622 w 12191999"/>
              <a:gd name="connsiteY74" fmla="*/ 1287425 h 8656969"/>
              <a:gd name="connsiteX75" fmla="*/ 5324549 w 12191999"/>
              <a:gd name="connsiteY75" fmla="*/ 952499 h 8656969"/>
              <a:gd name="connsiteX76" fmla="*/ 6197602 w 12191999"/>
              <a:gd name="connsiteY76" fmla="*/ 444499 h 8656969"/>
              <a:gd name="connsiteX77" fmla="*/ 6532528 w 12191999"/>
              <a:gd name="connsiteY77" fmla="*/ 779425 h 8656969"/>
              <a:gd name="connsiteX78" fmla="*/ 6532528 w 12191999"/>
              <a:gd name="connsiteY78" fmla="*/ 1798970 h 8656969"/>
              <a:gd name="connsiteX79" fmla="*/ 5862676 w 12191999"/>
              <a:gd name="connsiteY79" fmla="*/ 1798970 h 8656969"/>
              <a:gd name="connsiteX80" fmla="*/ 5862676 w 12191999"/>
              <a:gd name="connsiteY80" fmla="*/ 779425 h 8656969"/>
              <a:gd name="connsiteX81" fmla="*/ 6197602 w 12191999"/>
              <a:gd name="connsiteY81" fmla="*/ 444499 h 8656969"/>
              <a:gd name="connsiteX82" fmla="*/ 2886149 w 12191999"/>
              <a:gd name="connsiteY82" fmla="*/ 266700 h 8656969"/>
              <a:gd name="connsiteX83" fmla="*/ 3221075 w 12191999"/>
              <a:gd name="connsiteY83" fmla="*/ 601626 h 8656969"/>
              <a:gd name="connsiteX84" fmla="*/ 3221075 w 12191999"/>
              <a:gd name="connsiteY84" fmla="*/ 1798970 h 8656969"/>
              <a:gd name="connsiteX85" fmla="*/ 2551223 w 12191999"/>
              <a:gd name="connsiteY85" fmla="*/ 1798970 h 8656969"/>
              <a:gd name="connsiteX86" fmla="*/ 2551223 w 12191999"/>
              <a:gd name="connsiteY86" fmla="*/ 601626 h 8656969"/>
              <a:gd name="connsiteX87" fmla="*/ 2886149 w 12191999"/>
              <a:gd name="connsiteY87" fmla="*/ 266700 h 8656969"/>
              <a:gd name="connsiteX88" fmla="*/ 4492842 w 12191999"/>
              <a:gd name="connsiteY88" fmla="*/ 266699 h 8656969"/>
              <a:gd name="connsiteX89" fmla="*/ 4827768 w 12191999"/>
              <a:gd name="connsiteY89" fmla="*/ 601625 h 8656969"/>
              <a:gd name="connsiteX90" fmla="*/ 4827768 w 12191999"/>
              <a:gd name="connsiteY90" fmla="*/ 1798970 h 8656969"/>
              <a:gd name="connsiteX91" fmla="*/ 4157917 w 12191999"/>
              <a:gd name="connsiteY91" fmla="*/ 1798970 h 8656969"/>
              <a:gd name="connsiteX92" fmla="*/ 4157917 w 12191999"/>
              <a:gd name="connsiteY92" fmla="*/ 601625 h 8656969"/>
              <a:gd name="connsiteX93" fmla="*/ 4492842 w 12191999"/>
              <a:gd name="connsiteY93" fmla="*/ 266699 h 8656969"/>
              <a:gd name="connsiteX94" fmla="*/ 1260549 w 12191999"/>
              <a:gd name="connsiteY94" fmla="*/ 0 h 8656969"/>
              <a:gd name="connsiteX95" fmla="*/ 1595475 w 12191999"/>
              <a:gd name="connsiteY95" fmla="*/ 334926 h 8656969"/>
              <a:gd name="connsiteX96" fmla="*/ 1595475 w 12191999"/>
              <a:gd name="connsiteY96" fmla="*/ 1798970 h 8656969"/>
              <a:gd name="connsiteX97" fmla="*/ 925623 w 12191999"/>
              <a:gd name="connsiteY97" fmla="*/ 1798970 h 8656969"/>
              <a:gd name="connsiteX98" fmla="*/ 925623 w 12191999"/>
              <a:gd name="connsiteY98" fmla="*/ 334926 h 8656969"/>
              <a:gd name="connsiteX99" fmla="*/ 1260549 w 12191999"/>
              <a:gd name="connsiteY99" fmla="*/ 0 h 865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1999" h="8656969">
                <a:moveTo>
                  <a:pt x="0" y="1798970"/>
                </a:moveTo>
                <a:lnTo>
                  <a:pt x="112824" y="1798970"/>
                </a:lnTo>
                <a:lnTo>
                  <a:pt x="112824" y="7475573"/>
                </a:lnTo>
                <a:cubicBezTo>
                  <a:pt x="112824" y="7660548"/>
                  <a:pt x="262774" y="7810499"/>
                  <a:pt x="447749" y="7810499"/>
                </a:cubicBezTo>
                <a:lnTo>
                  <a:pt x="447748" y="7810500"/>
                </a:lnTo>
                <a:cubicBezTo>
                  <a:pt x="632723" y="7810500"/>
                  <a:pt x="782674" y="7660549"/>
                  <a:pt x="782674" y="7475574"/>
                </a:cubicBezTo>
                <a:lnTo>
                  <a:pt x="782675" y="1798970"/>
                </a:lnTo>
                <a:lnTo>
                  <a:pt x="925623" y="1798970"/>
                </a:lnTo>
                <a:lnTo>
                  <a:pt x="925623" y="6523073"/>
                </a:lnTo>
                <a:cubicBezTo>
                  <a:pt x="925623" y="6708048"/>
                  <a:pt x="1075574" y="6857999"/>
                  <a:pt x="1260549" y="6857999"/>
                </a:cubicBezTo>
                <a:lnTo>
                  <a:pt x="1260548" y="6858000"/>
                </a:lnTo>
                <a:cubicBezTo>
                  <a:pt x="1445523" y="6858000"/>
                  <a:pt x="1595474" y="6708049"/>
                  <a:pt x="1595474" y="6523074"/>
                </a:cubicBezTo>
                <a:lnTo>
                  <a:pt x="1595475" y="1798970"/>
                </a:lnTo>
                <a:lnTo>
                  <a:pt x="1738423" y="1798970"/>
                </a:lnTo>
                <a:lnTo>
                  <a:pt x="1738423" y="7475573"/>
                </a:lnTo>
                <a:cubicBezTo>
                  <a:pt x="1738423" y="7660548"/>
                  <a:pt x="1888374" y="7810499"/>
                  <a:pt x="2073349" y="7810499"/>
                </a:cubicBezTo>
                <a:lnTo>
                  <a:pt x="2073348" y="7810500"/>
                </a:lnTo>
                <a:cubicBezTo>
                  <a:pt x="2258323" y="7810500"/>
                  <a:pt x="2408274" y="7660549"/>
                  <a:pt x="2408274" y="7475574"/>
                </a:cubicBezTo>
                <a:lnTo>
                  <a:pt x="2408275" y="1798970"/>
                </a:lnTo>
                <a:lnTo>
                  <a:pt x="2551223" y="1798970"/>
                </a:lnTo>
                <a:lnTo>
                  <a:pt x="2551223" y="6789773"/>
                </a:lnTo>
                <a:cubicBezTo>
                  <a:pt x="2551223" y="6974748"/>
                  <a:pt x="2701174" y="7124699"/>
                  <a:pt x="2886149" y="7124699"/>
                </a:cubicBezTo>
                <a:lnTo>
                  <a:pt x="2886148" y="7124700"/>
                </a:lnTo>
                <a:cubicBezTo>
                  <a:pt x="3071123" y="7124700"/>
                  <a:pt x="3221074" y="6974749"/>
                  <a:pt x="3221074" y="6789774"/>
                </a:cubicBezTo>
                <a:lnTo>
                  <a:pt x="3221075" y="1798970"/>
                </a:lnTo>
                <a:lnTo>
                  <a:pt x="3364023" y="1798970"/>
                </a:lnTo>
                <a:lnTo>
                  <a:pt x="3364023" y="7475573"/>
                </a:lnTo>
                <a:cubicBezTo>
                  <a:pt x="3364023" y="7660548"/>
                  <a:pt x="3513974" y="7810499"/>
                  <a:pt x="3698949" y="7810499"/>
                </a:cubicBezTo>
                <a:lnTo>
                  <a:pt x="3698948" y="7810500"/>
                </a:lnTo>
                <a:cubicBezTo>
                  <a:pt x="3883923" y="7810500"/>
                  <a:pt x="4033874" y="7660549"/>
                  <a:pt x="4033874" y="7475574"/>
                </a:cubicBezTo>
                <a:lnTo>
                  <a:pt x="4033875" y="1798970"/>
                </a:lnTo>
                <a:lnTo>
                  <a:pt x="4157917" y="1798970"/>
                </a:lnTo>
                <a:lnTo>
                  <a:pt x="4157917" y="6789773"/>
                </a:lnTo>
                <a:cubicBezTo>
                  <a:pt x="4157917" y="6974748"/>
                  <a:pt x="4307868" y="7124699"/>
                  <a:pt x="4492842" y="7124699"/>
                </a:cubicBezTo>
                <a:lnTo>
                  <a:pt x="4492842" y="7124700"/>
                </a:lnTo>
                <a:cubicBezTo>
                  <a:pt x="4677817" y="7124700"/>
                  <a:pt x="4827767" y="6974749"/>
                  <a:pt x="4827767" y="6789774"/>
                </a:cubicBezTo>
                <a:lnTo>
                  <a:pt x="4827768" y="1798970"/>
                </a:lnTo>
                <a:lnTo>
                  <a:pt x="4989622" y="1798970"/>
                </a:lnTo>
                <a:lnTo>
                  <a:pt x="4989622" y="7475573"/>
                </a:lnTo>
                <a:cubicBezTo>
                  <a:pt x="4989622" y="7660548"/>
                  <a:pt x="5139574" y="7810499"/>
                  <a:pt x="5324549" y="7810499"/>
                </a:cubicBezTo>
                <a:lnTo>
                  <a:pt x="5324547" y="7810500"/>
                </a:lnTo>
                <a:cubicBezTo>
                  <a:pt x="5509522" y="7810500"/>
                  <a:pt x="5659473" y="7660549"/>
                  <a:pt x="5659473" y="7475574"/>
                </a:cubicBezTo>
                <a:lnTo>
                  <a:pt x="5659474" y="1798970"/>
                </a:lnTo>
                <a:lnTo>
                  <a:pt x="5862676" y="1798970"/>
                </a:lnTo>
                <a:lnTo>
                  <a:pt x="5862676" y="6967573"/>
                </a:lnTo>
                <a:cubicBezTo>
                  <a:pt x="5862676" y="7152548"/>
                  <a:pt x="6012627" y="7302499"/>
                  <a:pt x="6197602" y="7302499"/>
                </a:cubicBezTo>
                <a:lnTo>
                  <a:pt x="6197601" y="7302500"/>
                </a:lnTo>
                <a:cubicBezTo>
                  <a:pt x="6382576" y="7302500"/>
                  <a:pt x="6532527" y="7152549"/>
                  <a:pt x="6532527" y="6967574"/>
                </a:cubicBezTo>
                <a:lnTo>
                  <a:pt x="6532528" y="1798970"/>
                </a:lnTo>
                <a:lnTo>
                  <a:pt x="12191999" y="1798970"/>
                </a:lnTo>
                <a:lnTo>
                  <a:pt x="12191999" y="8656969"/>
                </a:lnTo>
                <a:lnTo>
                  <a:pt x="0" y="8656969"/>
                </a:lnTo>
                <a:close/>
                <a:moveTo>
                  <a:pt x="447749" y="952500"/>
                </a:moveTo>
                <a:cubicBezTo>
                  <a:pt x="632724" y="952500"/>
                  <a:pt x="782675" y="1102451"/>
                  <a:pt x="782675" y="1287426"/>
                </a:cubicBezTo>
                <a:lnTo>
                  <a:pt x="782675" y="1798970"/>
                </a:lnTo>
                <a:lnTo>
                  <a:pt x="112824" y="1798970"/>
                </a:lnTo>
                <a:lnTo>
                  <a:pt x="112824" y="1287426"/>
                </a:lnTo>
                <a:cubicBezTo>
                  <a:pt x="112824" y="1102451"/>
                  <a:pt x="262774" y="952500"/>
                  <a:pt x="447749" y="952500"/>
                </a:cubicBezTo>
                <a:close/>
                <a:moveTo>
                  <a:pt x="2073349" y="952500"/>
                </a:moveTo>
                <a:cubicBezTo>
                  <a:pt x="2258324" y="952500"/>
                  <a:pt x="2408275" y="1102451"/>
                  <a:pt x="2408275" y="1287426"/>
                </a:cubicBezTo>
                <a:lnTo>
                  <a:pt x="2408275" y="1798970"/>
                </a:lnTo>
                <a:lnTo>
                  <a:pt x="1738423" y="1798970"/>
                </a:lnTo>
                <a:lnTo>
                  <a:pt x="1738423" y="1287426"/>
                </a:lnTo>
                <a:cubicBezTo>
                  <a:pt x="1738423" y="1102451"/>
                  <a:pt x="1888374" y="952500"/>
                  <a:pt x="2073349" y="952500"/>
                </a:cubicBezTo>
                <a:close/>
                <a:moveTo>
                  <a:pt x="3698949" y="952500"/>
                </a:moveTo>
                <a:cubicBezTo>
                  <a:pt x="3883924" y="952500"/>
                  <a:pt x="4033875" y="1102451"/>
                  <a:pt x="4033875" y="1287426"/>
                </a:cubicBezTo>
                <a:lnTo>
                  <a:pt x="4033875" y="1798970"/>
                </a:lnTo>
                <a:lnTo>
                  <a:pt x="3364023" y="1798970"/>
                </a:lnTo>
                <a:lnTo>
                  <a:pt x="3364023" y="1287426"/>
                </a:lnTo>
                <a:cubicBezTo>
                  <a:pt x="3364023" y="1102451"/>
                  <a:pt x="3513974" y="952500"/>
                  <a:pt x="3698949" y="952500"/>
                </a:cubicBezTo>
                <a:close/>
                <a:moveTo>
                  <a:pt x="5324549" y="952499"/>
                </a:moveTo>
                <a:cubicBezTo>
                  <a:pt x="5509523" y="952499"/>
                  <a:pt x="5659475" y="1102450"/>
                  <a:pt x="5659475" y="1287425"/>
                </a:cubicBezTo>
                <a:lnTo>
                  <a:pt x="5659474" y="1798970"/>
                </a:lnTo>
                <a:lnTo>
                  <a:pt x="4989622" y="1798970"/>
                </a:lnTo>
                <a:lnTo>
                  <a:pt x="4989622" y="1287425"/>
                </a:lnTo>
                <a:cubicBezTo>
                  <a:pt x="4989622" y="1102450"/>
                  <a:pt x="5139574" y="952499"/>
                  <a:pt x="5324549" y="952499"/>
                </a:cubicBezTo>
                <a:close/>
                <a:moveTo>
                  <a:pt x="6197602" y="444499"/>
                </a:moveTo>
                <a:cubicBezTo>
                  <a:pt x="6382577" y="444499"/>
                  <a:pt x="6532528" y="594450"/>
                  <a:pt x="6532528" y="779425"/>
                </a:cubicBezTo>
                <a:lnTo>
                  <a:pt x="6532528" y="1798970"/>
                </a:lnTo>
                <a:lnTo>
                  <a:pt x="5862676" y="1798970"/>
                </a:lnTo>
                <a:lnTo>
                  <a:pt x="5862676" y="779425"/>
                </a:lnTo>
                <a:cubicBezTo>
                  <a:pt x="5862676" y="594450"/>
                  <a:pt x="6012627" y="444499"/>
                  <a:pt x="6197602" y="444499"/>
                </a:cubicBezTo>
                <a:close/>
                <a:moveTo>
                  <a:pt x="2886149" y="266700"/>
                </a:moveTo>
                <a:cubicBezTo>
                  <a:pt x="3071124" y="266700"/>
                  <a:pt x="3221075" y="416651"/>
                  <a:pt x="3221075" y="601626"/>
                </a:cubicBezTo>
                <a:lnTo>
                  <a:pt x="3221075" y="1798970"/>
                </a:lnTo>
                <a:lnTo>
                  <a:pt x="2551223" y="1798970"/>
                </a:lnTo>
                <a:lnTo>
                  <a:pt x="2551223" y="601626"/>
                </a:lnTo>
                <a:cubicBezTo>
                  <a:pt x="2551223" y="416651"/>
                  <a:pt x="2701174" y="266700"/>
                  <a:pt x="2886149" y="266700"/>
                </a:cubicBezTo>
                <a:close/>
                <a:moveTo>
                  <a:pt x="4492842" y="266699"/>
                </a:moveTo>
                <a:cubicBezTo>
                  <a:pt x="4677818" y="266699"/>
                  <a:pt x="4827768" y="416650"/>
                  <a:pt x="4827768" y="601625"/>
                </a:cubicBezTo>
                <a:lnTo>
                  <a:pt x="4827768" y="1798970"/>
                </a:lnTo>
                <a:lnTo>
                  <a:pt x="4157917" y="1798970"/>
                </a:lnTo>
                <a:lnTo>
                  <a:pt x="4157917" y="601625"/>
                </a:lnTo>
                <a:cubicBezTo>
                  <a:pt x="4157917" y="416650"/>
                  <a:pt x="4307868" y="266699"/>
                  <a:pt x="4492842" y="266699"/>
                </a:cubicBezTo>
                <a:close/>
                <a:moveTo>
                  <a:pt x="1260549" y="0"/>
                </a:moveTo>
                <a:cubicBezTo>
                  <a:pt x="1445524" y="0"/>
                  <a:pt x="1595475" y="149951"/>
                  <a:pt x="1595475" y="334926"/>
                </a:cubicBezTo>
                <a:lnTo>
                  <a:pt x="1595475" y="1798970"/>
                </a:lnTo>
                <a:lnTo>
                  <a:pt x="925623" y="1798970"/>
                </a:lnTo>
                <a:lnTo>
                  <a:pt x="925623" y="334926"/>
                </a:lnTo>
                <a:cubicBezTo>
                  <a:pt x="925623" y="149951"/>
                  <a:pt x="1075574" y="0"/>
                  <a:pt x="1260549" y="0"/>
                </a:cubicBezTo>
                <a:close/>
              </a:path>
            </a:pathLst>
          </a:custGeom>
          <a:solidFill>
            <a:schemeClr val="tx1"/>
          </a:solidFill>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a:p>
        </p:txBody>
      </p:sp>
      <p:sp>
        <p:nvSpPr>
          <p:cNvPr id="15" name="TextBox 14">
            <a:extLst>
              <a:ext uri="{FF2B5EF4-FFF2-40B4-BE49-F238E27FC236}">
                <a16:creationId xmlns:a16="http://schemas.microsoft.com/office/drawing/2014/main" id="{E6AE65CA-4A9E-88C1-95A4-60F7C27A844A}"/>
              </a:ext>
            </a:extLst>
          </p:cNvPr>
          <p:cNvSpPr txBox="1"/>
          <p:nvPr/>
        </p:nvSpPr>
        <p:spPr>
          <a:xfrm>
            <a:off x="7671231" y="4770340"/>
            <a:ext cx="4520769" cy="1600438"/>
          </a:xfrm>
          <a:prstGeom prst="rect">
            <a:avLst/>
          </a:prstGeom>
          <a:noFill/>
        </p:spPr>
        <p:txBody>
          <a:bodyPr wrap="square" rtlCol="0">
            <a:spAutoFit/>
          </a:bodyPr>
          <a:lstStyle/>
          <a:p>
            <a:pPr algn="ctr"/>
            <a:r>
              <a:rPr lang="en-US" b="1" dirty="0">
                <a:solidFill>
                  <a:schemeClr val="bg1"/>
                </a:solidFill>
              </a:rPr>
              <a:t>Team</a:t>
            </a:r>
          </a:p>
          <a:p>
            <a:pPr algn="ctr"/>
            <a:r>
              <a:rPr lang="en-US" sz="1600" dirty="0">
                <a:solidFill>
                  <a:schemeClr val="bg1"/>
                </a:solidFill>
              </a:rPr>
              <a:t>Mervat Abdel-Atty Mohammed</a:t>
            </a:r>
          </a:p>
          <a:p>
            <a:pPr algn="ctr"/>
            <a:r>
              <a:rPr lang="en-US" sz="1600" dirty="0">
                <a:solidFill>
                  <a:schemeClr val="bg1"/>
                </a:solidFill>
              </a:rPr>
              <a:t>Doaa Abd-</a:t>
            </a:r>
            <a:r>
              <a:rPr lang="en-US" sz="1600" dirty="0" err="1">
                <a:solidFill>
                  <a:schemeClr val="bg1"/>
                </a:solidFill>
              </a:rPr>
              <a:t>Ellatif</a:t>
            </a:r>
            <a:r>
              <a:rPr lang="en-US" sz="1600" dirty="0">
                <a:solidFill>
                  <a:schemeClr val="bg1"/>
                </a:solidFill>
              </a:rPr>
              <a:t> Mahmoud</a:t>
            </a:r>
          </a:p>
          <a:p>
            <a:pPr algn="ctr"/>
            <a:r>
              <a:rPr lang="en-US" sz="1600" dirty="0">
                <a:solidFill>
                  <a:schemeClr val="bg1"/>
                </a:solidFill>
              </a:rPr>
              <a:t>Reham Hesham Salah</a:t>
            </a:r>
          </a:p>
          <a:p>
            <a:pPr algn="ctr"/>
            <a:r>
              <a:rPr lang="en-US" sz="1600" dirty="0">
                <a:solidFill>
                  <a:schemeClr val="bg1"/>
                </a:solidFill>
              </a:rPr>
              <a:t>Monica Ibrahim Rezkalla</a:t>
            </a:r>
          </a:p>
          <a:p>
            <a:pPr algn="ctr"/>
            <a:r>
              <a:rPr lang="en-US" sz="1600" dirty="0">
                <a:solidFill>
                  <a:schemeClr val="bg1"/>
                </a:solidFill>
              </a:rPr>
              <a:t>Omar Ahmed Fahmy</a:t>
            </a:r>
          </a:p>
        </p:txBody>
      </p:sp>
      <p:sp>
        <p:nvSpPr>
          <p:cNvPr id="3" name="TextBox 2">
            <a:extLst>
              <a:ext uri="{FF2B5EF4-FFF2-40B4-BE49-F238E27FC236}">
                <a16:creationId xmlns:a16="http://schemas.microsoft.com/office/drawing/2014/main" id="{399EB386-64DE-6851-2345-CA55D1186281}"/>
              </a:ext>
            </a:extLst>
          </p:cNvPr>
          <p:cNvSpPr txBox="1"/>
          <p:nvPr/>
        </p:nvSpPr>
        <p:spPr>
          <a:xfrm>
            <a:off x="7453996" y="2113029"/>
            <a:ext cx="4520769" cy="769441"/>
          </a:xfrm>
          <a:prstGeom prst="rect">
            <a:avLst/>
          </a:prstGeom>
          <a:noFill/>
        </p:spPr>
        <p:txBody>
          <a:bodyPr wrap="square" rtlCol="0">
            <a:spAutoFit/>
          </a:bodyPr>
          <a:lstStyle/>
          <a:p>
            <a:pPr algn="ctr"/>
            <a:r>
              <a:rPr lang="en-US" sz="4400" b="1" dirty="0">
                <a:solidFill>
                  <a:schemeClr val="bg1"/>
                </a:solidFill>
                <a:effectLst>
                  <a:outerShdw blurRad="38100" dist="38100" dir="2700000" algn="tl">
                    <a:srgbClr val="000000">
                      <a:alpha val="43137"/>
                    </a:srgbClr>
                  </a:outerShdw>
                </a:effectLst>
              </a:rPr>
              <a:t>Supply Chain</a:t>
            </a:r>
          </a:p>
        </p:txBody>
      </p:sp>
      <p:pic>
        <p:nvPicPr>
          <p:cNvPr id="5" name="Picture 4">
            <a:extLst>
              <a:ext uri="{FF2B5EF4-FFF2-40B4-BE49-F238E27FC236}">
                <a16:creationId xmlns:a16="http://schemas.microsoft.com/office/drawing/2014/main" id="{133D8811-E154-390A-D004-7555142112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2782" y="268702"/>
            <a:ext cx="1854892" cy="1390872"/>
          </a:xfrm>
          <a:prstGeom prst="roundRect">
            <a:avLst>
              <a:gd name="adj" fmla="val 17767"/>
            </a:avLst>
          </a:prstGeom>
          <a:solidFill>
            <a:srgbClr val="FFFFFF">
              <a:shade val="85000"/>
            </a:srgbClr>
          </a:solidFill>
          <a:ln>
            <a:noFill/>
          </a:ln>
          <a:effectLst>
            <a:reflection blurRad="12700" stA="38000" endPos="28000" dist="5000" dir="5400000" sy="-100000" algn="bl" rotWithShape="0"/>
          </a:effectLst>
        </p:spPr>
      </p:pic>
      <p:pic>
        <p:nvPicPr>
          <p:cNvPr id="7" name="Picture 6" descr="A logo for a company&#10;&#10;AI-generated content may be incorrect.">
            <a:extLst>
              <a:ext uri="{FF2B5EF4-FFF2-40B4-BE49-F238E27FC236}">
                <a16:creationId xmlns:a16="http://schemas.microsoft.com/office/drawing/2014/main" id="{8774474C-F64C-AA7C-695B-4E6892B40A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52050" y="268702"/>
            <a:ext cx="1813593" cy="1389888"/>
          </a:xfrm>
          <a:prstGeom prst="roundRect">
            <a:avLst>
              <a:gd name="adj" fmla="val 17009"/>
            </a:avLst>
          </a:prstGeom>
          <a:solidFill>
            <a:srgbClr val="FFFFFF">
              <a:shade val="85000"/>
            </a:srgbClr>
          </a:solidFill>
          <a:ln>
            <a:noFill/>
          </a:ln>
          <a:effectLst>
            <a:reflection blurRad="12700" stA="38000" endPos="28000" dist="5000" dir="5400000" sy="-100000" algn="bl" rotWithShape="0"/>
          </a:effectLst>
        </p:spPr>
      </p:pic>
      <p:sp>
        <p:nvSpPr>
          <p:cNvPr id="2" name="TextBox 1">
            <a:extLst>
              <a:ext uri="{FF2B5EF4-FFF2-40B4-BE49-F238E27FC236}">
                <a16:creationId xmlns:a16="http://schemas.microsoft.com/office/drawing/2014/main" id="{2721F5C0-1D6D-D54A-07A7-DE94523EDDFE}"/>
              </a:ext>
            </a:extLst>
          </p:cNvPr>
          <p:cNvSpPr txBox="1"/>
          <p:nvPr/>
        </p:nvSpPr>
        <p:spPr>
          <a:xfrm>
            <a:off x="7544874" y="3198799"/>
            <a:ext cx="4520769" cy="1323439"/>
          </a:xfrm>
          <a:prstGeom prst="rect">
            <a:avLst/>
          </a:prstGeom>
          <a:noFill/>
        </p:spPr>
        <p:txBody>
          <a:bodyPr wrap="square" rtlCol="0">
            <a:spAutoFit/>
          </a:bodyPr>
          <a:lstStyle/>
          <a:p>
            <a:pPr algn="ctr"/>
            <a:r>
              <a:rPr lang="da-DK" sz="2000" b="1" dirty="0">
                <a:solidFill>
                  <a:schemeClr val="bg1"/>
                </a:solidFill>
              </a:rPr>
              <a:t>R3-Data Analyst Specialist </a:t>
            </a:r>
            <a:r>
              <a:rPr lang="da-DK" sz="2000" b="1" dirty="0">
                <a:solidFill>
                  <a:srgbClr val="FF0000"/>
                </a:solidFill>
              </a:rPr>
              <a:t>CAI3_DAT1_G1</a:t>
            </a:r>
          </a:p>
          <a:p>
            <a:pPr algn="ctr"/>
            <a:r>
              <a:rPr lang="da-DK" sz="2000" b="1" dirty="0">
                <a:solidFill>
                  <a:schemeClr val="bg1"/>
                </a:solidFill>
              </a:rPr>
              <a:t>Instructor</a:t>
            </a:r>
          </a:p>
          <a:p>
            <a:pPr algn="ctr"/>
            <a:r>
              <a:rPr lang="da-DK" sz="2000" b="1" dirty="0">
                <a:solidFill>
                  <a:srgbClr val="FF0000"/>
                </a:solidFill>
              </a:rPr>
              <a:t>Eng. Ahmad Samir</a:t>
            </a:r>
            <a:endParaRPr lang="en-US" sz="2000" b="1" dirty="0">
              <a:solidFill>
                <a:srgbClr val="FF0000"/>
              </a:solidFill>
            </a:endParaRPr>
          </a:p>
        </p:txBody>
      </p:sp>
    </p:spTree>
    <p:extLst>
      <p:ext uri="{BB962C8B-B14F-4D97-AF65-F5344CB8AC3E}">
        <p14:creationId xmlns:p14="http://schemas.microsoft.com/office/powerpoint/2010/main" val="3496102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nodeType="withEffect">
                                  <p:stCondLst>
                                    <p:cond delay="0"/>
                                  </p:stCondLst>
                                  <p:childTnLst>
                                    <p:animMotion origin="layout" path="M 0 0 L -0.25 0 E" pathEditMode="relative" ptsTypes="">
                                      <p:cBhvr>
                                        <p:cTn id="6" dur="6000" fill="hold"/>
                                        <p:tgtEl>
                                          <p:spTgt spid="14"/>
                                        </p:tgtEl>
                                        <p:attrNameLst>
                                          <p:attrName>ppt_x</p:attrName>
                                          <p:attrName>ppt_y</p:attrName>
                                        </p:attrNameLst>
                                      </p:cBhvr>
                                    </p:animMotion>
                                  </p:childTnLst>
                                </p:cTn>
                              </p:par>
                              <p:par>
                                <p:cTn id="7" presetID="10" presetClass="entr" presetSubtype="0" fill="hold" grpId="0" nodeType="withEffect">
                                  <p:stCondLst>
                                    <p:cond delay="5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par>
                                <p:cTn id="10" presetID="42" presetClass="entr" presetSubtype="0" fill="hold" grpId="0" nodeType="withEffect">
                                  <p:stCondLst>
                                    <p:cond delay="10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74037-02E9-1616-040F-34A78E8A19A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EC3AD1E-3DE0-3F3C-5A46-6E5A06B4D7C6}"/>
              </a:ext>
            </a:extLst>
          </p:cNvPr>
          <p:cNvPicPr>
            <a:picLocks noChangeAspect="1"/>
          </p:cNvPicPr>
          <p:nvPr/>
        </p:nvPicPr>
        <p:blipFill>
          <a:blip r:embed="rId2"/>
          <a:srcRect l="20776" t="1499" r="29741" b="33583"/>
          <a:stretch>
            <a:fillRect/>
          </a:stretch>
        </p:blipFill>
        <p:spPr>
          <a:xfrm>
            <a:off x="6539023" y="1722474"/>
            <a:ext cx="5475766" cy="4603896"/>
          </a:xfrm>
          <a:custGeom>
            <a:avLst/>
            <a:gdLst>
              <a:gd name="connsiteX0" fmla="*/ 1150975 w 6103088"/>
              <a:gd name="connsiteY0" fmla="*/ 0 h 4603896"/>
              <a:gd name="connsiteX1" fmla="*/ 4952114 w 6103088"/>
              <a:gd name="connsiteY1" fmla="*/ 0 h 4603896"/>
              <a:gd name="connsiteX2" fmla="*/ 6103088 w 6103088"/>
              <a:gd name="connsiteY2" fmla="*/ 2301948 h 4603896"/>
              <a:gd name="connsiteX3" fmla="*/ 4952114 w 6103088"/>
              <a:gd name="connsiteY3" fmla="*/ 4603896 h 4603896"/>
              <a:gd name="connsiteX4" fmla="*/ 1150975 w 6103088"/>
              <a:gd name="connsiteY4" fmla="*/ 4603896 h 4603896"/>
              <a:gd name="connsiteX5" fmla="*/ 0 w 6103088"/>
              <a:gd name="connsiteY5" fmla="*/ 2301948 h 4603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03088" h="4603896">
                <a:moveTo>
                  <a:pt x="1150975" y="0"/>
                </a:moveTo>
                <a:lnTo>
                  <a:pt x="4952114" y="0"/>
                </a:lnTo>
                <a:lnTo>
                  <a:pt x="6103088" y="2301948"/>
                </a:lnTo>
                <a:lnTo>
                  <a:pt x="4952114" y="4603896"/>
                </a:lnTo>
                <a:lnTo>
                  <a:pt x="1150975" y="4603896"/>
                </a:lnTo>
                <a:lnTo>
                  <a:pt x="0" y="2301948"/>
                </a:lnTo>
                <a:close/>
              </a:path>
            </a:pathLst>
          </a:custGeom>
        </p:spPr>
      </p:pic>
      <p:sp>
        <p:nvSpPr>
          <p:cNvPr id="5" name="TextBox 4">
            <a:extLst>
              <a:ext uri="{FF2B5EF4-FFF2-40B4-BE49-F238E27FC236}">
                <a16:creationId xmlns:a16="http://schemas.microsoft.com/office/drawing/2014/main" id="{605D7F01-E39D-3148-AB9E-15B0A317B868}"/>
              </a:ext>
            </a:extLst>
          </p:cNvPr>
          <p:cNvSpPr txBox="1"/>
          <p:nvPr/>
        </p:nvSpPr>
        <p:spPr>
          <a:xfrm>
            <a:off x="616687" y="2920115"/>
            <a:ext cx="5582093" cy="3108543"/>
          </a:xfrm>
          <a:prstGeom prst="rect">
            <a:avLst/>
          </a:prstGeom>
          <a:noFill/>
        </p:spPr>
        <p:txBody>
          <a:bodyPr wrap="square" rtlCol="0">
            <a:spAutoFit/>
          </a:bodyPr>
          <a:lstStyle/>
          <a:p>
            <a:pPr algn="just"/>
            <a:r>
              <a:rPr lang="en-US" sz="2800" b="1" dirty="0">
                <a:solidFill>
                  <a:schemeClr val="bg1"/>
                </a:solidFill>
                <a:effectLst>
                  <a:outerShdw blurRad="38100" dist="38100" dir="2700000" algn="tl">
                    <a:srgbClr val="000000">
                      <a:alpha val="43137"/>
                    </a:srgbClr>
                  </a:outerShdw>
                </a:effectLst>
                <a:latin typeface="Abadi" panose="020B0604020104020204" pitchFamily="34" charset="0"/>
              </a:rPr>
              <a:t>The process of getting a product or service from its origin to the final consumer. It includes the network of all the organizations, people, activities, information, and resources involved.</a:t>
            </a:r>
          </a:p>
          <a:p>
            <a:endParaRPr lang="en-US" sz="2800" dirty="0">
              <a:solidFill>
                <a:schemeClr val="bg1"/>
              </a:solidFill>
              <a:latin typeface="Abadi" panose="020B0604020104020204" pitchFamily="34" charset="0"/>
            </a:endParaRPr>
          </a:p>
        </p:txBody>
      </p:sp>
      <p:sp>
        <p:nvSpPr>
          <p:cNvPr id="6" name="TextBox 5">
            <a:extLst>
              <a:ext uri="{FF2B5EF4-FFF2-40B4-BE49-F238E27FC236}">
                <a16:creationId xmlns:a16="http://schemas.microsoft.com/office/drawing/2014/main" id="{66F880BD-0153-7C3E-93D9-D93F37CA165A}"/>
              </a:ext>
            </a:extLst>
          </p:cNvPr>
          <p:cNvSpPr txBox="1"/>
          <p:nvPr/>
        </p:nvSpPr>
        <p:spPr>
          <a:xfrm>
            <a:off x="616687" y="1552356"/>
            <a:ext cx="4572001" cy="830997"/>
          </a:xfrm>
          <a:prstGeom prst="rect">
            <a:avLst/>
          </a:prstGeom>
          <a:noFill/>
        </p:spPr>
        <p:txBody>
          <a:bodyPr wrap="square" rtlCol="0">
            <a:spAutoFit/>
          </a:bodyPr>
          <a:lstStyle/>
          <a:p>
            <a:r>
              <a:rPr lang="en-US" sz="4800" b="1" dirty="0">
                <a:ln w="22225">
                  <a:solidFill>
                    <a:schemeClr val="accent2"/>
                  </a:solidFill>
                  <a:prstDash val="solid"/>
                </a:ln>
                <a:solidFill>
                  <a:schemeClr val="accent2">
                    <a:lumMod val="40000"/>
                    <a:lumOff val="60000"/>
                  </a:schemeClr>
                </a:solidFill>
              </a:rPr>
              <a:t>Supply chain </a:t>
            </a:r>
          </a:p>
        </p:txBody>
      </p:sp>
      <p:sp>
        <p:nvSpPr>
          <p:cNvPr id="2" name="Slide Number Placeholder 1">
            <a:extLst>
              <a:ext uri="{FF2B5EF4-FFF2-40B4-BE49-F238E27FC236}">
                <a16:creationId xmlns:a16="http://schemas.microsoft.com/office/drawing/2014/main" id="{51480F62-28F7-70A3-4028-439EADEF6691}"/>
              </a:ext>
            </a:extLst>
          </p:cNvPr>
          <p:cNvSpPr>
            <a:spLocks noGrp="1"/>
          </p:cNvSpPr>
          <p:nvPr>
            <p:ph type="sldNum" sz="quarter" idx="12"/>
          </p:nvPr>
        </p:nvSpPr>
        <p:spPr/>
        <p:txBody>
          <a:bodyPr/>
          <a:lstStyle/>
          <a:p>
            <a:fld id="{C263D6C4-4840-40CC-AC84-17E24B3B7BDE}" type="slidenum">
              <a:rPr lang="en-US" noProof="0" smtClean="0"/>
              <a:pPr/>
              <a:t>2</a:t>
            </a:fld>
            <a:endParaRPr lang="en-US" noProof="0" dirty="0"/>
          </a:p>
        </p:txBody>
      </p:sp>
    </p:spTree>
    <p:extLst>
      <p:ext uri="{BB962C8B-B14F-4D97-AF65-F5344CB8AC3E}">
        <p14:creationId xmlns:p14="http://schemas.microsoft.com/office/powerpoint/2010/main" val="851854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FE8A2-5AE0-5046-112B-DD576B4FCB5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D4E65F8-CC2B-AF6A-9D59-282855F9719C}"/>
              </a:ext>
            </a:extLst>
          </p:cNvPr>
          <p:cNvPicPr>
            <a:picLocks noChangeAspect="1"/>
          </p:cNvPicPr>
          <p:nvPr/>
        </p:nvPicPr>
        <p:blipFill>
          <a:blip r:embed="rId2"/>
          <a:srcRect l="20776" t="1499" r="29741" b="33583"/>
          <a:stretch>
            <a:fillRect/>
          </a:stretch>
        </p:blipFill>
        <p:spPr>
          <a:xfrm>
            <a:off x="6539023" y="1722474"/>
            <a:ext cx="5475766" cy="4603896"/>
          </a:xfrm>
          <a:custGeom>
            <a:avLst/>
            <a:gdLst>
              <a:gd name="connsiteX0" fmla="*/ 1150975 w 6103088"/>
              <a:gd name="connsiteY0" fmla="*/ 0 h 4603896"/>
              <a:gd name="connsiteX1" fmla="*/ 4952114 w 6103088"/>
              <a:gd name="connsiteY1" fmla="*/ 0 h 4603896"/>
              <a:gd name="connsiteX2" fmla="*/ 6103088 w 6103088"/>
              <a:gd name="connsiteY2" fmla="*/ 2301948 h 4603896"/>
              <a:gd name="connsiteX3" fmla="*/ 4952114 w 6103088"/>
              <a:gd name="connsiteY3" fmla="*/ 4603896 h 4603896"/>
              <a:gd name="connsiteX4" fmla="*/ 1150975 w 6103088"/>
              <a:gd name="connsiteY4" fmla="*/ 4603896 h 4603896"/>
              <a:gd name="connsiteX5" fmla="*/ 0 w 6103088"/>
              <a:gd name="connsiteY5" fmla="*/ 2301948 h 4603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03088" h="4603896">
                <a:moveTo>
                  <a:pt x="1150975" y="0"/>
                </a:moveTo>
                <a:lnTo>
                  <a:pt x="4952114" y="0"/>
                </a:lnTo>
                <a:lnTo>
                  <a:pt x="6103088" y="2301948"/>
                </a:lnTo>
                <a:lnTo>
                  <a:pt x="4952114" y="4603896"/>
                </a:lnTo>
                <a:lnTo>
                  <a:pt x="1150975" y="4603896"/>
                </a:lnTo>
                <a:lnTo>
                  <a:pt x="0" y="2301948"/>
                </a:lnTo>
                <a:close/>
              </a:path>
            </a:pathLst>
          </a:custGeom>
        </p:spPr>
      </p:pic>
      <p:sp>
        <p:nvSpPr>
          <p:cNvPr id="5" name="TextBox 4">
            <a:extLst>
              <a:ext uri="{FF2B5EF4-FFF2-40B4-BE49-F238E27FC236}">
                <a16:creationId xmlns:a16="http://schemas.microsoft.com/office/drawing/2014/main" id="{1D47E979-15E5-2B6C-BFC9-0832487ED319}"/>
              </a:ext>
            </a:extLst>
          </p:cNvPr>
          <p:cNvSpPr txBox="1"/>
          <p:nvPr/>
        </p:nvSpPr>
        <p:spPr>
          <a:xfrm>
            <a:off x="616686" y="2588819"/>
            <a:ext cx="5922337" cy="3108543"/>
          </a:xfrm>
          <a:prstGeom prst="rect">
            <a:avLst/>
          </a:prstGeom>
          <a:noFill/>
        </p:spPr>
        <p:txBody>
          <a:bodyPr wrap="square" rtlCol="0">
            <a:spAutoFit/>
          </a:bodyPr>
          <a:lstStyle/>
          <a:p>
            <a:pPr marL="514350" indent="-514350">
              <a:buFont typeface="+mj-lt"/>
              <a:buAutoNum type="arabicPeriod"/>
              <a:defRPr/>
            </a:pPr>
            <a:r>
              <a:rPr lang="en-US" sz="2800" b="1" dirty="0">
                <a:solidFill>
                  <a:srgbClr val="FFFFFF"/>
                </a:solidFill>
                <a:effectLst>
                  <a:outerShdw blurRad="38100" dist="38100" dir="2700000" algn="tl">
                    <a:srgbClr val="000000">
                      <a:alpha val="43137"/>
                    </a:srgbClr>
                  </a:outerShdw>
                </a:effectLst>
                <a:latin typeface="Abadi" panose="020B0604020104020204" pitchFamily="34" charset="0"/>
              </a:rPr>
              <a:t>Domain Knowledge</a:t>
            </a:r>
          </a:p>
          <a:p>
            <a:pPr marL="514350" lvl="0" indent="-514350">
              <a:buFont typeface="+mj-lt"/>
              <a:buAutoNum type="arabicPeriod"/>
              <a:defRPr/>
            </a:pPr>
            <a:r>
              <a:rPr lang="en-US" sz="2800" b="1" dirty="0">
                <a:solidFill>
                  <a:srgbClr val="FFFFFF"/>
                </a:solidFill>
                <a:effectLst>
                  <a:outerShdw blurRad="38100" dist="38100" dir="2700000" algn="tl">
                    <a:srgbClr val="000000">
                      <a:alpha val="43137"/>
                    </a:srgbClr>
                  </a:outerShdw>
                </a:effectLst>
                <a:latin typeface="Abadi" panose="020B0604020104020204" pitchFamily="34" charset="0"/>
              </a:rPr>
              <a:t>Dataset Description </a:t>
            </a:r>
            <a:endParaRPr kumimoji="0" lang="en-US" sz="2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badi" panose="020B0604020104020204" pitchFamily="34" charset="0"/>
              <a:ea typeface="+mn-ea"/>
              <a:cs typeface="+mn-cs"/>
            </a:endParaRP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lang="en-US" sz="2800" b="1" dirty="0">
                <a:solidFill>
                  <a:srgbClr val="FFFFFF"/>
                </a:solidFill>
                <a:effectLst>
                  <a:outerShdw blurRad="38100" dist="38100" dir="2700000" algn="tl">
                    <a:srgbClr val="000000">
                      <a:alpha val="43137"/>
                    </a:srgbClr>
                  </a:outerShdw>
                </a:effectLst>
                <a:latin typeface="Abadi" panose="020B0604020104020204" pitchFamily="34" charset="0"/>
              </a:rPr>
              <a:t>Data Cleaning</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badi" panose="020B0604020104020204" pitchFamily="34" charset="0"/>
                <a:ea typeface="+mn-ea"/>
                <a:cs typeface="+mn-cs"/>
              </a:rPr>
              <a:t>Normalization</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lang="en-US" sz="2800" b="1" dirty="0">
                <a:solidFill>
                  <a:srgbClr val="FFFFFF"/>
                </a:solidFill>
                <a:effectLst>
                  <a:outerShdw blurRad="38100" dist="38100" dir="2700000" algn="tl">
                    <a:srgbClr val="000000">
                      <a:alpha val="43137"/>
                    </a:srgbClr>
                  </a:outerShdw>
                </a:effectLst>
                <a:latin typeface="Abadi" panose="020B0604020104020204" pitchFamily="34" charset="0"/>
              </a:rPr>
              <a:t>Analysis Questions</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badi" panose="020B0604020104020204" pitchFamily="34" charset="0"/>
                <a:ea typeface="+mn-ea"/>
                <a:cs typeface="+mn-cs"/>
              </a:rPr>
              <a:t>Visualization</a:t>
            </a:r>
          </a:p>
          <a:p>
            <a:pPr marR="0" lvl="0" algn="l" defTabSz="914400" rtl="0" eaLnBrk="1" fontAlgn="auto" latinLnBrk="0" hangingPunct="1">
              <a:lnSpc>
                <a:spcPct val="100000"/>
              </a:lnSpc>
              <a:spcBef>
                <a:spcPts val="0"/>
              </a:spcBef>
              <a:spcAft>
                <a:spcPts val="0"/>
              </a:spcAft>
              <a:buClrTx/>
              <a:buSzTx/>
              <a:tabLst/>
              <a:defRPr/>
            </a:pPr>
            <a:r>
              <a:rPr lang="en-US" sz="2800" b="1" dirty="0">
                <a:solidFill>
                  <a:srgbClr val="FFFFFF"/>
                </a:solidFill>
                <a:effectLst>
                  <a:outerShdw blurRad="38100" dist="38100" dir="2700000" algn="tl">
                    <a:srgbClr val="000000">
                      <a:alpha val="43137"/>
                    </a:srgbClr>
                  </a:outerShdw>
                </a:effectLst>
                <a:latin typeface="Abadi" panose="020B0604020104020204" pitchFamily="34" charset="0"/>
              </a:rPr>
              <a:t>Conclusions and Recommendations</a:t>
            </a:r>
          </a:p>
        </p:txBody>
      </p:sp>
      <p:sp>
        <p:nvSpPr>
          <p:cNvPr id="6" name="TextBox 5">
            <a:extLst>
              <a:ext uri="{FF2B5EF4-FFF2-40B4-BE49-F238E27FC236}">
                <a16:creationId xmlns:a16="http://schemas.microsoft.com/office/drawing/2014/main" id="{28CEC37B-9854-65C6-CBA0-9DF4E911F570}"/>
              </a:ext>
            </a:extLst>
          </p:cNvPr>
          <p:cNvSpPr txBox="1"/>
          <p:nvPr/>
        </p:nvSpPr>
        <p:spPr>
          <a:xfrm>
            <a:off x="616687" y="1552356"/>
            <a:ext cx="4572001" cy="830997"/>
          </a:xfrm>
          <a:prstGeom prst="rect">
            <a:avLst/>
          </a:prstGeom>
          <a:noFill/>
        </p:spPr>
        <p:txBody>
          <a:bodyPr wrap="square" rtlCol="0">
            <a:spAutoFit/>
          </a:bodyPr>
          <a:lstStyle/>
          <a:p>
            <a:pPr lvl="0">
              <a:defRPr/>
            </a:pPr>
            <a:r>
              <a:rPr lang="en-US" sz="4800" b="1" dirty="0">
                <a:ln w="22225">
                  <a:solidFill>
                    <a:srgbClr val="47C3D3"/>
                  </a:solidFill>
                  <a:prstDash val="solid"/>
                </a:ln>
                <a:solidFill>
                  <a:srgbClr val="47C3D3">
                    <a:lumMod val="40000"/>
                    <a:lumOff val="60000"/>
                  </a:srgbClr>
                </a:solidFill>
              </a:rPr>
              <a:t>Agenda</a:t>
            </a:r>
            <a:endParaRPr kumimoji="0" lang="en-US" sz="4800" b="1" i="0" u="none" strike="noStrike" kern="1200" cap="none" spc="0" normalizeH="0" baseline="0" noProof="0" dirty="0">
              <a:ln w="22225">
                <a:solidFill>
                  <a:srgbClr val="47C3D3"/>
                </a:solidFill>
                <a:prstDash val="solid"/>
              </a:ln>
              <a:solidFill>
                <a:srgbClr val="47C3D3">
                  <a:lumMod val="40000"/>
                  <a:lumOff val="60000"/>
                </a:srgbClr>
              </a:solidFill>
              <a:effectLst/>
              <a:uLnTx/>
              <a:uFillTx/>
              <a:latin typeface="Arial"/>
              <a:ea typeface="+mn-ea"/>
              <a:cs typeface="+mn-cs"/>
            </a:endParaRPr>
          </a:p>
        </p:txBody>
      </p:sp>
      <p:sp>
        <p:nvSpPr>
          <p:cNvPr id="2" name="Slide Number Placeholder 1">
            <a:extLst>
              <a:ext uri="{FF2B5EF4-FFF2-40B4-BE49-F238E27FC236}">
                <a16:creationId xmlns:a16="http://schemas.microsoft.com/office/drawing/2014/main" id="{6EED5FE7-05C9-1823-C35F-CB777A72EE27}"/>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spTree>
    <p:extLst>
      <p:ext uri="{BB962C8B-B14F-4D97-AF65-F5344CB8AC3E}">
        <p14:creationId xmlns:p14="http://schemas.microsoft.com/office/powerpoint/2010/main" val="2613484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F1C15862-E4C6-17AF-1340-E90A51FCF93A}"/>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CCE15425-96C5-1FB8-5DDD-A891C0C9B3FB}"/>
              </a:ext>
            </a:extLst>
          </p:cNvPr>
          <p:cNvGrpSpPr/>
          <p:nvPr/>
        </p:nvGrpSpPr>
        <p:grpSpPr>
          <a:xfrm rot="1541555">
            <a:off x="-2097654" y="1385397"/>
            <a:ext cx="3907172" cy="3892366"/>
            <a:chOff x="-1714500" y="1022672"/>
            <a:chExt cx="4622800" cy="4108128"/>
          </a:xfrm>
        </p:grpSpPr>
        <p:sp>
          <p:nvSpPr>
            <p:cNvPr id="13" name="Circle: Hollow 12">
              <a:extLst>
                <a:ext uri="{FF2B5EF4-FFF2-40B4-BE49-F238E27FC236}">
                  <a16:creationId xmlns:a16="http://schemas.microsoft.com/office/drawing/2014/main" id="{C8A3DBC8-61EA-C18C-A9F8-E18276F8A6B6}"/>
                </a:ext>
              </a:extLst>
            </p:cNvPr>
            <p:cNvSpPr/>
            <p:nvPr/>
          </p:nvSpPr>
          <p:spPr>
            <a:xfrm>
              <a:off x="-1714500" y="1054100"/>
              <a:ext cx="4622800" cy="4076700"/>
            </a:xfrm>
            <a:prstGeom prst="donut">
              <a:avLst>
                <a:gd name="adj" fmla="val 20328"/>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Block Arc 15">
              <a:extLst>
                <a:ext uri="{FF2B5EF4-FFF2-40B4-BE49-F238E27FC236}">
                  <a16:creationId xmlns:a16="http://schemas.microsoft.com/office/drawing/2014/main" id="{DDBE525D-7183-DED8-3452-736BBB514BE3}"/>
                </a:ext>
              </a:extLst>
            </p:cNvPr>
            <p:cNvSpPr/>
            <p:nvPr/>
          </p:nvSpPr>
          <p:spPr>
            <a:xfrm rot="5144265">
              <a:off x="-1090714" y="747056"/>
              <a:ext cx="3489165" cy="4040397"/>
            </a:xfrm>
            <a:prstGeom prst="blockArc">
              <a:avLst>
                <a:gd name="adj1" fmla="val 10800000"/>
                <a:gd name="adj2" fmla="val 14911070"/>
                <a:gd name="adj3" fmla="val 29888"/>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grpSp>
      <p:sp>
        <p:nvSpPr>
          <p:cNvPr id="20" name="Rectangle: Rounded Corners 19">
            <a:extLst>
              <a:ext uri="{FF2B5EF4-FFF2-40B4-BE49-F238E27FC236}">
                <a16:creationId xmlns:a16="http://schemas.microsoft.com/office/drawing/2014/main" id="{03358579-68C5-9DF3-DEDA-D00E1A6096BA}"/>
              </a:ext>
            </a:extLst>
          </p:cNvPr>
          <p:cNvSpPr/>
          <p:nvPr/>
        </p:nvSpPr>
        <p:spPr>
          <a:xfrm>
            <a:off x="2745188" y="1790699"/>
            <a:ext cx="8909050" cy="4584701"/>
          </a:xfrm>
          <a:prstGeom prst="roundRect">
            <a:avLst>
              <a:gd name="adj" fmla="val 16131"/>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D404198-217E-7845-1FD3-3C3EB4809E7A}"/>
              </a:ext>
            </a:extLst>
          </p:cNvPr>
          <p:cNvSpPr/>
          <p:nvPr/>
        </p:nvSpPr>
        <p:spPr>
          <a:xfrm>
            <a:off x="2187110" y="876300"/>
            <a:ext cx="9729907" cy="1498600"/>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8045192-172D-5088-C242-A3F143D42F13}"/>
              </a:ext>
            </a:extLst>
          </p:cNvPr>
          <p:cNvSpPr/>
          <p:nvPr/>
        </p:nvSpPr>
        <p:spPr>
          <a:xfrm>
            <a:off x="2132588" y="862187"/>
            <a:ext cx="1828800" cy="1512713"/>
          </a:xfrm>
          <a:prstGeom prst="ellipse">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1</a:t>
            </a:r>
            <a:endParaRPr lang="en-US" b="1" dirty="0">
              <a:solidFill>
                <a:schemeClr val="tx1"/>
              </a:solidFill>
            </a:endParaRPr>
          </a:p>
        </p:txBody>
      </p:sp>
      <p:sp>
        <p:nvSpPr>
          <p:cNvPr id="22" name="TextBox 21">
            <a:extLst>
              <a:ext uri="{FF2B5EF4-FFF2-40B4-BE49-F238E27FC236}">
                <a16:creationId xmlns:a16="http://schemas.microsoft.com/office/drawing/2014/main" id="{8F60C726-C5B5-E011-7CCD-CC32B6F08550}"/>
              </a:ext>
            </a:extLst>
          </p:cNvPr>
          <p:cNvSpPr txBox="1"/>
          <p:nvPr/>
        </p:nvSpPr>
        <p:spPr>
          <a:xfrm>
            <a:off x="4282550" y="1210101"/>
            <a:ext cx="6883400" cy="830997"/>
          </a:xfrm>
          <a:prstGeom prst="rect">
            <a:avLst/>
          </a:prstGeom>
          <a:noFill/>
        </p:spPr>
        <p:txBody>
          <a:bodyPr wrap="square" rtlCol="0">
            <a:spAutoFit/>
          </a:bodyPr>
          <a:lstStyle/>
          <a:p>
            <a:pPr algn="ctr"/>
            <a:r>
              <a:rPr lang="en-US" sz="4800" dirty="0">
                <a:ln w="0"/>
                <a:solidFill>
                  <a:schemeClr val="bg1"/>
                </a:solidFill>
                <a:effectLst>
                  <a:outerShdw blurRad="38100" dist="25400" dir="5400000" algn="ctr" rotWithShape="0">
                    <a:srgbClr val="6E747A">
                      <a:alpha val="43000"/>
                    </a:srgbClr>
                  </a:outerShdw>
                </a:effectLst>
              </a:rPr>
              <a:t>Domain Knowledge</a:t>
            </a:r>
            <a:endParaRPr lang="en-US" sz="4800" dirty="0">
              <a:solidFill>
                <a:schemeClr val="bg1"/>
              </a:solidFill>
            </a:endParaRPr>
          </a:p>
        </p:txBody>
      </p:sp>
      <p:sp>
        <p:nvSpPr>
          <p:cNvPr id="23" name="TextBox 22">
            <a:extLst>
              <a:ext uri="{FF2B5EF4-FFF2-40B4-BE49-F238E27FC236}">
                <a16:creationId xmlns:a16="http://schemas.microsoft.com/office/drawing/2014/main" id="{2E2E09D9-E2E8-577B-FDB8-F3EC4184D3EC}"/>
              </a:ext>
            </a:extLst>
          </p:cNvPr>
          <p:cNvSpPr txBox="1"/>
          <p:nvPr/>
        </p:nvSpPr>
        <p:spPr>
          <a:xfrm>
            <a:off x="3256414" y="2755900"/>
            <a:ext cx="7810500" cy="2708434"/>
          </a:xfrm>
          <a:prstGeom prst="rect">
            <a:avLst/>
          </a:prstGeom>
          <a:noFill/>
        </p:spPr>
        <p:txBody>
          <a:bodyPr wrap="square" rtlCol="0">
            <a:spAutoFit/>
          </a:bodyPr>
          <a:lstStyle/>
          <a:p>
            <a:pPr algn="just"/>
            <a:r>
              <a:rPr lang="en-US" b="1" dirty="0"/>
              <a:t>We did 2 main steps:</a:t>
            </a:r>
          </a:p>
          <a:p>
            <a:pPr algn="just"/>
            <a:r>
              <a:rPr lang="en-US" b="1" dirty="0">
                <a:solidFill>
                  <a:srgbClr val="FF0000"/>
                </a:solidFill>
              </a:rPr>
              <a:t>1- Searching:</a:t>
            </a:r>
          </a:p>
          <a:p>
            <a:pPr algn="just"/>
            <a:r>
              <a:rPr lang="en-US" b="1" dirty="0"/>
              <a:t>To understand the </a:t>
            </a:r>
            <a:r>
              <a:rPr lang="en-US" b="1" dirty="0">
                <a:solidFill>
                  <a:srgbClr val="FF0000"/>
                </a:solidFill>
              </a:rPr>
              <a:t>business context </a:t>
            </a:r>
            <a:r>
              <a:rPr lang="en-US" b="1" dirty="0"/>
              <a:t>and the </a:t>
            </a:r>
            <a:r>
              <a:rPr lang="en-US" b="1" dirty="0">
                <a:solidFill>
                  <a:srgbClr val="FF0000"/>
                </a:solidFill>
              </a:rPr>
              <a:t>dataset</a:t>
            </a:r>
            <a:r>
              <a:rPr lang="en-US" b="1" dirty="0"/>
              <a:t>. Identifying </a:t>
            </a:r>
            <a:r>
              <a:rPr lang="en-US" b="1" dirty="0">
                <a:solidFill>
                  <a:srgbClr val="FF0000"/>
                </a:solidFill>
              </a:rPr>
              <a:t>key variables</a:t>
            </a:r>
            <a:r>
              <a:rPr lang="en-US" b="1" dirty="0"/>
              <a:t> such as inventory levels, order quantities, lead times, supplier performance, costs, revenue.</a:t>
            </a:r>
          </a:p>
          <a:p>
            <a:pPr algn="just"/>
            <a:endParaRPr lang="en-US" sz="800" b="1" dirty="0"/>
          </a:p>
          <a:p>
            <a:pPr algn="just"/>
            <a:r>
              <a:rPr lang="en-US" b="1" dirty="0">
                <a:solidFill>
                  <a:srgbClr val="FF0000"/>
                </a:solidFill>
              </a:rPr>
              <a:t>2- Many discussions with Instructor:</a:t>
            </a:r>
          </a:p>
          <a:p>
            <a:pPr algn="just"/>
            <a:r>
              <a:rPr lang="en-US" b="1" dirty="0"/>
              <a:t>To guide us to fill </a:t>
            </a:r>
            <a:r>
              <a:rPr lang="en-US" b="1" dirty="0">
                <a:solidFill>
                  <a:srgbClr val="FF0000"/>
                </a:solidFill>
              </a:rPr>
              <a:t>gaps</a:t>
            </a:r>
            <a:r>
              <a:rPr lang="en-US" b="1" dirty="0"/>
              <a:t> in data to highlight the </a:t>
            </a:r>
            <a:r>
              <a:rPr lang="en-US" b="1" dirty="0">
                <a:solidFill>
                  <a:srgbClr val="FF0000"/>
                </a:solidFill>
              </a:rPr>
              <a:t>main KPIs </a:t>
            </a:r>
            <a:r>
              <a:rPr lang="en-US" b="1" dirty="0"/>
              <a:t>(</a:t>
            </a:r>
            <a:r>
              <a:rPr lang="en-US" b="1" dirty="0">
                <a:solidFill>
                  <a:srgbClr val="FF0000"/>
                </a:solidFill>
              </a:rPr>
              <a:t>key analytical questions</a:t>
            </a:r>
            <a:r>
              <a:rPr lang="en-US" b="1" dirty="0"/>
              <a:t>) that can be extracted (</a:t>
            </a:r>
            <a:r>
              <a:rPr lang="en-US" b="1" dirty="0">
                <a:solidFill>
                  <a:srgbClr val="FF0000"/>
                </a:solidFill>
              </a:rPr>
              <a:t>meaningful insights</a:t>
            </a:r>
            <a:r>
              <a:rPr lang="en-US" b="1" dirty="0"/>
              <a:t>)</a:t>
            </a:r>
          </a:p>
          <a:p>
            <a:endParaRPr lang="en-US" dirty="0"/>
          </a:p>
        </p:txBody>
      </p:sp>
      <p:pic>
        <p:nvPicPr>
          <p:cNvPr id="26" name="Graphic 25" descr="Abacus with solid fill">
            <a:extLst>
              <a:ext uri="{FF2B5EF4-FFF2-40B4-BE49-F238E27FC236}">
                <a16:creationId xmlns:a16="http://schemas.microsoft.com/office/drawing/2014/main" id="{9E785175-35DF-81E3-4564-6C7830634D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0013" y="2085559"/>
            <a:ext cx="741624" cy="741624"/>
          </a:xfrm>
          <a:prstGeom prst="rect">
            <a:avLst/>
          </a:prstGeom>
        </p:spPr>
      </p:pic>
    </p:spTree>
    <p:extLst>
      <p:ext uri="{BB962C8B-B14F-4D97-AF65-F5344CB8AC3E}">
        <p14:creationId xmlns:p14="http://schemas.microsoft.com/office/powerpoint/2010/main" val="41837188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29636087-5C17-1EBA-328F-8DF18D6EC895}"/>
              </a:ext>
            </a:extLst>
          </p:cNvPr>
          <p:cNvGrpSpPr/>
          <p:nvPr/>
        </p:nvGrpSpPr>
        <p:grpSpPr>
          <a:xfrm>
            <a:off x="448928" y="3779623"/>
            <a:ext cx="1920240" cy="2653286"/>
            <a:chOff x="713232" y="2331720"/>
            <a:chExt cx="2941320" cy="3685032"/>
          </a:xfrm>
        </p:grpSpPr>
        <p:sp>
          <p:nvSpPr>
            <p:cNvPr id="2" name="Rectangle 1">
              <a:extLst>
                <a:ext uri="{FF2B5EF4-FFF2-40B4-BE49-F238E27FC236}">
                  <a16:creationId xmlns:a16="http://schemas.microsoft.com/office/drawing/2014/main" id="{77BA9D35-D362-6078-93BB-E592299E0FE2}"/>
                </a:ext>
              </a:extLst>
            </p:cNvPr>
            <p:cNvSpPr/>
            <p:nvPr/>
          </p:nvSpPr>
          <p:spPr>
            <a:xfrm>
              <a:off x="1097280" y="2331720"/>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Freeform: Shape 4">
              <a:extLst>
                <a:ext uri="{FF2B5EF4-FFF2-40B4-BE49-F238E27FC236}">
                  <a16:creationId xmlns:a16="http://schemas.microsoft.com/office/drawing/2014/main" id="{7ACEB21B-21FA-67AA-0D6A-A6FF3F8D3B6A}"/>
                </a:ext>
              </a:extLst>
            </p:cNvPr>
            <p:cNvSpPr/>
            <p:nvPr/>
          </p:nvSpPr>
          <p:spPr>
            <a:xfrm rot="10800000" flipV="1">
              <a:off x="713232" y="2926080"/>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6" name="Group 15">
            <a:extLst>
              <a:ext uri="{FF2B5EF4-FFF2-40B4-BE49-F238E27FC236}">
                <a16:creationId xmlns:a16="http://schemas.microsoft.com/office/drawing/2014/main" id="{FF57E639-CD34-230E-CD2D-E9E7394130EF}"/>
              </a:ext>
            </a:extLst>
          </p:cNvPr>
          <p:cNvGrpSpPr/>
          <p:nvPr/>
        </p:nvGrpSpPr>
        <p:grpSpPr>
          <a:xfrm>
            <a:off x="2669412" y="3856948"/>
            <a:ext cx="1920240" cy="2575961"/>
            <a:chOff x="3791712" y="2264664"/>
            <a:chExt cx="2941320" cy="3685032"/>
          </a:xfrm>
        </p:grpSpPr>
        <p:sp>
          <p:nvSpPr>
            <p:cNvPr id="6" name="Rectangle 5">
              <a:extLst>
                <a:ext uri="{FF2B5EF4-FFF2-40B4-BE49-F238E27FC236}">
                  <a16:creationId xmlns:a16="http://schemas.microsoft.com/office/drawing/2014/main" id="{3A3FCB18-157F-8080-CCAE-87CC7F5002E3}"/>
                </a:ext>
              </a:extLst>
            </p:cNvPr>
            <p:cNvSpPr/>
            <p:nvPr/>
          </p:nvSpPr>
          <p:spPr>
            <a:xfrm>
              <a:off x="4175760" y="2264664"/>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Freeform: Shape 6">
              <a:extLst>
                <a:ext uri="{FF2B5EF4-FFF2-40B4-BE49-F238E27FC236}">
                  <a16:creationId xmlns:a16="http://schemas.microsoft.com/office/drawing/2014/main" id="{90FE6D8A-B7BC-DA84-F86E-E25BE06C3765}"/>
                </a:ext>
              </a:extLst>
            </p:cNvPr>
            <p:cNvSpPr/>
            <p:nvPr/>
          </p:nvSpPr>
          <p:spPr>
            <a:xfrm rot="10800000" flipV="1">
              <a:off x="3791712" y="2859024"/>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7" name="Group 16">
            <a:extLst>
              <a:ext uri="{FF2B5EF4-FFF2-40B4-BE49-F238E27FC236}">
                <a16:creationId xmlns:a16="http://schemas.microsoft.com/office/drawing/2014/main" id="{E11FA599-708D-D28D-0847-2A6D92FFAC6B}"/>
              </a:ext>
            </a:extLst>
          </p:cNvPr>
          <p:cNvGrpSpPr/>
          <p:nvPr/>
        </p:nvGrpSpPr>
        <p:grpSpPr>
          <a:xfrm>
            <a:off x="7212205" y="3723133"/>
            <a:ext cx="2124545" cy="2651760"/>
            <a:chOff x="6870192" y="2191512"/>
            <a:chExt cx="2941320" cy="3685032"/>
          </a:xfrm>
        </p:grpSpPr>
        <p:sp>
          <p:nvSpPr>
            <p:cNvPr id="8" name="Rectangle 7">
              <a:extLst>
                <a:ext uri="{FF2B5EF4-FFF2-40B4-BE49-F238E27FC236}">
                  <a16:creationId xmlns:a16="http://schemas.microsoft.com/office/drawing/2014/main" id="{DB989752-4B1E-CE0A-7E2D-978ACA3D1EEE}"/>
                </a:ext>
              </a:extLst>
            </p:cNvPr>
            <p:cNvSpPr/>
            <p:nvPr/>
          </p:nvSpPr>
          <p:spPr>
            <a:xfrm>
              <a:off x="7254240" y="2191512"/>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Freeform: Shape 8">
              <a:extLst>
                <a:ext uri="{FF2B5EF4-FFF2-40B4-BE49-F238E27FC236}">
                  <a16:creationId xmlns:a16="http://schemas.microsoft.com/office/drawing/2014/main" id="{E25AF378-AF4A-07AC-EA46-09B60C150812}"/>
                </a:ext>
              </a:extLst>
            </p:cNvPr>
            <p:cNvSpPr/>
            <p:nvPr/>
          </p:nvSpPr>
          <p:spPr>
            <a:xfrm rot="10800000" flipV="1">
              <a:off x="6870192" y="2785872"/>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8" name="Group 17">
            <a:extLst>
              <a:ext uri="{FF2B5EF4-FFF2-40B4-BE49-F238E27FC236}">
                <a16:creationId xmlns:a16="http://schemas.microsoft.com/office/drawing/2014/main" id="{D187D306-5791-993E-DFEB-623582CBFFEC}"/>
              </a:ext>
            </a:extLst>
          </p:cNvPr>
          <p:cNvGrpSpPr/>
          <p:nvPr/>
        </p:nvGrpSpPr>
        <p:grpSpPr>
          <a:xfrm>
            <a:off x="9601399" y="3661422"/>
            <a:ext cx="1920240" cy="2651760"/>
            <a:chOff x="9250680" y="2191512"/>
            <a:chExt cx="2941320" cy="3685032"/>
          </a:xfrm>
        </p:grpSpPr>
        <p:sp>
          <p:nvSpPr>
            <p:cNvPr id="10" name="Rectangle 9">
              <a:extLst>
                <a:ext uri="{FF2B5EF4-FFF2-40B4-BE49-F238E27FC236}">
                  <a16:creationId xmlns:a16="http://schemas.microsoft.com/office/drawing/2014/main" id="{BA3DD5CA-7CFC-7C7F-750B-265A4FA01399}"/>
                </a:ext>
              </a:extLst>
            </p:cNvPr>
            <p:cNvSpPr/>
            <p:nvPr/>
          </p:nvSpPr>
          <p:spPr>
            <a:xfrm>
              <a:off x="9634728" y="2191512"/>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Freeform: Shape 10">
              <a:extLst>
                <a:ext uri="{FF2B5EF4-FFF2-40B4-BE49-F238E27FC236}">
                  <a16:creationId xmlns:a16="http://schemas.microsoft.com/office/drawing/2014/main" id="{F8A0B2AE-1AA3-C455-F7E2-0F20E2CFE95D}"/>
                </a:ext>
              </a:extLst>
            </p:cNvPr>
            <p:cNvSpPr/>
            <p:nvPr/>
          </p:nvSpPr>
          <p:spPr>
            <a:xfrm rot="10800000" flipV="1">
              <a:off x="9250680" y="2785872"/>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4" name="Group 13">
            <a:extLst>
              <a:ext uri="{FF2B5EF4-FFF2-40B4-BE49-F238E27FC236}">
                <a16:creationId xmlns:a16="http://schemas.microsoft.com/office/drawing/2014/main" id="{B362402C-2F42-50A5-5D2F-444CAA5491C3}"/>
              </a:ext>
            </a:extLst>
          </p:cNvPr>
          <p:cNvGrpSpPr/>
          <p:nvPr/>
        </p:nvGrpSpPr>
        <p:grpSpPr>
          <a:xfrm>
            <a:off x="4974048" y="3751673"/>
            <a:ext cx="1920240" cy="2651760"/>
            <a:chOff x="2252471" y="51816"/>
            <a:chExt cx="2941320" cy="3685032"/>
          </a:xfrm>
        </p:grpSpPr>
        <p:sp>
          <p:nvSpPr>
            <p:cNvPr id="12" name="Rectangle 11">
              <a:extLst>
                <a:ext uri="{FF2B5EF4-FFF2-40B4-BE49-F238E27FC236}">
                  <a16:creationId xmlns:a16="http://schemas.microsoft.com/office/drawing/2014/main" id="{4F9E8E5A-E1DB-92EF-2175-B6F25FFCBBA6}"/>
                </a:ext>
              </a:extLst>
            </p:cNvPr>
            <p:cNvSpPr/>
            <p:nvPr/>
          </p:nvSpPr>
          <p:spPr>
            <a:xfrm>
              <a:off x="2636519" y="51816"/>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Freeform: Shape 12">
              <a:extLst>
                <a:ext uri="{FF2B5EF4-FFF2-40B4-BE49-F238E27FC236}">
                  <a16:creationId xmlns:a16="http://schemas.microsoft.com/office/drawing/2014/main" id="{C1C0EA4E-1B4A-F7CE-B89E-274360770F13}"/>
                </a:ext>
              </a:extLst>
            </p:cNvPr>
            <p:cNvSpPr/>
            <p:nvPr/>
          </p:nvSpPr>
          <p:spPr>
            <a:xfrm rot="10800000" flipV="1">
              <a:off x="2252471" y="646176"/>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9" name="TextBox 18">
            <a:extLst>
              <a:ext uri="{FF2B5EF4-FFF2-40B4-BE49-F238E27FC236}">
                <a16:creationId xmlns:a16="http://schemas.microsoft.com/office/drawing/2014/main" id="{76A5B66B-FB95-41E9-1161-DEE9259B0F38}"/>
              </a:ext>
            </a:extLst>
          </p:cNvPr>
          <p:cNvSpPr txBox="1"/>
          <p:nvPr/>
        </p:nvSpPr>
        <p:spPr>
          <a:xfrm>
            <a:off x="649224" y="4662055"/>
            <a:ext cx="1614703" cy="830997"/>
          </a:xfrm>
          <a:prstGeom prst="rect">
            <a:avLst/>
          </a:prstGeom>
          <a:noFill/>
        </p:spPr>
        <p:txBody>
          <a:bodyPr wrap="square" rtlCol="0">
            <a:spAutoFit/>
          </a:bodyPr>
          <a:lstStyle/>
          <a:p>
            <a:pPr algn="ctr"/>
            <a:r>
              <a:rPr lang="en-US" sz="2400" b="1" dirty="0"/>
              <a:t>Products Types </a:t>
            </a:r>
          </a:p>
        </p:txBody>
      </p:sp>
      <p:sp>
        <p:nvSpPr>
          <p:cNvPr id="20" name="TextBox 19">
            <a:extLst>
              <a:ext uri="{FF2B5EF4-FFF2-40B4-BE49-F238E27FC236}">
                <a16:creationId xmlns:a16="http://schemas.microsoft.com/office/drawing/2014/main" id="{DD5B8EFF-329C-A1A4-929D-1B8A3E2E641D}"/>
              </a:ext>
            </a:extLst>
          </p:cNvPr>
          <p:cNvSpPr txBox="1"/>
          <p:nvPr/>
        </p:nvSpPr>
        <p:spPr>
          <a:xfrm>
            <a:off x="2791229" y="4898517"/>
            <a:ext cx="1614703" cy="461665"/>
          </a:xfrm>
          <a:prstGeom prst="rect">
            <a:avLst/>
          </a:prstGeom>
          <a:noFill/>
        </p:spPr>
        <p:txBody>
          <a:bodyPr wrap="square" rtlCol="0">
            <a:spAutoFit/>
          </a:bodyPr>
          <a:lstStyle/>
          <a:p>
            <a:pPr algn="ctr"/>
            <a:r>
              <a:rPr lang="en-US" sz="2400" b="1" dirty="0"/>
              <a:t>Orders</a:t>
            </a:r>
          </a:p>
        </p:txBody>
      </p:sp>
      <p:sp>
        <p:nvSpPr>
          <p:cNvPr id="21" name="TextBox 20">
            <a:extLst>
              <a:ext uri="{FF2B5EF4-FFF2-40B4-BE49-F238E27FC236}">
                <a16:creationId xmlns:a16="http://schemas.microsoft.com/office/drawing/2014/main" id="{095A4CEB-FB0F-5266-A621-8940667EE6FB}"/>
              </a:ext>
            </a:extLst>
          </p:cNvPr>
          <p:cNvSpPr txBox="1"/>
          <p:nvPr/>
        </p:nvSpPr>
        <p:spPr>
          <a:xfrm>
            <a:off x="5160503" y="4877908"/>
            <a:ext cx="1614703" cy="830997"/>
          </a:xfrm>
          <a:prstGeom prst="rect">
            <a:avLst/>
          </a:prstGeom>
          <a:noFill/>
        </p:spPr>
        <p:txBody>
          <a:bodyPr wrap="square" rtlCol="0">
            <a:spAutoFit/>
          </a:bodyPr>
          <a:lstStyle/>
          <a:p>
            <a:pPr algn="ctr"/>
            <a:r>
              <a:rPr lang="en-US" sz="2400" b="1" dirty="0"/>
              <a:t>Suppliers</a:t>
            </a:r>
          </a:p>
          <a:p>
            <a:pPr algn="ctr"/>
            <a:r>
              <a:rPr lang="en-US" sz="2400" b="1" dirty="0"/>
              <a:t>Carriers  </a:t>
            </a:r>
          </a:p>
        </p:txBody>
      </p:sp>
      <p:sp>
        <p:nvSpPr>
          <p:cNvPr id="22" name="TextBox 21">
            <a:extLst>
              <a:ext uri="{FF2B5EF4-FFF2-40B4-BE49-F238E27FC236}">
                <a16:creationId xmlns:a16="http://schemas.microsoft.com/office/drawing/2014/main" id="{9809B666-602A-7900-FE93-95536E3183F8}"/>
              </a:ext>
            </a:extLst>
          </p:cNvPr>
          <p:cNvSpPr txBox="1"/>
          <p:nvPr/>
        </p:nvSpPr>
        <p:spPr>
          <a:xfrm>
            <a:off x="7101879" y="4631686"/>
            <a:ext cx="2217770" cy="1323439"/>
          </a:xfrm>
          <a:prstGeom prst="rect">
            <a:avLst/>
          </a:prstGeom>
          <a:noFill/>
        </p:spPr>
        <p:txBody>
          <a:bodyPr wrap="square" rtlCol="0">
            <a:spAutoFit/>
          </a:bodyPr>
          <a:lstStyle/>
          <a:p>
            <a:pPr algn="ctr"/>
            <a:r>
              <a:rPr lang="en-US" sz="2000" b="1" dirty="0"/>
              <a:t> - Transportation Modes </a:t>
            </a:r>
          </a:p>
          <a:p>
            <a:pPr algn="ctr"/>
            <a:r>
              <a:rPr lang="en-US" sz="2000" b="1" dirty="0"/>
              <a:t>- Routs </a:t>
            </a:r>
          </a:p>
          <a:p>
            <a:pPr algn="ctr"/>
            <a:endParaRPr lang="en-US" sz="2000" b="1" dirty="0"/>
          </a:p>
        </p:txBody>
      </p:sp>
      <p:sp>
        <p:nvSpPr>
          <p:cNvPr id="23" name="TextBox 22">
            <a:extLst>
              <a:ext uri="{FF2B5EF4-FFF2-40B4-BE49-F238E27FC236}">
                <a16:creationId xmlns:a16="http://schemas.microsoft.com/office/drawing/2014/main" id="{BABD2EDF-11EE-4890-B436-0B49445DB86C}"/>
              </a:ext>
            </a:extLst>
          </p:cNvPr>
          <p:cNvSpPr txBox="1"/>
          <p:nvPr/>
        </p:nvSpPr>
        <p:spPr>
          <a:xfrm>
            <a:off x="9756648" y="4739701"/>
            <a:ext cx="1686181" cy="1323439"/>
          </a:xfrm>
          <a:prstGeom prst="rect">
            <a:avLst/>
          </a:prstGeom>
          <a:noFill/>
        </p:spPr>
        <p:txBody>
          <a:bodyPr wrap="square" rtlCol="0">
            <a:spAutoFit/>
          </a:bodyPr>
          <a:lstStyle/>
          <a:p>
            <a:pPr algn="ctr"/>
            <a:r>
              <a:rPr lang="en-US" sz="2000" b="1" dirty="0"/>
              <a:t>- Defect Rete </a:t>
            </a:r>
          </a:p>
          <a:p>
            <a:pPr algn="ctr"/>
            <a:r>
              <a:rPr lang="en-US" sz="2000" b="1" dirty="0"/>
              <a:t>- Inspection Results </a:t>
            </a:r>
          </a:p>
        </p:txBody>
      </p:sp>
      <p:pic>
        <p:nvPicPr>
          <p:cNvPr id="24" name="Graphic 23" descr="Shopping cart with solid fill">
            <a:extLst>
              <a:ext uri="{FF2B5EF4-FFF2-40B4-BE49-F238E27FC236}">
                <a16:creationId xmlns:a16="http://schemas.microsoft.com/office/drawing/2014/main" id="{9595BD23-46E9-279C-A776-A788BDA1120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04534" y="3918711"/>
            <a:ext cx="649993" cy="626091"/>
          </a:xfrm>
          <a:prstGeom prst="rect">
            <a:avLst/>
          </a:prstGeom>
        </p:spPr>
      </p:pic>
      <p:pic>
        <p:nvPicPr>
          <p:cNvPr id="25" name="Graphic 24" descr="Wheelbarrow with solid fill">
            <a:extLst>
              <a:ext uri="{FF2B5EF4-FFF2-40B4-BE49-F238E27FC236}">
                <a16:creationId xmlns:a16="http://schemas.microsoft.com/office/drawing/2014/main" id="{91405AE8-BB15-E149-846A-EB06878EC8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0227" y="3918711"/>
            <a:ext cx="831686" cy="811026"/>
          </a:xfrm>
          <a:prstGeom prst="rect">
            <a:avLst/>
          </a:prstGeom>
        </p:spPr>
      </p:pic>
      <p:pic>
        <p:nvPicPr>
          <p:cNvPr id="26" name="Graphic 25" descr="Filter with solid fill">
            <a:extLst>
              <a:ext uri="{FF2B5EF4-FFF2-40B4-BE49-F238E27FC236}">
                <a16:creationId xmlns:a16="http://schemas.microsoft.com/office/drawing/2014/main" id="{DFD271A2-7A24-46B1-D141-A303C4133EC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74835" y="3918711"/>
            <a:ext cx="681095" cy="681095"/>
          </a:xfrm>
          <a:prstGeom prst="rect">
            <a:avLst/>
          </a:prstGeom>
        </p:spPr>
      </p:pic>
      <p:pic>
        <p:nvPicPr>
          <p:cNvPr id="28" name="Graphic 27" descr="Train Tracks with solid fill">
            <a:extLst>
              <a:ext uri="{FF2B5EF4-FFF2-40B4-BE49-F238E27FC236}">
                <a16:creationId xmlns:a16="http://schemas.microsoft.com/office/drawing/2014/main" id="{FAAAE3C4-11BC-5EDB-8CF5-188DCFDA1FB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37919" y="3839072"/>
            <a:ext cx="745689" cy="745689"/>
          </a:xfrm>
          <a:prstGeom prst="rect">
            <a:avLst/>
          </a:prstGeom>
        </p:spPr>
      </p:pic>
      <p:pic>
        <p:nvPicPr>
          <p:cNvPr id="29" name="Graphic 28" descr="Bus with solid fill">
            <a:extLst>
              <a:ext uri="{FF2B5EF4-FFF2-40B4-BE49-F238E27FC236}">
                <a16:creationId xmlns:a16="http://schemas.microsoft.com/office/drawing/2014/main" id="{8E8789D0-AC0D-3704-B1CA-ABC4BBADE30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13883" y="3918711"/>
            <a:ext cx="724942" cy="724942"/>
          </a:xfrm>
          <a:prstGeom prst="rect">
            <a:avLst/>
          </a:prstGeom>
        </p:spPr>
      </p:pic>
      <p:sp>
        <p:nvSpPr>
          <p:cNvPr id="30" name="TextBox 29">
            <a:extLst>
              <a:ext uri="{FF2B5EF4-FFF2-40B4-BE49-F238E27FC236}">
                <a16:creationId xmlns:a16="http://schemas.microsoft.com/office/drawing/2014/main" id="{C408C973-4633-FF23-4AED-CB23900EEACB}"/>
              </a:ext>
            </a:extLst>
          </p:cNvPr>
          <p:cNvSpPr txBox="1"/>
          <p:nvPr/>
        </p:nvSpPr>
        <p:spPr>
          <a:xfrm>
            <a:off x="178489" y="841431"/>
            <a:ext cx="6473033"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normalizeH="0" baseline="0" noProof="0" dirty="0">
                <a:ln w="22225">
                  <a:solidFill>
                    <a:schemeClr val="accent2"/>
                  </a:solidFill>
                  <a:prstDash val="solid"/>
                </a:ln>
                <a:solidFill>
                  <a:schemeClr val="accent2">
                    <a:lumMod val="40000"/>
                    <a:lumOff val="60000"/>
                  </a:schemeClr>
                </a:solidFill>
                <a:uLnTx/>
                <a:uFillTx/>
                <a:latin typeface="Arial"/>
                <a:ea typeface="+mn-ea"/>
                <a:cs typeface="+mn-cs"/>
              </a:rPr>
              <a:t>2- Dataset Description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42" name="Group 41">
            <a:extLst>
              <a:ext uri="{FF2B5EF4-FFF2-40B4-BE49-F238E27FC236}">
                <a16:creationId xmlns:a16="http://schemas.microsoft.com/office/drawing/2014/main" id="{4483A34C-32F1-3B29-4357-1E6292B8930B}"/>
              </a:ext>
            </a:extLst>
          </p:cNvPr>
          <p:cNvGrpSpPr/>
          <p:nvPr/>
        </p:nvGrpSpPr>
        <p:grpSpPr>
          <a:xfrm>
            <a:off x="4388962" y="1653622"/>
            <a:ext cx="1920241" cy="1650545"/>
            <a:chOff x="4388962" y="1653622"/>
            <a:chExt cx="1920241" cy="1650545"/>
          </a:xfrm>
        </p:grpSpPr>
        <p:sp>
          <p:nvSpPr>
            <p:cNvPr id="39" name="Flowchart: Punched Tape 38">
              <a:extLst>
                <a:ext uri="{FF2B5EF4-FFF2-40B4-BE49-F238E27FC236}">
                  <a16:creationId xmlns:a16="http://schemas.microsoft.com/office/drawing/2014/main" id="{A1DA9018-DA63-4334-9955-DCDA297346A9}"/>
                </a:ext>
              </a:extLst>
            </p:cNvPr>
            <p:cNvSpPr/>
            <p:nvPr/>
          </p:nvSpPr>
          <p:spPr>
            <a:xfrm>
              <a:off x="4388962" y="1653622"/>
              <a:ext cx="1920241" cy="1650545"/>
            </a:xfrm>
            <a:prstGeom prst="flowChartPunchedTap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002060"/>
                  </a:solidFill>
                </a:rPr>
                <a:t>No of Order Quantity </a:t>
              </a:r>
              <a:r>
                <a:rPr lang="en-US" b="1" dirty="0">
                  <a:solidFill>
                    <a:srgbClr val="002060"/>
                  </a:solidFill>
                </a:rPr>
                <a:t>4922</a:t>
              </a:r>
            </a:p>
            <a:p>
              <a:pPr algn="ctr"/>
              <a:endParaRPr lang="en-US" dirty="0"/>
            </a:p>
          </p:txBody>
        </p:sp>
        <p:pic>
          <p:nvPicPr>
            <p:cNvPr id="35" name="Graphic 34" descr="Kiosk with solid fill">
              <a:extLst>
                <a:ext uri="{FF2B5EF4-FFF2-40B4-BE49-F238E27FC236}">
                  <a16:creationId xmlns:a16="http://schemas.microsoft.com/office/drawing/2014/main" id="{D72E8CC4-DC10-7585-9A2C-9CDCE492386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560516" y="2620620"/>
              <a:ext cx="657468" cy="657468"/>
            </a:xfrm>
            <a:prstGeom prst="rect">
              <a:avLst/>
            </a:prstGeom>
          </p:spPr>
        </p:pic>
      </p:grpSp>
      <p:grpSp>
        <p:nvGrpSpPr>
          <p:cNvPr id="41" name="Group 40">
            <a:extLst>
              <a:ext uri="{FF2B5EF4-FFF2-40B4-BE49-F238E27FC236}">
                <a16:creationId xmlns:a16="http://schemas.microsoft.com/office/drawing/2014/main" id="{BC8513A6-960D-7DF9-1266-5BF6668A8840}"/>
              </a:ext>
            </a:extLst>
          </p:cNvPr>
          <p:cNvGrpSpPr/>
          <p:nvPr/>
        </p:nvGrpSpPr>
        <p:grpSpPr>
          <a:xfrm>
            <a:off x="2107366" y="2025573"/>
            <a:ext cx="1939277" cy="1200329"/>
            <a:chOff x="2107366" y="2025573"/>
            <a:chExt cx="1939277" cy="1200329"/>
          </a:xfrm>
        </p:grpSpPr>
        <p:sp>
          <p:nvSpPr>
            <p:cNvPr id="36" name="Flowchart: Punched Tape 35">
              <a:extLst>
                <a:ext uri="{FF2B5EF4-FFF2-40B4-BE49-F238E27FC236}">
                  <a16:creationId xmlns:a16="http://schemas.microsoft.com/office/drawing/2014/main" id="{8F0A9584-C631-D532-8D63-31ACAF4D250F}"/>
                </a:ext>
              </a:extLst>
            </p:cNvPr>
            <p:cNvSpPr/>
            <p:nvPr/>
          </p:nvSpPr>
          <p:spPr>
            <a:xfrm>
              <a:off x="2126402" y="2025573"/>
              <a:ext cx="1920241" cy="1200329"/>
            </a:xfrm>
            <a:prstGeom prst="flowChartPunchedTap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002060"/>
                  </a:solidFill>
                </a:rPr>
                <a:t>Orders</a:t>
              </a:r>
              <a:r>
                <a:rPr lang="en-US" b="1" dirty="0">
                  <a:solidFill>
                    <a:srgbClr val="002060"/>
                  </a:solidFill>
                </a:rPr>
                <a:t> 100 </a:t>
              </a:r>
            </a:p>
            <a:p>
              <a:pPr algn="ctr"/>
              <a:endParaRPr lang="en-US" dirty="0"/>
            </a:p>
          </p:txBody>
        </p:sp>
        <p:pic>
          <p:nvPicPr>
            <p:cNvPr id="40" name="Graphic 39" descr="Blockchain with solid fill">
              <a:extLst>
                <a:ext uri="{FF2B5EF4-FFF2-40B4-BE49-F238E27FC236}">
                  <a16:creationId xmlns:a16="http://schemas.microsoft.com/office/drawing/2014/main" id="{2D6FD325-4A4C-F2D8-3294-17306612BAE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107366" y="2515631"/>
              <a:ext cx="683863" cy="683863"/>
            </a:xfrm>
            <a:prstGeom prst="rect">
              <a:avLst/>
            </a:prstGeom>
          </p:spPr>
        </p:pic>
      </p:grpSp>
      <p:sp>
        <p:nvSpPr>
          <p:cNvPr id="3" name="Slide Number Placeholder 2">
            <a:extLst>
              <a:ext uri="{FF2B5EF4-FFF2-40B4-BE49-F238E27FC236}">
                <a16:creationId xmlns:a16="http://schemas.microsoft.com/office/drawing/2014/main" id="{A30CE737-B18D-045F-DBAD-0839572C144A}"/>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spTree>
    <p:extLst>
      <p:ext uri="{BB962C8B-B14F-4D97-AF65-F5344CB8AC3E}">
        <p14:creationId xmlns:p14="http://schemas.microsoft.com/office/powerpoint/2010/main" val="2831377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par>
                                <p:cTn id="10" presetID="2" presetClass="entr" presetSubtype="8" fill="hold" nodeType="withEffect">
                                  <p:stCondLst>
                                    <p:cond delay="0"/>
                                  </p:stCondLst>
                                  <p:childTnLst>
                                    <p:set>
                                      <p:cBhvr>
                                        <p:cTn id="11" dur="1" fill="hold">
                                          <p:stCondLst>
                                            <p:cond delay="0"/>
                                          </p:stCondLst>
                                        </p:cTn>
                                        <p:tgtEl>
                                          <p:spTgt spid="41"/>
                                        </p:tgtEl>
                                        <p:attrNameLst>
                                          <p:attrName>style.visibility</p:attrName>
                                        </p:attrNameLst>
                                      </p:cBhvr>
                                      <p:to>
                                        <p:strVal val="visible"/>
                                      </p:to>
                                    </p:set>
                                    <p:anim calcmode="lin" valueType="num">
                                      <p:cBhvr additive="base">
                                        <p:cTn id="12" dur="500" fill="hold"/>
                                        <p:tgtEl>
                                          <p:spTgt spid="41"/>
                                        </p:tgtEl>
                                        <p:attrNameLst>
                                          <p:attrName>ppt_x</p:attrName>
                                        </p:attrNameLst>
                                      </p:cBhvr>
                                      <p:tavLst>
                                        <p:tav tm="0">
                                          <p:val>
                                            <p:strVal val="0-#ppt_w/2"/>
                                          </p:val>
                                        </p:tav>
                                        <p:tav tm="100000">
                                          <p:val>
                                            <p:strVal val="#ppt_x"/>
                                          </p:val>
                                        </p:tav>
                                      </p:tavLst>
                                    </p:anim>
                                    <p:anim calcmode="lin" valueType="num">
                                      <p:cBhvr additive="base">
                                        <p:cTn id="13" dur="500" fill="hold"/>
                                        <p:tgtEl>
                                          <p:spTgt spid="41"/>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stCondLst>
                                    <p:cond delay="0"/>
                                  </p:stCondLst>
                                  <p:childTnLst>
                                    <p:set>
                                      <p:cBhvr>
                                        <p:cTn id="15" dur="1" fill="hold">
                                          <p:stCondLst>
                                            <p:cond delay="0"/>
                                          </p:stCondLst>
                                        </p:cTn>
                                        <p:tgtEl>
                                          <p:spTgt spid="42"/>
                                        </p:tgtEl>
                                        <p:attrNameLst>
                                          <p:attrName>style.visibility</p:attrName>
                                        </p:attrNameLst>
                                      </p:cBhvr>
                                      <p:to>
                                        <p:strVal val="visible"/>
                                      </p:to>
                                    </p:set>
                                    <p:anim calcmode="lin" valueType="num">
                                      <p:cBhvr additive="base">
                                        <p:cTn id="16" dur="500" fill="hold"/>
                                        <p:tgtEl>
                                          <p:spTgt spid="42"/>
                                        </p:tgtEl>
                                        <p:attrNameLst>
                                          <p:attrName>ppt_x</p:attrName>
                                        </p:attrNameLst>
                                      </p:cBhvr>
                                      <p:tavLst>
                                        <p:tav tm="0">
                                          <p:val>
                                            <p:strVal val="1+#ppt_w/2"/>
                                          </p:val>
                                        </p:tav>
                                        <p:tav tm="100000">
                                          <p:val>
                                            <p:strVal val="#ppt_x"/>
                                          </p:val>
                                        </p:tav>
                                      </p:tavLst>
                                    </p:anim>
                                    <p:anim calcmode="lin" valueType="num">
                                      <p:cBhvr additive="base">
                                        <p:cTn id="17" dur="500" fill="hold"/>
                                        <p:tgtEl>
                                          <p:spTgt spid="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960CF-5240-7C71-730D-11EA97CA373D}"/>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F7A7B793-BE35-EE66-CC34-E03E26D526B8}"/>
              </a:ext>
            </a:extLst>
          </p:cNvPr>
          <p:cNvGrpSpPr/>
          <p:nvPr/>
        </p:nvGrpSpPr>
        <p:grpSpPr>
          <a:xfrm>
            <a:off x="458250" y="1801368"/>
            <a:ext cx="2838114" cy="4630952"/>
            <a:chOff x="458250" y="1801368"/>
            <a:chExt cx="1920240" cy="4110036"/>
          </a:xfrm>
        </p:grpSpPr>
        <p:sp>
          <p:nvSpPr>
            <p:cNvPr id="2" name="Rectangle 1">
              <a:extLst>
                <a:ext uri="{FF2B5EF4-FFF2-40B4-BE49-F238E27FC236}">
                  <a16:creationId xmlns:a16="http://schemas.microsoft.com/office/drawing/2014/main" id="{D35B500B-40A7-96A4-BBD4-8B2C8FD6B9DF}"/>
                </a:ext>
              </a:extLst>
            </p:cNvPr>
            <p:cNvSpPr/>
            <p:nvPr/>
          </p:nvSpPr>
          <p:spPr>
            <a:xfrm>
              <a:off x="708976" y="1801368"/>
              <a:ext cx="1426748" cy="38598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Freeform: Shape 4">
              <a:extLst>
                <a:ext uri="{FF2B5EF4-FFF2-40B4-BE49-F238E27FC236}">
                  <a16:creationId xmlns:a16="http://schemas.microsoft.com/office/drawing/2014/main" id="{96DE32DD-76B9-0634-0E9F-C782612C7753}"/>
                </a:ext>
              </a:extLst>
            </p:cNvPr>
            <p:cNvSpPr/>
            <p:nvPr/>
          </p:nvSpPr>
          <p:spPr>
            <a:xfrm rot="10800000" flipV="1">
              <a:off x="458250" y="3686067"/>
              <a:ext cx="1920240" cy="2225337"/>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9" name="TextBox 18">
            <a:extLst>
              <a:ext uri="{FF2B5EF4-FFF2-40B4-BE49-F238E27FC236}">
                <a16:creationId xmlns:a16="http://schemas.microsoft.com/office/drawing/2014/main" id="{29973832-5986-F4E7-51FB-CE8B412AD210}"/>
              </a:ext>
            </a:extLst>
          </p:cNvPr>
          <p:cNvSpPr txBox="1"/>
          <p:nvPr/>
        </p:nvSpPr>
        <p:spPr>
          <a:xfrm>
            <a:off x="982104" y="5033734"/>
            <a:ext cx="1614703" cy="830997"/>
          </a:xfrm>
          <a:prstGeom prst="rect">
            <a:avLst/>
          </a:prstGeom>
          <a:noFill/>
        </p:spPr>
        <p:txBody>
          <a:bodyPr wrap="square" rtlCol="0">
            <a:spAutoFit/>
          </a:bodyPr>
          <a:lstStyle/>
          <a:p>
            <a:pPr algn="ctr"/>
            <a:r>
              <a:rPr lang="en-US" sz="2400" b="1" dirty="0"/>
              <a:t>Products Types </a:t>
            </a:r>
          </a:p>
        </p:txBody>
      </p:sp>
      <p:grpSp>
        <p:nvGrpSpPr>
          <p:cNvPr id="3" name="Group 2">
            <a:extLst>
              <a:ext uri="{FF2B5EF4-FFF2-40B4-BE49-F238E27FC236}">
                <a16:creationId xmlns:a16="http://schemas.microsoft.com/office/drawing/2014/main" id="{3BEE0818-0A7E-8A2C-14AC-94B9905ACC56}"/>
              </a:ext>
            </a:extLst>
          </p:cNvPr>
          <p:cNvGrpSpPr/>
          <p:nvPr/>
        </p:nvGrpSpPr>
        <p:grpSpPr>
          <a:xfrm>
            <a:off x="3340251" y="4631097"/>
            <a:ext cx="1862849" cy="1801223"/>
            <a:chOff x="2669412" y="3856948"/>
            <a:chExt cx="1920240" cy="2575961"/>
          </a:xfrm>
        </p:grpSpPr>
        <p:grpSp>
          <p:nvGrpSpPr>
            <p:cNvPr id="16" name="Group 15">
              <a:extLst>
                <a:ext uri="{FF2B5EF4-FFF2-40B4-BE49-F238E27FC236}">
                  <a16:creationId xmlns:a16="http://schemas.microsoft.com/office/drawing/2014/main" id="{B7AF99CA-0C10-8660-F663-3A0163F2FBBE}"/>
                </a:ext>
              </a:extLst>
            </p:cNvPr>
            <p:cNvGrpSpPr/>
            <p:nvPr/>
          </p:nvGrpSpPr>
          <p:grpSpPr>
            <a:xfrm>
              <a:off x="2669412" y="3856948"/>
              <a:ext cx="1920240" cy="2575961"/>
              <a:chOff x="3791712" y="2264664"/>
              <a:chExt cx="2941320" cy="3685032"/>
            </a:xfrm>
          </p:grpSpPr>
          <p:sp>
            <p:nvSpPr>
              <p:cNvPr id="6" name="Rectangle 5">
                <a:extLst>
                  <a:ext uri="{FF2B5EF4-FFF2-40B4-BE49-F238E27FC236}">
                    <a16:creationId xmlns:a16="http://schemas.microsoft.com/office/drawing/2014/main" id="{4B26FC2C-C681-5D2F-F9A2-AF4060D5FB89}"/>
                  </a:ext>
                </a:extLst>
              </p:cNvPr>
              <p:cNvSpPr/>
              <p:nvPr/>
            </p:nvSpPr>
            <p:spPr>
              <a:xfrm>
                <a:off x="4175760" y="2264664"/>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Freeform: Shape 6">
                <a:extLst>
                  <a:ext uri="{FF2B5EF4-FFF2-40B4-BE49-F238E27FC236}">
                    <a16:creationId xmlns:a16="http://schemas.microsoft.com/office/drawing/2014/main" id="{AB2647B2-E525-459A-5424-8513869482B9}"/>
                  </a:ext>
                </a:extLst>
              </p:cNvPr>
              <p:cNvSpPr/>
              <p:nvPr/>
            </p:nvSpPr>
            <p:spPr>
              <a:xfrm rot="10800000" flipV="1">
                <a:off x="3791712" y="2859024"/>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TextBox 19">
              <a:extLst>
                <a:ext uri="{FF2B5EF4-FFF2-40B4-BE49-F238E27FC236}">
                  <a16:creationId xmlns:a16="http://schemas.microsoft.com/office/drawing/2014/main" id="{A7BD7A96-922E-3EA0-A3E2-144E7B50299E}"/>
                </a:ext>
              </a:extLst>
            </p:cNvPr>
            <p:cNvSpPr txBox="1"/>
            <p:nvPr/>
          </p:nvSpPr>
          <p:spPr>
            <a:xfrm>
              <a:off x="2770849" y="4877909"/>
              <a:ext cx="1614703" cy="660235"/>
            </a:xfrm>
            <a:prstGeom prst="rect">
              <a:avLst/>
            </a:prstGeom>
            <a:noFill/>
          </p:spPr>
          <p:txBody>
            <a:bodyPr wrap="square" rtlCol="0">
              <a:spAutoFit/>
            </a:bodyPr>
            <a:lstStyle/>
            <a:p>
              <a:pPr algn="ctr"/>
              <a:r>
                <a:rPr lang="en-US" sz="2400" b="1" dirty="0"/>
                <a:t>Orders</a:t>
              </a:r>
            </a:p>
          </p:txBody>
        </p:sp>
        <p:pic>
          <p:nvPicPr>
            <p:cNvPr id="24" name="Graphic 23" descr="Shopping cart with solid fill">
              <a:extLst>
                <a:ext uri="{FF2B5EF4-FFF2-40B4-BE49-F238E27FC236}">
                  <a16:creationId xmlns:a16="http://schemas.microsoft.com/office/drawing/2014/main" id="{2D6FF4C0-5249-5DC0-B8F3-F56E28473C1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04534" y="3918711"/>
              <a:ext cx="649993" cy="626091"/>
            </a:xfrm>
            <a:prstGeom prst="rect">
              <a:avLst/>
            </a:prstGeom>
          </p:spPr>
        </p:pic>
      </p:grpSp>
      <p:pic>
        <p:nvPicPr>
          <p:cNvPr id="25" name="Graphic 24" descr="Wheelbarrow with solid fill">
            <a:extLst>
              <a:ext uri="{FF2B5EF4-FFF2-40B4-BE49-F238E27FC236}">
                <a16:creationId xmlns:a16="http://schemas.microsoft.com/office/drawing/2014/main" id="{E43A3F5D-97B1-823D-0034-1137733BEE6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24607" y="1676788"/>
            <a:ext cx="831686" cy="811026"/>
          </a:xfrm>
          <a:prstGeom prst="rect">
            <a:avLst/>
          </a:prstGeom>
        </p:spPr>
      </p:pic>
      <p:grpSp>
        <p:nvGrpSpPr>
          <p:cNvPr id="31" name="Group 30">
            <a:extLst>
              <a:ext uri="{FF2B5EF4-FFF2-40B4-BE49-F238E27FC236}">
                <a16:creationId xmlns:a16="http://schemas.microsoft.com/office/drawing/2014/main" id="{E92B4A66-CAE8-7D6B-0CD3-1276092D2192}"/>
              </a:ext>
            </a:extLst>
          </p:cNvPr>
          <p:cNvGrpSpPr/>
          <p:nvPr/>
        </p:nvGrpSpPr>
        <p:grpSpPr>
          <a:xfrm>
            <a:off x="9915204" y="4736584"/>
            <a:ext cx="1913535" cy="1638309"/>
            <a:chOff x="9601399" y="3661422"/>
            <a:chExt cx="1920240" cy="2651760"/>
          </a:xfrm>
        </p:grpSpPr>
        <p:grpSp>
          <p:nvGrpSpPr>
            <p:cNvPr id="18" name="Group 17">
              <a:extLst>
                <a:ext uri="{FF2B5EF4-FFF2-40B4-BE49-F238E27FC236}">
                  <a16:creationId xmlns:a16="http://schemas.microsoft.com/office/drawing/2014/main" id="{0AF53434-F63A-8285-62F1-2222880461C5}"/>
                </a:ext>
              </a:extLst>
            </p:cNvPr>
            <p:cNvGrpSpPr/>
            <p:nvPr/>
          </p:nvGrpSpPr>
          <p:grpSpPr>
            <a:xfrm>
              <a:off x="9601399" y="3661422"/>
              <a:ext cx="1920240" cy="2651760"/>
              <a:chOff x="9250680" y="2191512"/>
              <a:chExt cx="2941320" cy="3685032"/>
            </a:xfrm>
          </p:grpSpPr>
          <p:sp>
            <p:nvSpPr>
              <p:cNvPr id="10" name="Rectangle 9">
                <a:extLst>
                  <a:ext uri="{FF2B5EF4-FFF2-40B4-BE49-F238E27FC236}">
                    <a16:creationId xmlns:a16="http://schemas.microsoft.com/office/drawing/2014/main" id="{E9F5EB9F-690E-F724-6622-7D30A1FEC19B}"/>
                  </a:ext>
                </a:extLst>
              </p:cNvPr>
              <p:cNvSpPr/>
              <p:nvPr/>
            </p:nvSpPr>
            <p:spPr>
              <a:xfrm>
                <a:off x="9634728" y="2191512"/>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Freeform: Shape 10">
                <a:extLst>
                  <a:ext uri="{FF2B5EF4-FFF2-40B4-BE49-F238E27FC236}">
                    <a16:creationId xmlns:a16="http://schemas.microsoft.com/office/drawing/2014/main" id="{264E8345-BB41-33A0-D3E8-D485C4A6ED91}"/>
                  </a:ext>
                </a:extLst>
              </p:cNvPr>
              <p:cNvSpPr/>
              <p:nvPr/>
            </p:nvSpPr>
            <p:spPr>
              <a:xfrm rot="10800000" flipV="1">
                <a:off x="9250680" y="2785872"/>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extBox 22">
              <a:extLst>
                <a:ext uri="{FF2B5EF4-FFF2-40B4-BE49-F238E27FC236}">
                  <a16:creationId xmlns:a16="http://schemas.microsoft.com/office/drawing/2014/main" id="{08E18494-AF6F-051C-E8B9-0F032FAD08A9}"/>
                </a:ext>
              </a:extLst>
            </p:cNvPr>
            <p:cNvSpPr txBox="1"/>
            <p:nvPr/>
          </p:nvSpPr>
          <p:spPr>
            <a:xfrm>
              <a:off x="9756648" y="4739701"/>
              <a:ext cx="1686181" cy="1494498"/>
            </a:xfrm>
            <a:prstGeom prst="rect">
              <a:avLst/>
            </a:prstGeom>
            <a:noFill/>
          </p:spPr>
          <p:txBody>
            <a:bodyPr wrap="square" rtlCol="0">
              <a:spAutoFit/>
            </a:bodyPr>
            <a:lstStyle/>
            <a:p>
              <a:pPr algn="ctr"/>
              <a:r>
                <a:rPr lang="en-US" b="1" dirty="0"/>
                <a:t>- Defect Rete </a:t>
              </a:r>
            </a:p>
            <a:p>
              <a:pPr algn="ctr"/>
              <a:r>
                <a:rPr lang="en-US" b="1" dirty="0"/>
                <a:t>- Inspection Results </a:t>
              </a:r>
            </a:p>
          </p:txBody>
        </p:sp>
        <p:pic>
          <p:nvPicPr>
            <p:cNvPr id="26" name="Graphic 25" descr="Filter with solid fill">
              <a:extLst>
                <a:ext uri="{FF2B5EF4-FFF2-40B4-BE49-F238E27FC236}">
                  <a16:creationId xmlns:a16="http://schemas.microsoft.com/office/drawing/2014/main" id="{7F35C734-B4C9-1B69-1C69-20D5630136A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74835" y="3918711"/>
              <a:ext cx="681095" cy="681095"/>
            </a:xfrm>
            <a:prstGeom prst="rect">
              <a:avLst/>
            </a:prstGeom>
          </p:spPr>
        </p:pic>
      </p:grpSp>
      <p:grpSp>
        <p:nvGrpSpPr>
          <p:cNvPr id="27" name="Group 26">
            <a:extLst>
              <a:ext uri="{FF2B5EF4-FFF2-40B4-BE49-F238E27FC236}">
                <a16:creationId xmlns:a16="http://schemas.microsoft.com/office/drawing/2014/main" id="{09030FB1-D268-71D7-4A16-0387BEBD9818}"/>
              </a:ext>
            </a:extLst>
          </p:cNvPr>
          <p:cNvGrpSpPr/>
          <p:nvPr/>
        </p:nvGrpSpPr>
        <p:grpSpPr>
          <a:xfrm>
            <a:off x="7416812" y="4732298"/>
            <a:ext cx="2373467" cy="1700021"/>
            <a:chOff x="7101879" y="3723133"/>
            <a:chExt cx="2234871" cy="2651760"/>
          </a:xfrm>
        </p:grpSpPr>
        <p:grpSp>
          <p:nvGrpSpPr>
            <p:cNvPr id="17" name="Group 16">
              <a:extLst>
                <a:ext uri="{FF2B5EF4-FFF2-40B4-BE49-F238E27FC236}">
                  <a16:creationId xmlns:a16="http://schemas.microsoft.com/office/drawing/2014/main" id="{852199BA-A243-FFBA-51E5-D222800E8B0F}"/>
                </a:ext>
              </a:extLst>
            </p:cNvPr>
            <p:cNvGrpSpPr/>
            <p:nvPr/>
          </p:nvGrpSpPr>
          <p:grpSpPr>
            <a:xfrm>
              <a:off x="7212205" y="3723133"/>
              <a:ext cx="2124545" cy="2651760"/>
              <a:chOff x="6870192" y="2191512"/>
              <a:chExt cx="2941320" cy="3685032"/>
            </a:xfrm>
          </p:grpSpPr>
          <p:sp>
            <p:nvSpPr>
              <p:cNvPr id="8" name="Rectangle 7">
                <a:extLst>
                  <a:ext uri="{FF2B5EF4-FFF2-40B4-BE49-F238E27FC236}">
                    <a16:creationId xmlns:a16="http://schemas.microsoft.com/office/drawing/2014/main" id="{CA299B60-01B4-FC6E-5C4F-7DD825C7B16E}"/>
                  </a:ext>
                </a:extLst>
              </p:cNvPr>
              <p:cNvSpPr/>
              <p:nvPr/>
            </p:nvSpPr>
            <p:spPr>
              <a:xfrm>
                <a:off x="7254240" y="2191512"/>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Freeform: Shape 8">
                <a:extLst>
                  <a:ext uri="{FF2B5EF4-FFF2-40B4-BE49-F238E27FC236}">
                    <a16:creationId xmlns:a16="http://schemas.microsoft.com/office/drawing/2014/main" id="{553DADF5-62EC-4850-2ECD-71AC72067053}"/>
                  </a:ext>
                </a:extLst>
              </p:cNvPr>
              <p:cNvSpPr/>
              <p:nvPr/>
            </p:nvSpPr>
            <p:spPr>
              <a:xfrm rot="10800000" flipV="1">
                <a:off x="6870192" y="2785872"/>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TextBox 21">
              <a:extLst>
                <a:ext uri="{FF2B5EF4-FFF2-40B4-BE49-F238E27FC236}">
                  <a16:creationId xmlns:a16="http://schemas.microsoft.com/office/drawing/2014/main" id="{A87AD6B0-E256-2C7B-6426-63DE6D192C3E}"/>
                </a:ext>
              </a:extLst>
            </p:cNvPr>
            <p:cNvSpPr txBox="1"/>
            <p:nvPr/>
          </p:nvSpPr>
          <p:spPr>
            <a:xfrm>
              <a:off x="7101879" y="4631686"/>
              <a:ext cx="2217770" cy="1717541"/>
            </a:xfrm>
            <a:prstGeom prst="rect">
              <a:avLst/>
            </a:prstGeom>
            <a:noFill/>
          </p:spPr>
          <p:txBody>
            <a:bodyPr wrap="square" rtlCol="0">
              <a:spAutoFit/>
            </a:bodyPr>
            <a:lstStyle/>
            <a:p>
              <a:pPr algn="ctr"/>
              <a:r>
                <a:rPr lang="en-US" b="1" dirty="0"/>
                <a:t> - Transportation Modes </a:t>
              </a:r>
            </a:p>
            <a:p>
              <a:pPr algn="ctr"/>
              <a:r>
                <a:rPr lang="en-US" b="1" dirty="0"/>
                <a:t>- Routs </a:t>
              </a:r>
            </a:p>
            <a:p>
              <a:pPr algn="ctr"/>
              <a:endParaRPr lang="en-US" b="1" dirty="0"/>
            </a:p>
          </p:txBody>
        </p:sp>
        <p:pic>
          <p:nvPicPr>
            <p:cNvPr id="28" name="Graphic 27" descr="Train Tracks with solid fill">
              <a:extLst>
                <a:ext uri="{FF2B5EF4-FFF2-40B4-BE49-F238E27FC236}">
                  <a16:creationId xmlns:a16="http://schemas.microsoft.com/office/drawing/2014/main" id="{0B1948BD-27E7-4788-A659-02C35405D08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37919" y="3839072"/>
              <a:ext cx="745689" cy="745689"/>
            </a:xfrm>
            <a:prstGeom prst="rect">
              <a:avLst/>
            </a:prstGeom>
          </p:spPr>
        </p:pic>
      </p:grpSp>
      <p:grpSp>
        <p:nvGrpSpPr>
          <p:cNvPr id="4" name="Group 3">
            <a:extLst>
              <a:ext uri="{FF2B5EF4-FFF2-40B4-BE49-F238E27FC236}">
                <a16:creationId xmlns:a16="http://schemas.microsoft.com/office/drawing/2014/main" id="{54E3D5CC-C128-8809-365F-E14C5286345E}"/>
              </a:ext>
            </a:extLst>
          </p:cNvPr>
          <p:cNvGrpSpPr/>
          <p:nvPr/>
        </p:nvGrpSpPr>
        <p:grpSpPr>
          <a:xfrm>
            <a:off x="5355408" y="4743512"/>
            <a:ext cx="2061404" cy="1631382"/>
            <a:chOff x="4974048" y="3751673"/>
            <a:chExt cx="1920240" cy="2651760"/>
          </a:xfrm>
        </p:grpSpPr>
        <p:grpSp>
          <p:nvGrpSpPr>
            <p:cNvPr id="14" name="Group 13">
              <a:extLst>
                <a:ext uri="{FF2B5EF4-FFF2-40B4-BE49-F238E27FC236}">
                  <a16:creationId xmlns:a16="http://schemas.microsoft.com/office/drawing/2014/main" id="{7A5BDC7B-2D83-4C13-9BC7-EDE99FC7E9F8}"/>
                </a:ext>
              </a:extLst>
            </p:cNvPr>
            <p:cNvGrpSpPr/>
            <p:nvPr/>
          </p:nvGrpSpPr>
          <p:grpSpPr>
            <a:xfrm>
              <a:off x="4974048" y="3751673"/>
              <a:ext cx="1920240" cy="2651760"/>
              <a:chOff x="2252471" y="51816"/>
              <a:chExt cx="2941320" cy="3685032"/>
            </a:xfrm>
          </p:grpSpPr>
          <p:sp>
            <p:nvSpPr>
              <p:cNvPr id="12" name="Rectangle 11">
                <a:extLst>
                  <a:ext uri="{FF2B5EF4-FFF2-40B4-BE49-F238E27FC236}">
                    <a16:creationId xmlns:a16="http://schemas.microsoft.com/office/drawing/2014/main" id="{D9DFFDBD-A397-73A5-953C-2FE89299AB78}"/>
                  </a:ext>
                </a:extLst>
              </p:cNvPr>
              <p:cNvSpPr/>
              <p:nvPr/>
            </p:nvSpPr>
            <p:spPr>
              <a:xfrm>
                <a:off x="2636519" y="51816"/>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Freeform: Shape 12">
                <a:extLst>
                  <a:ext uri="{FF2B5EF4-FFF2-40B4-BE49-F238E27FC236}">
                    <a16:creationId xmlns:a16="http://schemas.microsoft.com/office/drawing/2014/main" id="{1AF40DB7-576F-A28E-3BF7-2410D0F48562}"/>
                  </a:ext>
                </a:extLst>
              </p:cNvPr>
              <p:cNvSpPr/>
              <p:nvPr/>
            </p:nvSpPr>
            <p:spPr>
              <a:xfrm rot="10800000" flipV="1">
                <a:off x="2252471" y="646176"/>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1" name="TextBox 20">
              <a:extLst>
                <a:ext uri="{FF2B5EF4-FFF2-40B4-BE49-F238E27FC236}">
                  <a16:creationId xmlns:a16="http://schemas.microsoft.com/office/drawing/2014/main" id="{4731373F-950D-49BF-4A7B-7F41AC156D38}"/>
                </a:ext>
              </a:extLst>
            </p:cNvPr>
            <p:cNvSpPr txBox="1"/>
            <p:nvPr/>
          </p:nvSpPr>
          <p:spPr>
            <a:xfrm>
              <a:off x="5160503" y="4877908"/>
              <a:ext cx="1614703" cy="830997"/>
            </a:xfrm>
            <a:prstGeom prst="rect">
              <a:avLst/>
            </a:prstGeom>
            <a:noFill/>
          </p:spPr>
          <p:txBody>
            <a:bodyPr wrap="square" rtlCol="0">
              <a:spAutoFit/>
            </a:bodyPr>
            <a:lstStyle/>
            <a:p>
              <a:pPr algn="ctr"/>
              <a:r>
                <a:rPr lang="en-US" sz="2400" b="1" dirty="0"/>
                <a:t>Suppliers</a:t>
              </a:r>
            </a:p>
            <a:p>
              <a:pPr algn="ctr"/>
              <a:r>
                <a:rPr lang="en-US" sz="2400" b="1" dirty="0"/>
                <a:t>Carriers  </a:t>
              </a:r>
            </a:p>
          </p:txBody>
        </p:sp>
        <p:pic>
          <p:nvPicPr>
            <p:cNvPr id="29" name="Graphic 28" descr="Bus with solid fill">
              <a:extLst>
                <a:ext uri="{FF2B5EF4-FFF2-40B4-BE49-F238E27FC236}">
                  <a16:creationId xmlns:a16="http://schemas.microsoft.com/office/drawing/2014/main" id="{3A3C0C5F-0B42-0F27-707F-2B3BFE8FA5A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13883" y="3918711"/>
              <a:ext cx="724942" cy="724942"/>
            </a:xfrm>
            <a:prstGeom prst="rect">
              <a:avLst/>
            </a:prstGeom>
          </p:spPr>
        </p:pic>
      </p:grpSp>
      <p:sp>
        <p:nvSpPr>
          <p:cNvPr id="30" name="TextBox 29">
            <a:extLst>
              <a:ext uri="{FF2B5EF4-FFF2-40B4-BE49-F238E27FC236}">
                <a16:creationId xmlns:a16="http://schemas.microsoft.com/office/drawing/2014/main" id="{8BAC9261-3B74-ECFD-6F55-3F1B92CACD36}"/>
              </a:ext>
            </a:extLst>
          </p:cNvPr>
          <p:cNvSpPr txBox="1"/>
          <p:nvPr/>
        </p:nvSpPr>
        <p:spPr>
          <a:xfrm>
            <a:off x="178489" y="841431"/>
            <a:ext cx="6473033"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normalizeH="0" baseline="0" noProof="0" dirty="0">
                <a:ln w="22225">
                  <a:solidFill>
                    <a:schemeClr val="accent2"/>
                  </a:solidFill>
                  <a:prstDash val="solid"/>
                </a:ln>
                <a:solidFill>
                  <a:schemeClr val="accent2">
                    <a:lumMod val="40000"/>
                    <a:lumOff val="60000"/>
                  </a:schemeClr>
                </a:solidFill>
                <a:uLnTx/>
                <a:uFillTx/>
                <a:latin typeface="Arial"/>
                <a:ea typeface="+mn-ea"/>
                <a:cs typeface="+mn-cs"/>
              </a:rPr>
              <a:t>2- Dataset Description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FFFFFF"/>
              </a:solidFill>
              <a:effectLst/>
              <a:uLnTx/>
              <a:uFillTx/>
              <a:latin typeface="Arial"/>
              <a:ea typeface="+mn-ea"/>
              <a:cs typeface="+mn-cs"/>
            </a:endParaRPr>
          </a:p>
        </p:txBody>
      </p:sp>
      <p:sp>
        <p:nvSpPr>
          <p:cNvPr id="33" name="TextBox 32">
            <a:extLst>
              <a:ext uri="{FF2B5EF4-FFF2-40B4-BE49-F238E27FC236}">
                <a16:creationId xmlns:a16="http://schemas.microsoft.com/office/drawing/2014/main" id="{B66A2C9E-D033-DC6A-D122-70C96B4C310D}"/>
              </a:ext>
            </a:extLst>
          </p:cNvPr>
          <p:cNvSpPr txBox="1"/>
          <p:nvPr/>
        </p:nvSpPr>
        <p:spPr>
          <a:xfrm>
            <a:off x="1069955" y="2579109"/>
            <a:ext cx="1614703" cy="1015663"/>
          </a:xfrm>
          <a:prstGeom prst="rect">
            <a:avLst/>
          </a:prstGeom>
          <a:noFill/>
        </p:spPr>
        <p:txBody>
          <a:bodyPr wrap="square" rtlCol="0">
            <a:spAutoFit/>
          </a:bodyPr>
          <a:lstStyle/>
          <a:p>
            <a:pPr algn="ctr"/>
            <a:r>
              <a:rPr lang="en-US" sz="2000" b="1" dirty="0">
                <a:solidFill>
                  <a:srgbClr val="002060"/>
                </a:solidFill>
              </a:rPr>
              <a:t>Haircare</a:t>
            </a:r>
          </a:p>
          <a:p>
            <a:pPr algn="ctr"/>
            <a:r>
              <a:rPr lang="en-US" sz="2000" b="1" dirty="0">
                <a:solidFill>
                  <a:srgbClr val="002060"/>
                </a:solidFill>
              </a:rPr>
              <a:t>Skincare </a:t>
            </a:r>
          </a:p>
          <a:p>
            <a:pPr algn="ctr"/>
            <a:r>
              <a:rPr lang="en-US" sz="2000" b="1" dirty="0">
                <a:solidFill>
                  <a:srgbClr val="002060"/>
                </a:solidFill>
              </a:rPr>
              <a:t>Cosmetics</a:t>
            </a:r>
          </a:p>
        </p:txBody>
      </p:sp>
      <p:sp>
        <p:nvSpPr>
          <p:cNvPr id="15" name="Slide Number Placeholder 14">
            <a:extLst>
              <a:ext uri="{FF2B5EF4-FFF2-40B4-BE49-F238E27FC236}">
                <a16:creationId xmlns:a16="http://schemas.microsoft.com/office/drawing/2014/main" id="{BBD11842-045D-A685-E123-4B4FBEC9BD62}"/>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spTree>
    <p:extLst>
      <p:ext uri="{BB962C8B-B14F-4D97-AF65-F5344CB8AC3E}">
        <p14:creationId xmlns:p14="http://schemas.microsoft.com/office/powerpoint/2010/main" val="4079414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4E577-1E72-DD32-6282-B8CBF0EE6870}"/>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1230D2C8-EA6A-B8C5-B58E-B9ED4D440906}"/>
              </a:ext>
            </a:extLst>
          </p:cNvPr>
          <p:cNvGrpSpPr/>
          <p:nvPr/>
        </p:nvGrpSpPr>
        <p:grpSpPr>
          <a:xfrm>
            <a:off x="458250" y="4370186"/>
            <a:ext cx="1885754" cy="2062134"/>
            <a:chOff x="458249" y="2489758"/>
            <a:chExt cx="1610719" cy="3421646"/>
          </a:xfrm>
        </p:grpSpPr>
        <p:sp>
          <p:nvSpPr>
            <p:cNvPr id="2" name="Rectangle 1">
              <a:extLst>
                <a:ext uri="{FF2B5EF4-FFF2-40B4-BE49-F238E27FC236}">
                  <a16:creationId xmlns:a16="http://schemas.microsoft.com/office/drawing/2014/main" id="{E7B904CD-064E-37DE-37E7-527162D2C12C}"/>
                </a:ext>
              </a:extLst>
            </p:cNvPr>
            <p:cNvSpPr/>
            <p:nvPr/>
          </p:nvSpPr>
          <p:spPr>
            <a:xfrm>
              <a:off x="708977" y="2489758"/>
              <a:ext cx="1196200" cy="317145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Freeform: Shape 4">
              <a:extLst>
                <a:ext uri="{FF2B5EF4-FFF2-40B4-BE49-F238E27FC236}">
                  <a16:creationId xmlns:a16="http://schemas.microsoft.com/office/drawing/2014/main" id="{F180C871-EFF4-80FB-D455-185267EA45A3}"/>
                </a:ext>
              </a:extLst>
            </p:cNvPr>
            <p:cNvSpPr/>
            <p:nvPr/>
          </p:nvSpPr>
          <p:spPr>
            <a:xfrm rot="10800000" flipV="1">
              <a:off x="458249" y="3686067"/>
              <a:ext cx="1610719" cy="2225337"/>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9" name="TextBox 18">
            <a:extLst>
              <a:ext uri="{FF2B5EF4-FFF2-40B4-BE49-F238E27FC236}">
                <a16:creationId xmlns:a16="http://schemas.microsoft.com/office/drawing/2014/main" id="{F915B933-2603-3549-F728-0FB554364B0E}"/>
              </a:ext>
            </a:extLst>
          </p:cNvPr>
          <p:cNvSpPr txBox="1"/>
          <p:nvPr/>
        </p:nvSpPr>
        <p:spPr>
          <a:xfrm>
            <a:off x="569430" y="5457623"/>
            <a:ext cx="1614703" cy="830997"/>
          </a:xfrm>
          <a:prstGeom prst="rect">
            <a:avLst/>
          </a:prstGeom>
          <a:noFill/>
        </p:spPr>
        <p:txBody>
          <a:bodyPr wrap="square" rtlCol="0">
            <a:spAutoFit/>
          </a:bodyPr>
          <a:lstStyle/>
          <a:p>
            <a:pPr algn="ctr"/>
            <a:r>
              <a:rPr lang="en-US" sz="2400" b="1" dirty="0"/>
              <a:t>Products Types </a:t>
            </a:r>
          </a:p>
        </p:txBody>
      </p:sp>
      <p:grpSp>
        <p:nvGrpSpPr>
          <p:cNvPr id="3" name="Group 2">
            <a:extLst>
              <a:ext uri="{FF2B5EF4-FFF2-40B4-BE49-F238E27FC236}">
                <a16:creationId xmlns:a16="http://schemas.microsoft.com/office/drawing/2014/main" id="{82CFE786-69B1-20A7-CCCB-526D89293634}"/>
              </a:ext>
            </a:extLst>
          </p:cNvPr>
          <p:cNvGrpSpPr/>
          <p:nvPr/>
        </p:nvGrpSpPr>
        <p:grpSpPr>
          <a:xfrm>
            <a:off x="2412859" y="1765005"/>
            <a:ext cx="2790242" cy="4933416"/>
            <a:chOff x="2669412" y="3856948"/>
            <a:chExt cx="1920240" cy="2722826"/>
          </a:xfrm>
        </p:grpSpPr>
        <p:grpSp>
          <p:nvGrpSpPr>
            <p:cNvPr id="16" name="Group 15">
              <a:extLst>
                <a:ext uri="{FF2B5EF4-FFF2-40B4-BE49-F238E27FC236}">
                  <a16:creationId xmlns:a16="http://schemas.microsoft.com/office/drawing/2014/main" id="{39D0A54C-E044-9750-841E-A3973D7DCCF4}"/>
                </a:ext>
              </a:extLst>
            </p:cNvPr>
            <p:cNvGrpSpPr/>
            <p:nvPr/>
          </p:nvGrpSpPr>
          <p:grpSpPr>
            <a:xfrm>
              <a:off x="2669412" y="3856948"/>
              <a:ext cx="1920240" cy="2575961"/>
              <a:chOff x="3791712" y="2264664"/>
              <a:chExt cx="2941320" cy="3685032"/>
            </a:xfrm>
          </p:grpSpPr>
          <p:sp>
            <p:nvSpPr>
              <p:cNvPr id="6" name="Rectangle 5">
                <a:extLst>
                  <a:ext uri="{FF2B5EF4-FFF2-40B4-BE49-F238E27FC236}">
                    <a16:creationId xmlns:a16="http://schemas.microsoft.com/office/drawing/2014/main" id="{F81A2D43-E38C-3AD0-57A3-3C3A82AA205D}"/>
                  </a:ext>
                </a:extLst>
              </p:cNvPr>
              <p:cNvSpPr/>
              <p:nvPr/>
            </p:nvSpPr>
            <p:spPr>
              <a:xfrm>
                <a:off x="4175760" y="2264664"/>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Freeform: Shape 6">
                <a:extLst>
                  <a:ext uri="{FF2B5EF4-FFF2-40B4-BE49-F238E27FC236}">
                    <a16:creationId xmlns:a16="http://schemas.microsoft.com/office/drawing/2014/main" id="{FF6BC876-31A7-D92C-18BC-AA3424CAC05C}"/>
                  </a:ext>
                </a:extLst>
              </p:cNvPr>
              <p:cNvSpPr/>
              <p:nvPr/>
            </p:nvSpPr>
            <p:spPr>
              <a:xfrm rot="10800000" flipV="1">
                <a:off x="3791712" y="4697450"/>
                <a:ext cx="2941320" cy="1252246"/>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TextBox 19">
              <a:extLst>
                <a:ext uri="{FF2B5EF4-FFF2-40B4-BE49-F238E27FC236}">
                  <a16:creationId xmlns:a16="http://schemas.microsoft.com/office/drawing/2014/main" id="{ED2720CE-2773-2210-8149-AC953628B255}"/>
                </a:ext>
              </a:extLst>
            </p:cNvPr>
            <p:cNvSpPr txBox="1"/>
            <p:nvPr/>
          </p:nvSpPr>
          <p:spPr>
            <a:xfrm>
              <a:off x="2763288" y="5919539"/>
              <a:ext cx="1614703" cy="660235"/>
            </a:xfrm>
            <a:prstGeom prst="rect">
              <a:avLst/>
            </a:prstGeom>
            <a:noFill/>
          </p:spPr>
          <p:txBody>
            <a:bodyPr wrap="square" rtlCol="0">
              <a:spAutoFit/>
            </a:bodyPr>
            <a:lstStyle/>
            <a:p>
              <a:pPr algn="ctr"/>
              <a:r>
                <a:rPr lang="en-US" sz="2400" b="1" dirty="0"/>
                <a:t>Orders</a:t>
              </a:r>
            </a:p>
          </p:txBody>
        </p:sp>
        <p:pic>
          <p:nvPicPr>
            <p:cNvPr id="24" name="Graphic 23" descr="Shopping cart with solid fill">
              <a:extLst>
                <a:ext uri="{FF2B5EF4-FFF2-40B4-BE49-F238E27FC236}">
                  <a16:creationId xmlns:a16="http://schemas.microsoft.com/office/drawing/2014/main" id="{EDB28BDB-B12A-4B3E-91CC-2BB1D58FFF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43108" y="3918711"/>
              <a:ext cx="611419" cy="337279"/>
            </a:xfrm>
            <a:prstGeom prst="rect">
              <a:avLst/>
            </a:prstGeom>
          </p:spPr>
        </p:pic>
      </p:grpSp>
      <p:pic>
        <p:nvPicPr>
          <p:cNvPr id="25" name="Graphic 24" descr="Wheelbarrow with solid fill">
            <a:extLst>
              <a:ext uri="{FF2B5EF4-FFF2-40B4-BE49-F238E27FC236}">
                <a16:creationId xmlns:a16="http://schemas.microsoft.com/office/drawing/2014/main" id="{07D40BB6-0B3B-A232-AFE7-7402BF9D6A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6505" y="4625354"/>
            <a:ext cx="831686" cy="811026"/>
          </a:xfrm>
          <a:prstGeom prst="rect">
            <a:avLst/>
          </a:prstGeom>
        </p:spPr>
      </p:pic>
      <p:grpSp>
        <p:nvGrpSpPr>
          <p:cNvPr id="31" name="Group 30">
            <a:extLst>
              <a:ext uri="{FF2B5EF4-FFF2-40B4-BE49-F238E27FC236}">
                <a16:creationId xmlns:a16="http://schemas.microsoft.com/office/drawing/2014/main" id="{65220F74-E719-FD6D-4025-D11FE8C3D939}"/>
              </a:ext>
            </a:extLst>
          </p:cNvPr>
          <p:cNvGrpSpPr/>
          <p:nvPr/>
        </p:nvGrpSpPr>
        <p:grpSpPr>
          <a:xfrm>
            <a:off x="9915204" y="4736584"/>
            <a:ext cx="1913535" cy="1638309"/>
            <a:chOff x="9601399" y="3661422"/>
            <a:chExt cx="1920240" cy="2651760"/>
          </a:xfrm>
        </p:grpSpPr>
        <p:grpSp>
          <p:nvGrpSpPr>
            <p:cNvPr id="18" name="Group 17">
              <a:extLst>
                <a:ext uri="{FF2B5EF4-FFF2-40B4-BE49-F238E27FC236}">
                  <a16:creationId xmlns:a16="http://schemas.microsoft.com/office/drawing/2014/main" id="{62EBBD8F-20EB-5477-6CCA-96D5B48A37D8}"/>
                </a:ext>
              </a:extLst>
            </p:cNvPr>
            <p:cNvGrpSpPr/>
            <p:nvPr/>
          </p:nvGrpSpPr>
          <p:grpSpPr>
            <a:xfrm>
              <a:off x="9601399" y="3661422"/>
              <a:ext cx="1920240" cy="2651760"/>
              <a:chOff x="9250680" y="2191512"/>
              <a:chExt cx="2941320" cy="3685032"/>
            </a:xfrm>
          </p:grpSpPr>
          <p:sp>
            <p:nvSpPr>
              <p:cNvPr id="10" name="Rectangle 9">
                <a:extLst>
                  <a:ext uri="{FF2B5EF4-FFF2-40B4-BE49-F238E27FC236}">
                    <a16:creationId xmlns:a16="http://schemas.microsoft.com/office/drawing/2014/main" id="{45B78896-B177-D48F-5FD6-606479044772}"/>
                  </a:ext>
                </a:extLst>
              </p:cNvPr>
              <p:cNvSpPr/>
              <p:nvPr/>
            </p:nvSpPr>
            <p:spPr>
              <a:xfrm>
                <a:off x="9634728" y="2191512"/>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Freeform: Shape 10">
                <a:extLst>
                  <a:ext uri="{FF2B5EF4-FFF2-40B4-BE49-F238E27FC236}">
                    <a16:creationId xmlns:a16="http://schemas.microsoft.com/office/drawing/2014/main" id="{5ACBAA68-963E-A04F-335F-1F802CA782D0}"/>
                  </a:ext>
                </a:extLst>
              </p:cNvPr>
              <p:cNvSpPr/>
              <p:nvPr/>
            </p:nvSpPr>
            <p:spPr>
              <a:xfrm rot="10800000" flipV="1">
                <a:off x="9250680" y="2785872"/>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extBox 22">
              <a:extLst>
                <a:ext uri="{FF2B5EF4-FFF2-40B4-BE49-F238E27FC236}">
                  <a16:creationId xmlns:a16="http://schemas.microsoft.com/office/drawing/2014/main" id="{C9DBD41C-9D1A-3483-60A3-7586DB678060}"/>
                </a:ext>
              </a:extLst>
            </p:cNvPr>
            <p:cNvSpPr txBox="1"/>
            <p:nvPr/>
          </p:nvSpPr>
          <p:spPr>
            <a:xfrm>
              <a:off x="9756648" y="4739701"/>
              <a:ext cx="1686181" cy="1494498"/>
            </a:xfrm>
            <a:prstGeom prst="rect">
              <a:avLst/>
            </a:prstGeom>
            <a:noFill/>
          </p:spPr>
          <p:txBody>
            <a:bodyPr wrap="square" rtlCol="0">
              <a:spAutoFit/>
            </a:bodyPr>
            <a:lstStyle/>
            <a:p>
              <a:pPr algn="ctr"/>
              <a:r>
                <a:rPr lang="en-US" b="1" dirty="0"/>
                <a:t>- Defect Rete </a:t>
              </a:r>
            </a:p>
            <a:p>
              <a:pPr algn="ctr"/>
              <a:r>
                <a:rPr lang="en-US" b="1" dirty="0"/>
                <a:t>- Inspection Results </a:t>
              </a:r>
            </a:p>
          </p:txBody>
        </p:sp>
        <p:pic>
          <p:nvPicPr>
            <p:cNvPr id="26" name="Graphic 25" descr="Filter with solid fill">
              <a:extLst>
                <a:ext uri="{FF2B5EF4-FFF2-40B4-BE49-F238E27FC236}">
                  <a16:creationId xmlns:a16="http://schemas.microsoft.com/office/drawing/2014/main" id="{17B75CB5-A8ED-1F59-B57D-6FAA0469007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74835" y="3918711"/>
              <a:ext cx="681095" cy="681095"/>
            </a:xfrm>
            <a:prstGeom prst="rect">
              <a:avLst/>
            </a:prstGeom>
          </p:spPr>
        </p:pic>
      </p:grpSp>
      <p:grpSp>
        <p:nvGrpSpPr>
          <p:cNvPr id="27" name="Group 26">
            <a:extLst>
              <a:ext uri="{FF2B5EF4-FFF2-40B4-BE49-F238E27FC236}">
                <a16:creationId xmlns:a16="http://schemas.microsoft.com/office/drawing/2014/main" id="{B307ACCE-8C8A-DC70-0DB9-96C80B533043}"/>
              </a:ext>
            </a:extLst>
          </p:cNvPr>
          <p:cNvGrpSpPr/>
          <p:nvPr/>
        </p:nvGrpSpPr>
        <p:grpSpPr>
          <a:xfrm>
            <a:off x="7416812" y="4732298"/>
            <a:ext cx="2373467" cy="1700021"/>
            <a:chOff x="7101879" y="3723133"/>
            <a:chExt cx="2234871" cy="2651760"/>
          </a:xfrm>
        </p:grpSpPr>
        <p:grpSp>
          <p:nvGrpSpPr>
            <p:cNvPr id="17" name="Group 16">
              <a:extLst>
                <a:ext uri="{FF2B5EF4-FFF2-40B4-BE49-F238E27FC236}">
                  <a16:creationId xmlns:a16="http://schemas.microsoft.com/office/drawing/2014/main" id="{2A108274-2EE5-1F24-E96C-FD31621CC6BD}"/>
                </a:ext>
              </a:extLst>
            </p:cNvPr>
            <p:cNvGrpSpPr/>
            <p:nvPr/>
          </p:nvGrpSpPr>
          <p:grpSpPr>
            <a:xfrm>
              <a:off x="7212205" y="3723133"/>
              <a:ext cx="2124545" cy="2651760"/>
              <a:chOff x="6870192" y="2191512"/>
              <a:chExt cx="2941320" cy="3685032"/>
            </a:xfrm>
          </p:grpSpPr>
          <p:sp>
            <p:nvSpPr>
              <p:cNvPr id="8" name="Rectangle 7">
                <a:extLst>
                  <a:ext uri="{FF2B5EF4-FFF2-40B4-BE49-F238E27FC236}">
                    <a16:creationId xmlns:a16="http://schemas.microsoft.com/office/drawing/2014/main" id="{F9F71026-8C0E-E2DF-D7F2-DCE1F4D6B19A}"/>
                  </a:ext>
                </a:extLst>
              </p:cNvPr>
              <p:cNvSpPr/>
              <p:nvPr/>
            </p:nvSpPr>
            <p:spPr>
              <a:xfrm>
                <a:off x="7254240" y="2191512"/>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Freeform: Shape 8">
                <a:extLst>
                  <a:ext uri="{FF2B5EF4-FFF2-40B4-BE49-F238E27FC236}">
                    <a16:creationId xmlns:a16="http://schemas.microsoft.com/office/drawing/2014/main" id="{63E2035D-FD14-EC53-770D-41C6D7EDB275}"/>
                  </a:ext>
                </a:extLst>
              </p:cNvPr>
              <p:cNvSpPr/>
              <p:nvPr/>
            </p:nvSpPr>
            <p:spPr>
              <a:xfrm rot="10800000" flipV="1">
                <a:off x="6870192" y="2785872"/>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TextBox 21">
              <a:extLst>
                <a:ext uri="{FF2B5EF4-FFF2-40B4-BE49-F238E27FC236}">
                  <a16:creationId xmlns:a16="http://schemas.microsoft.com/office/drawing/2014/main" id="{7EEAA447-F3EB-8DCE-C9D0-69C5D043A7A3}"/>
                </a:ext>
              </a:extLst>
            </p:cNvPr>
            <p:cNvSpPr txBox="1"/>
            <p:nvPr/>
          </p:nvSpPr>
          <p:spPr>
            <a:xfrm>
              <a:off x="7101879" y="4631686"/>
              <a:ext cx="2217770" cy="1717541"/>
            </a:xfrm>
            <a:prstGeom prst="rect">
              <a:avLst/>
            </a:prstGeom>
            <a:noFill/>
          </p:spPr>
          <p:txBody>
            <a:bodyPr wrap="square" rtlCol="0">
              <a:spAutoFit/>
            </a:bodyPr>
            <a:lstStyle/>
            <a:p>
              <a:pPr algn="ctr"/>
              <a:r>
                <a:rPr lang="en-US" b="1" dirty="0"/>
                <a:t> - Transportation Modes </a:t>
              </a:r>
            </a:p>
            <a:p>
              <a:pPr algn="ctr"/>
              <a:r>
                <a:rPr lang="en-US" b="1" dirty="0"/>
                <a:t>- Routs </a:t>
              </a:r>
            </a:p>
            <a:p>
              <a:pPr algn="ctr"/>
              <a:endParaRPr lang="en-US" b="1" dirty="0"/>
            </a:p>
          </p:txBody>
        </p:sp>
        <p:pic>
          <p:nvPicPr>
            <p:cNvPr id="28" name="Graphic 27" descr="Train Tracks with solid fill">
              <a:extLst>
                <a:ext uri="{FF2B5EF4-FFF2-40B4-BE49-F238E27FC236}">
                  <a16:creationId xmlns:a16="http://schemas.microsoft.com/office/drawing/2014/main" id="{FAEEB78D-3D9E-CBD9-CAC6-70622DB1980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37919" y="3839072"/>
              <a:ext cx="745689" cy="745689"/>
            </a:xfrm>
            <a:prstGeom prst="rect">
              <a:avLst/>
            </a:prstGeom>
          </p:spPr>
        </p:pic>
      </p:grpSp>
      <p:grpSp>
        <p:nvGrpSpPr>
          <p:cNvPr id="4" name="Group 3">
            <a:extLst>
              <a:ext uri="{FF2B5EF4-FFF2-40B4-BE49-F238E27FC236}">
                <a16:creationId xmlns:a16="http://schemas.microsoft.com/office/drawing/2014/main" id="{A29E4583-EF6B-EA36-1052-96B48C0FDBA3}"/>
              </a:ext>
            </a:extLst>
          </p:cNvPr>
          <p:cNvGrpSpPr/>
          <p:nvPr/>
        </p:nvGrpSpPr>
        <p:grpSpPr>
          <a:xfrm>
            <a:off x="5355408" y="4743512"/>
            <a:ext cx="2061404" cy="1631382"/>
            <a:chOff x="4974048" y="3751673"/>
            <a:chExt cx="1920240" cy="2651760"/>
          </a:xfrm>
        </p:grpSpPr>
        <p:grpSp>
          <p:nvGrpSpPr>
            <p:cNvPr id="14" name="Group 13">
              <a:extLst>
                <a:ext uri="{FF2B5EF4-FFF2-40B4-BE49-F238E27FC236}">
                  <a16:creationId xmlns:a16="http://schemas.microsoft.com/office/drawing/2014/main" id="{FE9C4872-F461-B5D7-4CEE-D30998070F6E}"/>
                </a:ext>
              </a:extLst>
            </p:cNvPr>
            <p:cNvGrpSpPr/>
            <p:nvPr/>
          </p:nvGrpSpPr>
          <p:grpSpPr>
            <a:xfrm>
              <a:off x="4974048" y="3751673"/>
              <a:ext cx="1920240" cy="2651760"/>
              <a:chOff x="2252471" y="51816"/>
              <a:chExt cx="2941320" cy="3685032"/>
            </a:xfrm>
          </p:grpSpPr>
          <p:sp>
            <p:nvSpPr>
              <p:cNvPr id="12" name="Rectangle 11">
                <a:extLst>
                  <a:ext uri="{FF2B5EF4-FFF2-40B4-BE49-F238E27FC236}">
                    <a16:creationId xmlns:a16="http://schemas.microsoft.com/office/drawing/2014/main" id="{D34D5E16-D269-8B28-EBD5-3BB1B9A83338}"/>
                  </a:ext>
                </a:extLst>
              </p:cNvPr>
              <p:cNvSpPr/>
              <p:nvPr/>
            </p:nvSpPr>
            <p:spPr>
              <a:xfrm>
                <a:off x="2636519" y="51816"/>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Freeform: Shape 12">
                <a:extLst>
                  <a:ext uri="{FF2B5EF4-FFF2-40B4-BE49-F238E27FC236}">
                    <a16:creationId xmlns:a16="http://schemas.microsoft.com/office/drawing/2014/main" id="{AE407220-1432-ACA0-AFA9-45FE99640D0E}"/>
                  </a:ext>
                </a:extLst>
              </p:cNvPr>
              <p:cNvSpPr/>
              <p:nvPr/>
            </p:nvSpPr>
            <p:spPr>
              <a:xfrm rot="10800000" flipV="1">
                <a:off x="2252471" y="646176"/>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1" name="TextBox 20">
              <a:extLst>
                <a:ext uri="{FF2B5EF4-FFF2-40B4-BE49-F238E27FC236}">
                  <a16:creationId xmlns:a16="http://schemas.microsoft.com/office/drawing/2014/main" id="{B2D0FFCB-D4AD-E008-7470-4121E0C75B7C}"/>
                </a:ext>
              </a:extLst>
            </p:cNvPr>
            <p:cNvSpPr txBox="1"/>
            <p:nvPr/>
          </p:nvSpPr>
          <p:spPr>
            <a:xfrm>
              <a:off x="5160503" y="4877908"/>
              <a:ext cx="1614703" cy="830997"/>
            </a:xfrm>
            <a:prstGeom prst="rect">
              <a:avLst/>
            </a:prstGeom>
            <a:noFill/>
          </p:spPr>
          <p:txBody>
            <a:bodyPr wrap="square" rtlCol="0">
              <a:spAutoFit/>
            </a:bodyPr>
            <a:lstStyle/>
            <a:p>
              <a:pPr algn="ctr"/>
              <a:r>
                <a:rPr lang="en-US" sz="2400" b="1" dirty="0"/>
                <a:t>Suppliers</a:t>
              </a:r>
            </a:p>
            <a:p>
              <a:pPr algn="ctr"/>
              <a:r>
                <a:rPr lang="en-US" sz="2400" b="1" dirty="0"/>
                <a:t>Carriers  </a:t>
              </a:r>
            </a:p>
          </p:txBody>
        </p:sp>
        <p:pic>
          <p:nvPicPr>
            <p:cNvPr id="29" name="Graphic 28" descr="Bus with solid fill">
              <a:extLst>
                <a:ext uri="{FF2B5EF4-FFF2-40B4-BE49-F238E27FC236}">
                  <a16:creationId xmlns:a16="http://schemas.microsoft.com/office/drawing/2014/main" id="{C7D329C0-B312-C8DE-AD3C-19675A6B72E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13883" y="3918711"/>
              <a:ext cx="724942" cy="724942"/>
            </a:xfrm>
            <a:prstGeom prst="rect">
              <a:avLst/>
            </a:prstGeom>
          </p:spPr>
        </p:pic>
      </p:grpSp>
      <p:sp>
        <p:nvSpPr>
          <p:cNvPr id="30" name="TextBox 29">
            <a:extLst>
              <a:ext uri="{FF2B5EF4-FFF2-40B4-BE49-F238E27FC236}">
                <a16:creationId xmlns:a16="http://schemas.microsoft.com/office/drawing/2014/main" id="{1F724873-1B21-80CB-B1FC-988450FFDA0D}"/>
              </a:ext>
            </a:extLst>
          </p:cNvPr>
          <p:cNvSpPr txBox="1"/>
          <p:nvPr/>
        </p:nvSpPr>
        <p:spPr>
          <a:xfrm>
            <a:off x="178489" y="841431"/>
            <a:ext cx="6473033"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normalizeH="0" baseline="0" noProof="0" dirty="0">
                <a:ln w="22225">
                  <a:solidFill>
                    <a:schemeClr val="accent2"/>
                  </a:solidFill>
                  <a:prstDash val="solid"/>
                </a:ln>
                <a:solidFill>
                  <a:schemeClr val="accent2">
                    <a:lumMod val="40000"/>
                    <a:lumOff val="60000"/>
                  </a:schemeClr>
                </a:solidFill>
                <a:uLnTx/>
                <a:uFillTx/>
                <a:latin typeface="Arial"/>
                <a:ea typeface="+mn-ea"/>
                <a:cs typeface="+mn-cs"/>
              </a:rPr>
              <a:t>2- Dataset Description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FFFFFF"/>
              </a:solidFill>
              <a:effectLst/>
              <a:uLnTx/>
              <a:uFillTx/>
              <a:latin typeface="Arial"/>
              <a:ea typeface="+mn-ea"/>
              <a:cs typeface="+mn-cs"/>
            </a:endParaRPr>
          </a:p>
        </p:txBody>
      </p:sp>
      <p:sp>
        <p:nvSpPr>
          <p:cNvPr id="15" name="TextBox 14">
            <a:extLst>
              <a:ext uri="{FF2B5EF4-FFF2-40B4-BE49-F238E27FC236}">
                <a16:creationId xmlns:a16="http://schemas.microsoft.com/office/drawing/2014/main" id="{744E8BDB-32F8-0580-4BBA-F4D1559A490A}"/>
              </a:ext>
            </a:extLst>
          </p:cNvPr>
          <p:cNvSpPr txBox="1"/>
          <p:nvPr/>
        </p:nvSpPr>
        <p:spPr>
          <a:xfrm>
            <a:off x="2893890" y="2753272"/>
            <a:ext cx="2001653" cy="1938992"/>
          </a:xfrm>
          <a:prstGeom prst="rect">
            <a:avLst/>
          </a:prstGeom>
          <a:noFill/>
        </p:spPr>
        <p:txBody>
          <a:bodyPr wrap="square">
            <a:spAutoFit/>
          </a:bodyPr>
          <a:lstStyle/>
          <a:p>
            <a:r>
              <a:rPr lang="en-US" sz="2000" b="1" dirty="0">
                <a:solidFill>
                  <a:srgbClr val="002060"/>
                </a:solidFill>
              </a:rPr>
              <a:t>100 Products</a:t>
            </a:r>
          </a:p>
          <a:p>
            <a:r>
              <a:rPr lang="en-US" sz="2000" dirty="0">
                <a:solidFill>
                  <a:srgbClr val="002060"/>
                </a:solidFill>
              </a:rPr>
              <a:t>23 Variables </a:t>
            </a:r>
            <a:endParaRPr lang="en-US" sz="2000" b="1" dirty="0">
              <a:solidFill>
                <a:srgbClr val="002060"/>
              </a:solidFill>
            </a:endParaRPr>
          </a:p>
          <a:p>
            <a:r>
              <a:rPr lang="en-US" sz="2000" b="1" dirty="0">
                <a:solidFill>
                  <a:srgbClr val="002060"/>
                </a:solidFill>
              </a:rPr>
              <a:t>100 Orders </a:t>
            </a:r>
          </a:p>
          <a:p>
            <a:r>
              <a:rPr lang="en-US" sz="2000" dirty="0">
                <a:solidFill>
                  <a:srgbClr val="002060"/>
                </a:solidFill>
              </a:rPr>
              <a:t>34 Haircare</a:t>
            </a:r>
          </a:p>
          <a:p>
            <a:r>
              <a:rPr lang="en-US" sz="2000" dirty="0">
                <a:solidFill>
                  <a:srgbClr val="002060"/>
                </a:solidFill>
              </a:rPr>
              <a:t>40 Skincare </a:t>
            </a:r>
          </a:p>
          <a:p>
            <a:r>
              <a:rPr lang="en-US" sz="2000" dirty="0">
                <a:solidFill>
                  <a:srgbClr val="002060"/>
                </a:solidFill>
              </a:rPr>
              <a:t>26 Cosmetics </a:t>
            </a:r>
          </a:p>
        </p:txBody>
      </p:sp>
      <p:sp>
        <p:nvSpPr>
          <p:cNvPr id="33" name="Slide Number Placeholder 32">
            <a:extLst>
              <a:ext uri="{FF2B5EF4-FFF2-40B4-BE49-F238E27FC236}">
                <a16:creationId xmlns:a16="http://schemas.microsoft.com/office/drawing/2014/main" id="{B7412247-8143-E194-FE47-7E72546F8880}"/>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spTree>
    <p:extLst>
      <p:ext uri="{BB962C8B-B14F-4D97-AF65-F5344CB8AC3E}">
        <p14:creationId xmlns:p14="http://schemas.microsoft.com/office/powerpoint/2010/main" val="3750786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525F-137B-A2B0-2899-9399A8BDB9D9}"/>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5EB44083-FA99-F1E7-5971-E3A7C0BEE2CF}"/>
              </a:ext>
            </a:extLst>
          </p:cNvPr>
          <p:cNvGrpSpPr/>
          <p:nvPr/>
        </p:nvGrpSpPr>
        <p:grpSpPr>
          <a:xfrm>
            <a:off x="458250" y="4370186"/>
            <a:ext cx="1885754" cy="2062134"/>
            <a:chOff x="458249" y="2489758"/>
            <a:chExt cx="1610719" cy="3421646"/>
          </a:xfrm>
        </p:grpSpPr>
        <p:sp>
          <p:nvSpPr>
            <p:cNvPr id="2" name="Rectangle 1">
              <a:extLst>
                <a:ext uri="{FF2B5EF4-FFF2-40B4-BE49-F238E27FC236}">
                  <a16:creationId xmlns:a16="http://schemas.microsoft.com/office/drawing/2014/main" id="{C712BB91-BF5E-7A34-A34A-6CD88B3923DE}"/>
                </a:ext>
              </a:extLst>
            </p:cNvPr>
            <p:cNvSpPr/>
            <p:nvPr/>
          </p:nvSpPr>
          <p:spPr>
            <a:xfrm>
              <a:off x="708977" y="2489758"/>
              <a:ext cx="1196200" cy="317145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Freeform: Shape 4">
              <a:extLst>
                <a:ext uri="{FF2B5EF4-FFF2-40B4-BE49-F238E27FC236}">
                  <a16:creationId xmlns:a16="http://schemas.microsoft.com/office/drawing/2014/main" id="{B47AAB3D-F3D4-2586-2152-FC2F4676C414}"/>
                </a:ext>
              </a:extLst>
            </p:cNvPr>
            <p:cNvSpPr/>
            <p:nvPr/>
          </p:nvSpPr>
          <p:spPr>
            <a:xfrm rot="10800000" flipV="1">
              <a:off x="458249" y="3686067"/>
              <a:ext cx="1610719" cy="2225337"/>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9" name="TextBox 18">
            <a:extLst>
              <a:ext uri="{FF2B5EF4-FFF2-40B4-BE49-F238E27FC236}">
                <a16:creationId xmlns:a16="http://schemas.microsoft.com/office/drawing/2014/main" id="{1135C75D-44AD-F09E-5ED0-C6C2FAB303CD}"/>
              </a:ext>
            </a:extLst>
          </p:cNvPr>
          <p:cNvSpPr txBox="1"/>
          <p:nvPr/>
        </p:nvSpPr>
        <p:spPr>
          <a:xfrm>
            <a:off x="569430" y="5457623"/>
            <a:ext cx="1614703" cy="830997"/>
          </a:xfrm>
          <a:prstGeom prst="rect">
            <a:avLst/>
          </a:prstGeom>
          <a:noFill/>
        </p:spPr>
        <p:txBody>
          <a:bodyPr wrap="square" rtlCol="0">
            <a:spAutoFit/>
          </a:bodyPr>
          <a:lstStyle/>
          <a:p>
            <a:pPr algn="ctr"/>
            <a:r>
              <a:rPr lang="en-US" sz="2400" b="1" dirty="0"/>
              <a:t>Products Types </a:t>
            </a:r>
          </a:p>
        </p:txBody>
      </p:sp>
      <p:grpSp>
        <p:nvGrpSpPr>
          <p:cNvPr id="3" name="Group 2">
            <a:extLst>
              <a:ext uri="{FF2B5EF4-FFF2-40B4-BE49-F238E27FC236}">
                <a16:creationId xmlns:a16="http://schemas.microsoft.com/office/drawing/2014/main" id="{3AF3EED2-CE19-152E-F691-58C2C0BBBBA4}"/>
              </a:ext>
            </a:extLst>
          </p:cNvPr>
          <p:cNvGrpSpPr/>
          <p:nvPr/>
        </p:nvGrpSpPr>
        <p:grpSpPr>
          <a:xfrm>
            <a:off x="2412859" y="4369980"/>
            <a:ext cx="2061405" cy="2328438"/>
            <a:chOff x="2669412" y="5294674"/>
            <a:chExt cx="1920240" cy="1285100"/>
          </a:xfrm>
        </p:grpSpPr>
        <p:grpSp>
          <p:nvGrpSpPr>
            <p:cNvPr id="16" name="Group 15">
              <a:extLst>
                <a:ext uri="{FF2B5EF4-FFF2-40B4-BE49-F238E27FC236}">
                  <a16:creationId xmlns:a16="http://schemas.microsoft.com/office/drawing/2014/main" id="{718A63FB-797A-D18A-2264-DE285A5C3427}"/>
                </a:ext>
              </a:extLst>
            </p:cNvPr>
            <p:cNvGrpSpPr/>
            <p:nvPr/>
          </p:nvGrpSpPr>
          <p:grpSpPr>
            <a:xfrm>
              <a:off x="2669412" y="5294674"/>
              <a:ext cx="1920240" cy="1138235"/>
              <a:chOff x="3791712" y="4321398"/>
              <a:chExt cx="2941320" cy="1628298"/>
            </a:xfrm>
          </p:grpSpPr>
          <p:sp>
            <p:nvSpPr>
              <p:cNvPr id="6" name="Rectangle 5">
                <a:extLst>
                  <a:ext uri="{FF2B5EF4-FFF2-40B4-BE49-F238E27FC236}">
                    <a16:creationId xmlns:a16="http://schemas.microsoft.com/office/drawing/2014/main" id="{3738E7EE-D75F-4E22-4540-960D69BAE2D9}"/>
                  </a:ext>
                </a:extLst>
              </p:cNvPr>
              <p:cNvSpPr/>
              <p:nvPr/>
            </p:nvSpPr>
            <p:spPr>
              <a:xfrm>
                <a:off x="4175760" y="4321398"/>
                <a:ext cx="2185416" cy="128082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Freeform: Shape 6">
                <a:extLst>
                  <a:ext uri="{FF2B5EF4-FFF2-40B4-BE49-F238E27FC236}">
                    <a16:creationId xmlns:a16="http://schemas.microsoft.com/office/drawing/2014/main" id="{F63F2206-83F6-ED0D-A6FB-3DEC236135CF}"/>
                  </a:ext>
                </a:extLst>
              </p:cNvPr>
              <p:cNvSpPr/>
              <p:nvPr/>
            </p:nvSpPr>
            <p:spPr>
              <a:xfrm rot="10800000" flipV="1">
                <a:off x="3791712" y="4697450"/>
                <a:ext cx="2941320" cy="1252246"/>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TextBox 19">
              <a:extLst>
                <a:ext uri="{FF2B5EF4-FFF2-40B4-BE49-F238E27FC236}">
                  <a16:creationId xmlns:a16="http://schemas.microsoft.com/office/drawing/2014/main" id="{0AAC4986-D660-C9A0-264E-437CF78E9D8B}"/>
                </a:ext>
              </a:extLst>
            </p:cNvPr>
            <p:cNvSpPr txBox="1"/>
            <p:nvPr/>
          </p:nvSpPr>
          <p:spPr>
            <a:xfrm>
              <a:off x="2763288" y="5919539"/>
              <a:ext cx="1614703" cy="660235"/>
            </a:xfrm>
            <a:prstGeom prst="rect">
              <a:avLst/>
            </a:prstGeom>
            <a:noFill/>
          </p:spPr>
          <p:txBody>
            <a:bodyPr wrap="square" rtlCol="0">
              <a:spAutoFit/>
            </a:bodyPr>
            <a:lstStyle/>
            <a:p>
              <a:pPr algn="ctr"/>
              <a:r>
                <a:rPr lang="en-US" sz="2400" b="1" dirty="0"/>
                <a:t>Orders</a:t>
              </a:r>
            </a:p>
          </p:txBody>
        </p:sp>
        <p:pic>
          <p:nvPicPr>
            <p:cNvPr id="24" name="Graphic 23" descr="Shopping cart with solid fill">
              <a:extLst>
                <a:ext uri="{FF2B5EF4-FFF2-40B4-BE49-F238E27FC236}">
                  <a16:creationId xmlns:a16="http://schemas.microsoft.com/office/drawing/2014/main" id="{6AE4DCF7-665A-2D5D-DFB9-577BF7E59F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64930" y="5410683"/>
              <a:ext cx="611419" cy="337279"/>
            </a:xfrm>
            <a:prstGeom prst="rect">
              <a:avLst/>
            </a:prstGeom>
          </p:spPr>
        </p:pic>
      </p:grpSp>
      <p:pic>
        <p:nvPicPr>
          <p:cNvPr id="25" name="Graphic 24" descr="Wheelbarrow with solid fill">
            <a:extLst>
              <a:ext uri="{FF2B5EF4-FFF2-40B4-BE49-F238E27FC236}">
                <a16:creationId xmlns:a16="http://schemas.microsoft.com/office/drawing/2014/main" id="{76C06D55-8979-4E16-BD52-372AF12DA3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6505" y="4625354"/>
            <a:ext cx="831686" cy="811026"/>
          </a:xfrm>
          <a:prstGeom prst="rect">
            <a:avLst/>
          </a:prstGeom>
        </p:spPr>
      </p:pic>
      <p:grpSp>
        <p:nvGrpSpPr>
          <p:cNvPr id="31" name="Group 30">
            <a:extLst>
              <a:ext uri="{FF2B5EF4-FFF2-40B4-BE49-F238E27FC236}">
                <a16:creationId xmlns:a16="http://schemas.microsoft.com/office/drawing/2014/main" id="{39436C37-E472-69A8-6C65-575AD8D7A68D}"/>
              </a:ext>
            </a:extLst>
          </p:cNvPr>
          <p:cNvGrpSpPr/>
          <p:nvPr/>
        </p:nvGrpSpPr>
        <p:grpSpPr>
          <a:xfrm>
            <a:off x="9915204" y="4736584"/>
            <a:ext cx="1913535" cy="1638309"/>
            <a:chOff x="9601399" y="3661422"/>
            <a:chExt cx="1920240" cy="2651760"/>
          </a:xfrm>
        </p:grpSpPr>
        <p:grpSp>
          <p:nvGrpSpPr>
            <p:cNvPr id="18" name="Group 17">
              <a:extLst>
                <a:ext uri="{FF2B5EF4-FFF2-40B4-BE49-F238E27FC236}">
                  <a16:creationId xmlns:a16="http://schemas.microsoft.com/office/drawing/2014/main" id="{9AE17939-0418-CDDD-FFF3-7A78325C74BA}"/>
                </a:ext>
              </a:extLst>
            </p:cNvPr>
            <p:cNvGrpSpPr/>
            <p:nvPr/>
          </p:nvGrpSpPr>
          <p:grpSpPr>
            <a:xfrm>
              <a:off x="9601399" y="3661422"/>
              <a:ext cx="1920240" cy="2651760"/>
              <a:chOff x="9250680" y="2191512"/>
              <a:chExt cx="2941320" cy="3685032"/>
            </a:xfrm>
          </p:grpSpPr>
          <p:sp>
            <p:nvSpPr>
              <p:cNvPr id="10" name="Rectangle 9">
                <a:extLst>
                  <a:ext uri="{FF2B5EF4-FFF2-40B4-BE49-F238E27FC236}">
                    <a16:creationId xmlns:a16="http://schemas.microsoft.com/office/drawing/2014/main" id="{009150DF-C704-5CB4-50CB-0E2A662A1D27}"/>
                  </a:ext>
                </a:extLst>
              </p:cNvPr>
              <p:cNvSpPr/>
              <p:nvPr/>
            </p:nvSpPr>
            <p:spPr>
              <a:xfrm>
                <a:off x="9634728" y="2191512"/>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Freeform: Shape 10">
                <a:extLst>
                  <a:ext uri="{FF2B5EF4-FFF2-40B4-BE49-F238E27FC236}">
                    <a16:creationId xmlns:a16="http://schemas.microsoft.com/office/drawing/2014/main" id="{FB998D10-FCF9-1D1F-983B-E8197C1D2101}"/>
                  </a:ext>
                </a:extLst>
              </p:cNvPr>
              <p:cNvSpPr/>
              <p:nvPr/>
            </p:nvSpPr>
            <p:spPr>
              <a:xfrm rot="10800000" flipV="1">
                <a:off x="9250680" y="2785872"/>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extBox 22">
              <a:extLst>
                <a:ext uri="{FF2B5EF4-FFF2-40B4-BE49-F238E27FC236}">
                  <a16:creationId xmlns:a16="http://schemas.microsoft.com/office/drawing/2014/main" id="{BC9D3856-9ECC-D359-1828-DC7D284D0EB6}"/>
                </a:ext>
              </a:extLst>
            </p:cNvPr>
            <p:cNvSpPr txBox="1"/>
            <p:nvPr/>
          </p:nvSpPr>
          <p:spPr>
            <a:xfrm>
              <a:off x="9756648" y="4739701"/>
              <a:ext cx="1686181" cy="1494498"/>
            </a:xfrm>
            <a:prstGeom prst="rect">
              <a:avLst/>
            </a:prstGeom>
            <a:noFill/>
          </p:spPr>
          <p:txBody>
            <a:bodyPr wrap="square" rtlCol="0">
              <a:spAutoFit/>
            </a:bodyPr>
            <a:lstStyle/>
            <a:p>
              <a:pPr algn="ctr"/>
              <a:r>
                <a:rPr lang="en-US" b="1" dirty="0"/>
                <a:t>- Defect Rete </a:t>
              </a:r>
            </a:p>
            <a:p>
              <a:pPr algn="ctr"/>
              <a:r>
                <a:rPr lang="en-US" b="1" dirty="0"/>
                <a:t>- Inspection Results </a:t>
              </a:r>
            </a:p>
          </p:txBody>
        </p:sp>
        <p:pic>
          <p:nvPicPr>
            <p:cNvPr id="26" name="Graphic 25" descr="Filter with solid fill">
              <a:extLst>
                <a:ext uri="{FF2B5EF4-FFF2-40B4-BE49-F238E27FC236}">
                  <a16:creationId xmlns:a16="http://schemas.microsoft.com/office/drawing/2014/main" id="{A105F587-B7C4-0C2A-14B2-293D6E2FE4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74835" y="3918711"/>
              <a:ext cx="681095" cy="681095"/>
            </a:xfrm>
            <a:prstGeom prst="rect">
              <a:avLst/>
            </a:prstGeom>
          </p:spPr>
        </p:pic>
      </p:grpSp>
      <p:grpSp>
        <p:nvGrpSpPr>
          <p:cNvPr id="27" name="Group 26">
            <a:extLst>
              <a:ext uri="{FF2B5EF4-FFF2-40B4-BE49-F238E27FC236}">
                <a16:creationId xmlns:a16="http://schemas.microsoft.com/office/drawing/2014/main" id="{3BD69D47-CA7B-D539-8EA0-6B8B8706DD48}"/>
              </a:ext>
            </a:extLst>
          </p:cNvPr>
          <p:cNvGrpSpPr/>
          <p:nvPr/>
        </p:nvGrpSpPr>
        <p:grpSpPr>
          <a:xfrm>
            <a:off x="7416812" y="4732298"/>
            <a:ext cx="2373467" cy="1700021"/>
            <a:chOff x="7101879" y="3723133"/>
            <a:chExt cx="2234871" cy="2651760"/>
          </a:xfrm>
        </p:grpSpPr>
        <p:grpSp>
          <p:nvGrpSpPr>
            <p:cNvPr id="17" name="Group 16">
              <a:extLst>
                <a:ext uri="{FF2B5EF4-FFF2-40B4-BE49-F238E27FC236}">
                  <a16:creationId xmlns:a16="http://schemas.microsoft.com/office/drawing/2014/main" id="{BAD1594E-9692-B725-9622-E44F9127EF87}"/>
                </a:ext>
              </a:extLst>
            </p:cNvPr>
            <p:cNvGrpSpPr/>
            <p:nvPr/>
          </p:nvGrpSpPr>
          <p:grpSpPr>
            <a:xfrm>
              <a:off x="7212205" y="3723133"/>
              <a:ext cx="2124545" cy="2651760"/>
              <a:chOff x="6870192" y="2191512"/>
              <a:chExt cx="2941320" cy="3685032"/>
            </a:xfrm>
          </p:grpSpPr>
          <p:sp>
            <p:nvSpPr>
              <p:cNvPr id="8" name="Rectangle 7">
                <a:extLst>
                  <a:ext uri="{FF2B5EF4-FFF2-40B4-BE49-F238E27FC236}">
                    <a16:creationId xmlns:a16="http://schemas.microsoft.com/office/drawing/2014/main" id="{900A89DC-0228-B79F-B859-20B6618D8552}"/>
                  </a:ext>
                </a:extLst>
              </p:cNvPr>
              <p:cNvSpPr/>
              <p:nvPr/>
            </p:nvSpPr>
            <p:spPr>
              <a:xfrm>
                <a:off x="7254240" y="2191512"/>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Freeform: Shape 8">
                <a:extLst>
                  <a:ext uri="{FF2B5EF4-FFF2-40B4-BE49-F238E27FC236}">
                    <a16:creationId xmlns:a16="http://schemas.microsoft.com/office/drawing/2014/main" id="{1159DEE3-9D7D-524C-2DD5-AE4B8B9F17C6}"/>
                  </a:ext>
                </a:extLst>
              </p:cNvPr>
              <p:cNvSpPr/>
              <p:nvPr/>
            </p:nvSpPr>
            <p:spPr>
              <a:xfrm rot="10800000" flipV="1">
                <a:off x="6870192" y="2785872"/>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TextBox 21">
              <a:extLst>
                <a:ext uri="{FF2B5EF4-FFF2-40B4-BE49-F238E27FC236}">
                  <a16:creationId xmlns:a16="http://schemas.microsoft.com/office/drawing/2014/main" id="{82B27CB2-E6EB-2A41-76BB-6E0091BFDE9A}"/>
                </a:ext>
              </a:extLst>
            </p:cNvPr>
            <p:cNvSpPr txBox="1"/>
            <p:nvPr/>
          </p:nvSpPr>
          <p:spPr>
            <a:xfrm>
              <a:off x="7101879" y="4631686"/>
              <a:ext cx="2217770" cy="1717541"/>
            </a:xfrm>
            <a:prstGeom prst="rect">
              <a:avLst/>
            </a:prstGeom>
            <a:noFill/>
          </p:spPr>
          <p:txBody>
            <a:bodyPr wrap="square" rtlCol="0">
              <a:spAutoFit/>
            </a:bodyPr>
            <a:lstStyle/>
            <a:p>
              <a:pPr algn="ctr"/>
              <a:r>
                <a:rPr lang="en-US" b="1" dirty="0"/>
                <a:t> - Transportation Modes </a:t>
              </a:r>
            </a:p>
            <a:p>
              <a:pPr algn="ctr"/>
              <a:r>
                <a:rPr lang="en-US" b="1" dirty="0"/>
                <a:t>- Routs </a:t>
              </a:r>
            </a:p>
            <a:p>
              <a:pPr algn="ctr"/>
              <a:endParaRPr lang="en-US" b="1" dirty="0"/>
            </a:p>
          </p:txBody>
        </p:sp>
        <p:pic>
          <p:nvPicPr>
            <p:cNvPr id="28" name="Graphic 27" descr="Train Tracks with solid fill">
              <a:extLst>
                <a:ext uri="{FF2B5EF4-FFF2-40B4-BE49-F238E27FC236}">
                  <a16:creationId xmlns:a16="http://schemas.microsoft.com/office/drawing/2014/main" id="{97F646A2-779F-4B61-F591-11B7C5047B5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37919" y="3839072"/>
              <a:ext cx="745689" cy="745689"/>
            </a:xfrm>
            <a:prstGeom prst="rect">
              <a:avLst/>
            </a:prstGeom>
          </p:spPr>
        </p:pic>
      </p:grpSp>
      <p:grpSp>
        <p:nvGrpSpPr>
          <p:cNvPr id="4" name="Group 3">
            <a:extLst>
              <a:ext uri="{FF2B5EF4-FFF2-40B4-BE49-F238E27FC236}">
                <a16:creationId xmlns:a16="http://schemas.microsoft.com/office/drawing/2014/main" id="{1FE0368B-C6AF-81D4-44E3-623EC7265BB3}"/>
              </a:ext>
            </a:extLst>
          </p:cNvPr>
          <p:cNvGrpSpPr/>
          <p:nvPr/>
        </p:nvGrpSpPr>
        <p:grpSpPr>
          <a:xfrm>
            <a:off x="4535236" y="1630016"/>
            <a:ext cx="2881576" cy="5068401"/>
            <a:chOff x="4974048" y="3587425"/>
            <a:chExt cx="1920240" cy="2935825"/>
          </a:xfrm>
        </p:grpSpPr>
        <p:grpSp>
          <p:nvGrpSpPr>
            <p:cNvPr id="14" name="Group 13">
              <a:extLst>
                <a:ext uri="{FF2B5EF4-FFF2-40B4-BE49-F238E27FC236}">
                  <a16:creationId xmlns:a16="http://schemas.microsoft.com/office/drawing/2014/main" id="{058077EE-ECFD-508E-A9CA-73E8339BD00B}"/>
                </a:ext>
              </a:extLst>
            </p:cNvPr>
            <p:cNvGrpSpPr/>
            <p:nvPr/>
          </p:nvGrpSpPr>
          <p:grpSpPr>
            <a:xfrm>
              <a:off x="4974048" y="3587425"/>
              <a:ext cx="1920240" cy="2816007"/>
              <a:chOff x="2252471" y="-176432"/>
              <a:chExt cx="2941320" cy="3913279"/>
            </a:xfrm>
          </p:grpSpPr>
          <p:sp>
            <p:nvSpPr>
              <p:cNvPr id="12" name="Rectangle 11">
                <a:extLst>
                  <a:ext uri="{FF2B5EF4-FFF2-40B4-BE49-F238E27FC236}">
                    <a16:creationId xmlns:a16="http://schemas.microsoft.com/office/drawing/2014/main" id="{93112E14-F833-AECB-0F06-ED3F3B06A068}"/>
                  </a:ext>
                </a:extLst>
              </p:cNvPr>
              <p:cNvSpPr/>
              <p:nvPr/>
            </p:nvSpPr>
            <p:spPr>
              <a:xfrm>
                <a:off x="2636519" y="-176432"/>
                <a:ext cx="2185416" cy="356580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Freeform: Shape 12">
                <a:extLst>
                  <a:ext uri="{FF2B5EF4-FFF2-40B4-BE49-F238E27FC236}">
                    <a16:creationId xmlns:a16="http://schemas.microsoft.com/office/drawing/2014/main" id="{11924012-9A6F-E1BD-D917-EAB67A248A08}"/>
                  </a:ext>
                </a:extLst>
              </p:cNvPr>
              <p:cNvSpPr/>
              <p:nvPr/>
            </p:nvSpPr>
            <p:spPr>
              <a:xfrm rot="10800000" flipV="1">
                <a:off x="2252471" y="2182913"/>
                <a:ext cx="2941320" cy="1553934"/>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1" name="TextBox 20">
              <a:extLst>
                <a:ext uri="{FF2B5EF4-FFF2-40B4-BE49-F238E27FC236}">
                  <a16:creationId xmlns:a16="http://schemas.microsoft.com/office/drawing/2014/main" id="{4EFABFA9-C2F5-6768-3AB9-9107A51F9348}"/>
                </a:ext>
              </a:extLst>
            </p:cNvPr>
            <p:cNvSpPr txBox="1"/>
            <p:nvPr/>
          </p:nvSpPr>
          <p:spPr>
            <a:xfrm>
              <a:off x="5062900" y="5692253"/>
              <a:ext cx="1614703" cy="830997"/>
            </a:xfrm>
            <a:prstGeom prst="rect">
              <a:avLst/>
            </a:prstGeom>
            <a:noFill/>
          </p:spPr>
          <p:txBody>
            <a:bodyPr wrap="square" rtlCol="0">
              <a:spAutoFit/>
            </a:bodyPr>
            <a:lstStyle/>
            <a:p>
              <a:pPr algn="ctr"/>
              <a:r>
                <a:rPr lang="en-US" sz="2400" b="1" dirty="0"/>
                <a:t>Suppliers</a:t>
              </a:r>
            </a:p>
            <a:p>
              <a:pPr algn="ctr"/>
              <a:r>
                <a:rPr lang="en-US" sz="2400" b="1" dirty="0"/>
                <a:t>Carriers  </a:t>
              </a:r>
            </a:p>
          </p:txBody>
        </p:sp>
        <p:pic>
          <p:nvPicPr>
            <p:cNvPr id="29" name="Graphic 28" descr="Bus with solid fill">
              <a:extLst>
                <a:ext uri="{FF2B5EF4-FFF2-40B4-BE49-F238E27FC236}">
                  <a16:creationId xmlns:a16="http://schemas.microsoft.com/office/drawing/2014/main" id="{C504E2D6-A8EB-E79A-F454-E31EBB1F444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00986" y="3604231"/>
              <a:ext cx="666362" cy="381830"/>
            </a:xfrm>
            <a:prstGeom prst="rect">
              <a:avLst/>
            </a:prstGeom>
          </p:spPr>
        </p:pic>
      </p:grpSp>
      <p:sp>
        <p:nvSpPr>
          <p:cNvPr id="30" name="TextBox 29">
            <a:extLst>
              <a:ext uri="{FF2B5EF4-FFF2-40B4-BE49-F238E27FC236}">
                <a16:creationId xmlns:a16="http://schemas.microsoft.com/office/drawing/2014/main" id="{520E5341-2A8A-E938-EDDB-EB91A1171A4F}"/>
              </a:ext>
            </a:extLst>
          </p:cNvPr>
          <p:cNvSpPr txBox="1"/>
          <p:nvPr/>
        </p:nvSpPr>
        <p:spPr>
          <a:xfrm>
            <a:off x="178489" y="841431"/>
            <a:ext cx="6473033"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normalizeH="0" baseline="0" noProof="0" dirty="0">
                <a:ln w="22225">
                  <a:solidFill>
                    <a:schemeClr val="accent2"/>
                  </a:solidFill>
                  <a:prstDash val="solid"/>
                </a:ln>
                <a:solidFill>
                  <a:schemeClr val="accent2">
                    <a:lumMod val="40000"/>
                    <a:lumOff val="60000"/>
                  </a:schemeClr>
                </a:solidFill>
                <a:uLnTx/>
                <a:uFillTx/>
                <a:latin typeface="Arial"/>
                <a:ea typeface="+mn-ea"/>
                <a:cs typeface="+mn-cs"/>
              </a:rPr>
              <a:t>2- Dataset Description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FFFFFF"/>
              </a:solidFill>
              <a:effectLst/>
              <a:uLnTx/>
              <a:uFillTx/>
              <a:latin typeface="Arial"/>
              <a:ea typeface="+mn-ea"/>
              <a:cs typeface="+mn-cs"/>
            </a:endParaRPr>
          </a:p>
        </p:txBody>
      </p:sp>
      <p:sp>
        <p:nvSpPr>
          <p:cNvPr id="33" name="TextBox 32">
            <a:extLst>
              <a:ext uri="{FF2B5EF4-FFF2-40B4-BE49-F238E27FC236}">
                <a16:creationId xmlns:a16="http://schemas.microsoft.com/office/drawing/2014/main" id="{4B4A60B4-4959-29B5-11CC-F44658C93E08}"/>
              </a:ext>
            </a:extLst>
          </p:cNvPr>
          <p:cNvSpPr txBox="1"/>
          <p:nvPr/>
        </p:nvSpPr>
        <p:spPr>
          <a:xfrm>
            <a:off x="5035523" y="2246322"/>
            <a:ext cx="1615999" cy="2123658"/>
          </a:xfrm>
          <a:prstGeom prst="rect">
            <a:avLst/>
          </a:prstGeom>
          <a:noFill/>
        </p:spPr>
        <p:txBody>
          <a:bodyPr wrap="square" rtlCol="0">
            <a:spAutoFit/>
          </a:bodyPr>
          <a:lstStyle/>
          <a:p>
            <a:r>
              <a:rPr lang="en-US" sz="2000" b="1" dirty="0">
                <a:solidFill>
                  <a:srgbClr val="002060"/>
                </a:solidFill>
              </a:rPr>
              <a:t>5 suppliers</a:t>
            </a:r>
            <a:r>
              <a:rPr lang="ar-EG" sz="2000" b="1" dirty="0">
                <a:solidFill>
                  <a:srgbClr val="002060"/>
                </a:solidFill>
              </a:rPr>
              <a:t>:</a:t>
            </a:r>
          </a:p>
          <a:p>
            <a:r>
              <a:rPr lang="en-US" sz="1600" b="1" dirty="0">
                <a:solidFill>
                  <a:srgbClr val="002060"/>
                </a:solidFill>
              </a:rPr>
              <a:t>Supplier 1</a:t>
            </a:r>
          </a:p>
          <a:p>
            <a:r>
              <a:rPr lang="en-US" sz="1600" b="1" dirty="0">
                <a:solidFill>
                  <a:srgbClr val="002060"/>
                </a:solidFill>
              </a:rPr>
              <a:t>Supplier 2</a:t>
            </a:r>
          </a:p>
          <a:p>
            <a:r>
              <a:rPr lang="en-US" sz="1600" b="1" dirty="0">
                <a:solidFill>
                  <a:srgbClr val="002060"/>
                </a:solidFill>
              </a:rPr>
              <a:t>Supplier 3</a:t>
            </a:r>
          </a:p>
          <a:p>
            <a:r>
              <a:rPr lang="en-US" sz="1600" b="1" dirty="0">
                <a:solidFill>
                  <a:srgbClr val="002060"/>
                </a:solidFill>
              </a:rPr>
              <a:t>Supplier 4</a:t>
            </a:r>
          </a:p>
          <a:p>
            <a:r>
              <a:rPr lang="en-US" sz="1600" b="1" dirty="0">
                <a:solidFill>
                  <a:srgbClr val="002060"/>
                </a:solidFill>
              </a:rPr>
              <a:t>Supplier 5</a:t>
            </a:r>
          </a:p>
          <a:p>
            <a:endParaRPr lang="en-US" sz="1600" b="1" dirty="0">
              <a:solidFill>
                <a:srgbClr val="002060"/>
              </a:solidFill>
            </a:endParaRPr>
          </a:p>
          <a:p>
            <a:endParaRPr lang="en-US" sz="1600" b="1" dirty="0">
              <a:solidFill>
                <a:srgbClr val="002060"/>
              </a:solidFill>
            </a:endParaRPr>
          </a:p>
        </p:txBody>
      </p:sp>
      <p:sp>
        <p:nvSpPr>
          <p:cNvPr id="34" name="TextBox 33">
            <a:extLst>
              <a:ext uri="{FF2B5EF4-FFF2-40B4-BE49-F238E27FC236}">
                <a16:creationId xmlns:a16="http://schemas.microsoft.com/office/drawing/2014/main" id="{A91F2709-F036-F12B-1F95-8F3BD2433707}"/>
              </a:ext>
            </a:extLst>
          </p:cNvPr>
          <p:cNvSpPr txBox="1"/>
          <p:nvPr/>
        </p:nvSpPr>
        <p:spPr>
          <a:xfrm>
            <a:off x="5217241" y="3850604"/>
            <a:ext cx="1755648" cy="707886"/>
          </a:xfrm>
          <a:prstGeom prst="rect">
            <a:avLst/>
          </a:prstGeom>
          <a:noFill/>
        </p:spPr>
        <p:txBody>
          <a:bodyPr wrap="square" rtlCol="0">
            <a:spAutoFit/>
          </a:bodyPr>
          <a:lstStyle/>
          <a:p>
            <a:r>
              <a:rPr lang="en-US" sz="2000" b="1" dirty="0">
                <a:solidFill>
                  <a:srgbClr val="002060"/>
                </a:solidFill>
              </a:rPr>
              <a:t>3 carriers </a:t>
            </a:r>
          </a:p>
          <a:p>
            <a:r>
              <a:rPr lang="en-US" sz="2000" b="1" dirty="0">
                <a:solidFill>
                  <a:srgbClr val="002060"/>
                </a:solidFill>
              </a:rPr>
              <a:t>A  -  B  -  C </a:t>
            </a:r>
          </a:p>
        </p:txBody>
      </p:sp>
      <p:grpSp>
        <p:nvGrpSpPr>
          <p:cNvPr id="37" name="Group 36">
            <a:extLst>
              <a:ext uri="{FF2B5EF4-FFF2-40B4-BE49-F238E27FC236}">
                <a16:creationId xmlns:a16="http://schemas.microsoft.com/office/drawing/2014/main" id="{60812934-99B9-C76A-4A38-047E2663652B}"/>
              </a:ext>
            </a:extLst>
          </p:cNvPr>
          <p:cNvGrpSpPr/>
          <p:nvPr/>
        </p:nvGrpSpPr>
        <p:grpSpPr>
          <a:xfrm>
            <a:off x="2039112" y="2122447"/>
            <a:ext cx="2541169" cy="2137128"/>
            <a:chOff x="2039112" y="2122447"/>
            <a:chExt cx="2541169" cy="2137128"/>
          </a:xfrm>
        </p:grpSpPr>
        <p:sp>
          <p:nvSpPr>
            <p:cNvPr id="35" name="Rectangle: Rounded Corners 34">
              <a:extLst>
                <a:ext uri="{FF2B5EF4-FFF2-40B4-BE49-F238E27FC236}">
                  <a16:creationId xmlns:a16="http://schemas.microsoft.com/office/drawing/2014/main" id="{72B52882-21D9-CD15-4455-A70CCA6C9EB9}"/>
                </a:ext>
              </a:extLst>
            </p:cNvPr>
            <p:cNvSpPr/>
            <p:nvPr/>
          </p:nvSpPr>
          <p:spPr>
            <a:xfrm>
              <a:off x="2039112" y="2122447"/>
              <a:ext cx="2541169" cy="1956367"/>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a:t>
              </a:r>
            </a:p>
            <a:p>
              <a:pPr algn="ctr"/>
              <a:endParaRPr lang="en-US" dirty="0"/>
            </a:p>
            <a:p>
              <a:pPr algn="ctr"/>
              <a:endParaRPr lang="en-US" dirty="0"/>
            </a:p>
            <a:p>
              <a:pPr algn="ctr"/>
              <a:endParaRPr lang="en-US" dirty="0"/>
            </a:p>
            <a:p>
              <a:pPr algn="ctr"/>
              <a:endParaRPr lang="en-US" dirty="0"/>
            </a:p>
          </p:txBody>
        </p:sp>
        <p:sp>
          <p:nvSpPr>
            <p:cNvPr id="36" name="TextBox 35">
              <a:extLst>
                <a:ext uri="{FF2B5EF4-FFF2-40B4-BE49-F238E27FC236}">
                  <a16:creationId xmlns:a16="http://schemas.microsoft.com/office/drawing/2014/main" id="{9EAE45FC-3CFA-D1EA-887E-A05F78FA65D8}"/>
                </a:ext>
              </a:extLst>
            </p:cNvPr>
            <p:cNvSpPr txBox="1"/>
            <p:nvPr/>
          </p:nvSpPr>
          <p:spPr>
            <a:xfrm>
              <a:off x="2372188" y="2228250"/>
              <a:ext cx="1875015" cy="2031325"/>
            </a:xfrm>
            <a:prstGeom prst="rect">
              <a:avLst/>
            </a:prstGeom>
            <a:noFill/>
          </p:spPr>
          <p:txBody>
            <a:bodyPr wrap="square" rtlCol="0">
              <a:spAutoFit/>
            </a:bodyPr>
            <a:lstStyle/>
            <a:p>
              <a:pPr algn="ctr"/>
              <a:r>
                <a:rPr lang="en-US" b="1" dirty="0">
                  <a:solidFill>
                    <a:srgbClr val="002060"/>
                  </a:solidFill>
                </a:rPr>
                <a:t>Cites:</a:t>
              </a:r>
            </a:p>
            <a:p>
              <a:pPr algn="ctr"/>
              <a:r>
                <a:rPr lang="en-US" dirty="0">
                  <a:solidFill>
                    <a:srgbClr val="002060"/>
                  </a:solidFill>
                </a:rPr>
                <a:t>Mumbai </a:t>
              </a:r>
              <a:r>
                <a:rPr lang="en-US" b="1" dirty="0">
                  <a:solidFill>
                    <a:srgbClr val="002060"/>
                  </a:solidFill>
                </a:rPr>
                <a:t>22</a:t>
              </a:r>
            </a:p>
            <a:p>
              <a:pPr algn="ctr"/>
              <a:r>
                <a:rPr lang="en-US" dirty="0">
                  <a:solidFill>
                    <a:srgbClr val="002060"/>
                  </a:solidFill>
                </a:rPr>
                <a:t>Kolkata </a:t>
              </a:r>
              <a:r>
                <a:rPr lang="en-US" b="1" dirty="0">
                  <a:solidFill>
                    <a:srgbClr val="002060"/>
                  </a:solidFill>
                </a:rPr>
                <a:t>25</a:t>
              </a:r>
            </a:p>
            <a:p>
              <a:pPr algn="ctr"/>
              <a:r>
                <a:rPr lang="en-US" dirty="0">
                  <a:solidFill>
                    <a:srgbClr val="002060"/>
                  </a:solidFill>
                </a:rPr>
                <a:t>Delhi </a:t>
              </a:r>
              <a:r>
                <a:rPr lang="en-US" b="1" dirty="0">
                  <a:solidFill>
                    <a:srgbClr val="002060"/>
                  </a:solidFill>
                </a:rPr>
                <a:t>15</a:t>
              </a:r>
            </a:p>
            <a:p>
              <a:pPr algn="ctr"/>
              <a:r>
                <a:rPr lang="en-US" dirty="0">
                  <a:solidFill>
                    <a:srgbClr val="002060"/>
                  </a:solidFill>
                </a:rPr>
                <a:t>Bangalore </a:t>
              </a:r>
              <a:r>
                <a:rPr lang="en-US" b="1" dirty="0">
                  <a:solidFill>
                    <a:srgbClr val="002060"/>
                  </a:solidFill>
                </a:rPr>
                <a:t>18</a:t>
              </a:r>
            </a:p>
            <a:p>
              <a:pPr algn="ctr"/>
              <a:r>
                <a:rPr lang="en-US" dirty="0">
                  <a:solidFill>
                    <a:srgbClr val="002060"/>
                  </a:solidFill>
                </a:rPr>
                <a:t>Chenni </a:t>
              </a:r>
              <a:r>
                <a:rPr lang="en-US" b="1" dirty="0">
                  <a:solidFill>
                    <a:srgbClr val="002060"/>
                  </a:solidFill>
                </a:rPr>
                <a:t>20  </a:t>
              </a:r>
            </a:p>
            <a:p>
              <a:endParaRPr lang="en-US" dirty="0">
                <a:solidFill>
                  <a:srgbClr val="002060"/>
                </a:solidFill>
              </a:endParaRPr>
            </a:p>
          </p:txBody>
        </p:sp>
      </p:grpSp>
    </p:spTree>
    <p:extLst>
      <p:ext uri="{BB962C8B-B14F-4D97-AF65-F5344CB8AC3E}">
        <p14:creationId xmlns:p14="http://schemas.microsoft.com/office/powerpoint/2010/main" val="1170555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inVertic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30412-0D25-6F7D-0569-1266FB0BFB2B}"/>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0EF413FE-F257-1E1C-EC31-722AB6D979FF}"/>
              </a:ext>
            </a:extLst>
          </p:cNvPr>
          <p:cNvGrpSpPr/>
          <p:nvPr/>
        </p:nvGrpSpPr>
        <p:grpSpPr>
          <a:xfrm>
            <a:off x="458250" y="4370186"/>
            <a:ext cx="1885754" cy="2062134"/>
            <a:chOff x="458249" y="2489758"/>
            <a:chExt cx="1610719" cy="3421646"/>
          </a:xfrm>
        </p:grpSpPr>
        <p:sp>
          <p:nvSpPr>
            <p:cNvPr id="2" name="Rectangle 1">
              <a:extLst>
                <a:ext uri="{FF2B5EF4-FFF2-40B4-BE49-F238E27FC236}">
                  <a16:creationId xmlns:a16="http://schemas.microsoft.com/office/drawing/2014/main" id="{69C462B1-ED08-6691-7678-4D3A4C70B478}"/>
                </a:ext>
              </a:extLst>
            </p:cNvPr>
            <p:cNvSpPr/>
            <p:nvPr/>
          </p:nvSpPr>
          <p:spPr>
            <a:xfrm>
              <a:off x="708977" y="2489758"/>
              <a:ext cx="1196200" cy="317145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Freeform: Shape 4">
              <a:extLst>
                <a:ext uri="{FF2B5EF4-FFF2-40B4-BE49-F238E27FC236}">
                  <a16:creationId xmlns:a16="http://schemas.microsoft.com/office/drawing/2014/main" id="{6704E7DD-C7E6-C44D-F330-01122D1767E9}"/>
                </a:ext>
              </a:extLst>
            </p:cNvPr>
            <p:cNvSpPr/>
            <p:nvPr/>
          </p:nvSpPr>
          <p:spPr>
            <a:xfrm rot="10800000" flipV="1">
              <a:off x="458249" y="3686067"/>
              <a:ext cx="1610719" cy="2225337"/>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9" name="TextBox 18">
            <a:extLst>
              <a:ext uri="{FF2B5EF4-FFF2-40B4-BE49-F238E27FC236}">
                <a16:creationId xmlns:a16="http://schemas.microsoft.com/office/drawing/2014/main" id="{8DC2B3AF-F152-7F87-7CB2-53496E619CCA}"/>
              </a:ext>
            </a:extLst>
          </p:cNvPr>
          <p:cNvSpPr txBox="1"/>
          <p:nvPr/>
        </p:nvSpPr>
        <p:spPr>
          <a:xfrm>
            <a:off x="569430" y="5457623"/>
            <a:ext cx="1614703" cy="830997"/>
          </a:xfrm>
          <a:prstGeom prst="rect">
            <a:avLst/>
          </a:prstGeom>
          <a:noFill/>
        </p:spPr>
        <p:txBody>
          <a:bodyPr wrap="square" rtlCol="0">
            <a:spAutoFit/>
          </a:bodyPr>
          <a:lstStyle/>
          <a:p>
            <a:pPr algn="ctr"/>
            <a:r>
              <a:rPr lang="en-US" sz="2400" b="1" dirty="0"/>
              <a:t>Products Types </a:t>
            </a:r>
          </a:p>
        </p:txBody>
      </p:sp>
      <p:grpSp>
        <p:nvGrpSpPr>
          <p:cNvPr id="3" name="Group 2">
            <a:extLst>
              <a:ext uri="{FF2B5EF4-FFF2-40B4-BE49-F238E27FC236}">
                <a16:creationId xmlns:a16="http://schemas.microsoft.com/office/drawing/2014/main" id="{94E5FB85-67AE-048F-5F94-3D32B82BB164}"/>
              </a:ext>
            </a:extLst>
          </p:cNvPr>
          <p:cNvGrpSpPr/>
          <p:nvPr/>
        </p:nvGrpSpPr>
        <p:grpSpPr>
          <a:xfrm>
            <a:off x="2412859" y="4369980"/>
            <a:ext cx="2061405" cy="2328438"/>
            <a:chOff x="2669412" y="5294674"/>
            <a:chExt cx="1920240" cy="1285100"/>
          </a:xfrm>
        </p:grpSpPr>
        <p:grpSp>
          <p:nvGrpSpPr>
            <p:cNvPr id="16" name="Group 15">
              <a:extLst>
                <a:ext uri="{FF2B5EF4-FFF2-40B4-BE49-F238E27FC236}">
                  <a16:creationId xmlns:a16="http://schemas.microsoft.com/office/drawing/2014/main" id="{66786EE9-3862-6588-9387-08FB70BF9259}"/>
                </a:ext>
              </a:extLst>
            </p:cNvPr>
            <p:cNvGrpSpPr/>
            <p:nvPr/>
          </p:nvGrpSpPr>
          <p:grpSpPr>
            <a:xfrm>
              <a:off x="2669412" y="5294674"/>
              <a:ext cx="1920240" cy="1138235"/>
              <a:chOff x="3791712" y="4321398"/>
              <a:chExt cx="2941320" cy="1628298"/>
            </a:xfrm>
          </p:grpSpPr>
          <p:sp>
            <p:nvSpPr>
              <p:cNvPr id="6" name="Rectangle 5">
                <a:extLst>
                  <a:ext uri="{FF2B5EF4-FFF2-40B4-BE49-F238E27FC236}">
                    <a16:creationId xmlns:a16="http://schemas.microsoft.com/office/drawing/2014/main" id="{76443A8F-D5A4-6E5C-0368-52C59351CE6C}"/>
                  </a:ext>
                </a:extLst>
              </p:cNvPr>
              <p:cNvSpPr/>
              <p:nvPr/>
            </p:nvSpPr>
            <p:spPr>
              <a:xfrm>
                <a:off x="4175760" y="4321398"/>
                <a:ext cx="2185416" cy="128082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Freeform: Shape 6">
                <a:extLst>
                  <a:ext uri="{FF2B5EF4-FFF2-40B4-BE49-F238E27FC236}">
                    <a16:creationId xmlns:a16="http://schemas.microsoft.com/office/drawing/2014/main" id="{43C5AC29-B223-024B-345E-B59FA5F5F5C7}"/>
                  </a:ext>
                </a:extLst>
              </p:cNvPr>
              <p:cNvSpPr/>
              <p:nvPr/>
            </p:nvSpPr>
            <p:spPr>
              <a:xfrm rot="10800000" flipV="1">
                <a:off x="3791712" y="4697450"/>
                <a:ext cx="2941320" cy="1252246"/>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TextBox 19">
              <a:extLst>
                <a:ext uri="{FF2B5EF4-FFF2-40B4-BE49-F238E27FC236}">
                  <a16:creationId xmlns:a16="http://schemas.microsoft.com/office/drawing/2014/main" id="{C4D18EF8-77C5-F13F-24D1-ABCED071AD2E}"/>
                </a:ext>
              </a:extLst>
            </p:cNvPr>
            <p:cNvSpPr txBox="1"/>
            <p:nvPr/>
          </p:nvSpPr>
          <p:spPr>
            <a:xfrm>
              <a:off x="2763288" y="5919539"/>
              <a:ext cx="1614703" cy="660235"/>
            </a:xfrm>
            <a:prstGeom prst="rect">
              <a:avLst/>
            </a:prstGeom>
            <a:noFill/>
          </p:spPr>
          <p:txBody>
            <a:bodyPr wrap="square" rtlCol="0">
              <a:spAutoFit/>
            </a:bodyPr>
            <a:lstStyle/>
            <a:p>
              <a:pPr algn="ctr"/>
              <a:r>
                <a:rPr lang="en-US" sz="2400" b="1" dirty="0"/>
                <a:t>Orders</a:t>
              </a:r>
            </a:p>
          </p:txBody>
        </p:sp>
        <p:pic>
          <p:nvPicPr>
            <p:cNvPr id="24" name="Graphic 23" descr="Shopping cart with solid fill">
              <a:extLst>
                <a:ext uri="{FF2B5EF4-FFF2-40B4-BE49-F238E27FC236}">
                  <a16:creationId xmlns:a16="http://schemas.microsoft.com/office/drawing/2014/main" id="{5ABE7C5D-84CE-600F-D377-AD23A1C634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64930" y="5410683"/>
              <a:ext cx="611419" cy="337279"/>
            </a:xfrm>
            <a:prstGeom prst="rect">
              <a:avLst/>
            </a:prstGeom>
          </p:spPr>
        </p:pic>
      </p:grpSp>
      <p:pic>
        <p:nvPicPr>
          <p:cNvPr id="25" name="Graphic 24" descr="Wheelbarrow with solid fill">
            <a:extLst>
              <a:ext uri="{FF2B5EF4-FFF2-40B4-BE49-F238E27FC236}">
                <a16:creationId xmlns:a16="http://schemas.microsoft.com/office/drawing/2014/main" id="{104816FC-2A92-51D3-78B5-B9EA7FCBA59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6505" y="4625354"/>
            <a:ext cx="831686" cy="811026"/>
          </a:xfrm>
          <a:prstGeom prst="rect">
            <a:avLst/>
          </a:prstGeom>
        </p:spPr>
      </p:pic>
      <p:grpSp>
        <p:nvGrpSpPr>
          <p:cNvPr id="31" name="Group 30">
            <a:extLst>
              <a:ext uri="{FF2B5EF4-FFF2-40B4-BE49-F238E27FC236}">
                <a16:creationId xmlns:a16="http://schemas.microsoft.com/office/drawing/2014/main" id="{4148DBF1-1DA7-3764-A0DF-C0F0077E0C60}"/>
              </a:ext>
            </a:extLst>
          </p:cNvPr>
          <p:cNvGrpSpPr/>
          <p:nvPr/>
        </p:nvGrpSpPr>
        <p:grpSpPr>
          <a:xfrm>
            <a:off x="9915204" y="4736584"/>
            <a:ext cx="1913535" cy="1638309"/>
            <a:chOff x="9601399" y="3661422"/>
            <a:chExt cx="1920240" cy="2651760"/>
          </a:xfrm>
        </p:grpSpPr>
        <p:grpSp>
          <p:nvGrpSpPr>
            <p:cNvPr id="18" name="Group 17">
              <a:extLst>
                <a:ext uri="{FF2B5EF4-FFF2-40B4-BE49-F238E27FC236}">
                  <a16:creationId xmlns:a16="http://schemas.microsoft.com/office/drawing/2014/main" id="{066EAB9E-F742-B467-09FC-CF2AB9475373}"/>
                </a:ext>
              </a:extLst>
            </p:cNvPr>
            <p:cNvGrpSpPr/>
            <p:nvPr/>
          </p:nvGrpSpPr>
          <p:grpSpPr>
            <a:xfrm>
              <a:off x="9601399" y="3661422"/>
              <a:ext cx="1920240" cy="2651760"/>
              <a:chOff x="9250680" y="2191512"/>
              <a:chExt cx="2941320" cy="3685032"/>
            </a:xfrm>
          </p:grpSpPr>
          <p:sp>
            <p:nvSpPr>
              <p:cNvPr id="10" name="Rectangle 9">
                <a:extLst>
                  <a:ext uri="{FF2B5EF4-FFF2-40B4-BE49-F238E27FC236}">
                    <a16:creationId xmlns:a16="http://schemas.microsoft.com/office/drawing/2014/main" id="{4F7C96AB-0AF2-3012-914D-ABF0CBF49C0B}"/>
                  </a:ext>
                </a:extLst>
              </p:cNvPr>
              <p:cNvSpPr/>
              <p:nvPr/>
            </p:nvSpPr>
            <p:spPr>
              <a:xfrm>
                <a:off x="9634728" y="2191512"/>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Freeform: Shape 10">
                <a:extLst>
                  <a:ext uri="{FF2B5EF4-FFF2-40B4-BE49-F238E27FC236}">
                    <a16:creationId xmlns:a16="http://schemas.microsoft.com/office/drawing/2014/main" id="{E395E0E2-2023-B8DB-CA6B-0C52585EC62E}"/>
                  </a:ext>
                </a:extLst>
              </p:cNvPr>
              <p:cNvSpPr/>
              <p:nvPr/>
            </p:nvSpPr>
            <p:spPr>
              <a:xfrm rot="10800000" flipV="1">
                <a:off x="9250680" y="2785872"/>
                <a:ext cx="2941320" cy="30906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extBox 22">
              <a:extLst>
                <a:ext uri="{FF2B5EF4-FFF2-40B4-BE49-F238E27FC236}">
                  <a16:creationId xmlns:a16="http://schemas.microsoft.com/office/drawing/2014/main" id="{DE0D3F4F-3D17-F0E9-C626-CDE3AB2ED0AF}"/>
                </a:ext>
              </a:extLst>
            </p:cNvPr>
            <p:cNvSpPr txBox="1"/>
            <p:nvPr/>
          </p:nvSpPr>
          <p:spPr>
            <a:xfrm>
              <a:off x="9756648" y="4739701"/>
              <a:ext cx="1686181" cy="1494498"/>
            </a:xfrm>
            <a:prstGeom prst="rect">
              <a:avLst/>
            </a:prstGeom>
            <a:noFill/>
          </p:spPr>
          <p:txBody>
            <a:bodyPr wrap="square" rtlCol="0">
              <a:spAutoFit/>
            </a:bodyPr>
            <a:lstStyle/>
            <a:p>
              <a:pPr algn="ctr"/>
              <a:r>
                <a:rPr lang="en-US" b="1" dirty="0"/>
                <a:t>- Defect Rete </a:t>
              </a:r>
            </a:p>
            <a:p>
              <a:pPr algn="ctr"/>
              <a:r>
                <a:rPr lang="en-US" b="1" dirty="0"/>
                <a:t>- Inspection Results </a:t>
              </a:r>
            </a:p>
          </p:txBody>
        </p:sp>
        <p:pic>
          <p:nvPicPr>
            <p:cNvPr id="26" name="Graphic 25" descr="Filter with solid fill">
              <a:extLst>
                <a:ext uri="{FF2B5EF4-FFF2-40B4-BE49-F238E27FC236}">
                  <a16:creationId xmlns:a16="http://schemas.microsoft.com/office/drawing/2014/main" id="{E43997C1-5E77-99E6-34D0-F2DB63156A9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74835" y="3918711"/>
              <a:ext cx="681095" cy="681095"/>
            </a:xfrm>
            <a:prstGeom prst="rect">
              <a:avLst/>
            </a:prstGeom>
          </p:spPr>
        </p:pic>
      </p:grpSp>
      <p:grpSp>
        <p:nvGrpSpPr>
          <p:cNvPr id="27" name="Group 26">
            <a:extLst>
              <a:ext uri="{FF2B5EF4-FFF2-40B4-BE49-F238E27FC236}">
                <a16:creationId xmlns:a16="http://schemas.microsoft.com/office/drawing/2014/main" id="{CCF104A0-D5FF-1653-1C91-32C1218A5BB2}"/>
              </a:ext>
            </a:extLst>
          </p:cNvPr>
          <p:cNvGrpSpPr/>
          <p:nvPr/>
        </p:nvGrpSpPr>
        <p:grpSpPr>
          <a:xfrm>
            <a:off x="6851015" y="1020726"/>
            <a:ext cx="3001726" cy="7800691"/>
            <a:chOff x="7165128" y="3723133"/>
            <a:chExt cx="2217770" cy="3822453"/>
          </a:xfrm>
        </p:grpSpPr>
        <p:grpSp>
          <p:nvGrpSpPr>
            <p:cNvPr id="17" name="Group 16">
              <a:extLst>
                <a:ext uri="{FF2B5EF4-FFF2-40B4-BE49-F238E27FC236}">
                  <a16:creationId xmlns:a16="http://schemas.microsoft.com/office/drawing/2014/main" id="{BE0D34A4-8452-F2C5-A7A4-6C63D623AC12}"/>
                </a:ext>
              </a:extLst>
            </p:cNvPr>
            <p:cNvGrpSpPr/>
            <p:nvPr/>
          </p:nvGrpSpPr>
          <p:grpSpPr>
            <a:xfrm>
              <a:off x="7212204" y="3723133"/>
              <a:ext cx="2124545" cy="2651760"/>
              <a:chOff x="6870191" y="2191512"/>
              <a:chExt cx="2941320" cy="3685032"/>
            </a:xfrm>
          </p:grpSpPr>
          <p:sp>
            <p:nvSpPr>
              <p:cNvPr id="8" name="Rectangle 7">
                <a:extLst>
                  <a:ext uri="{FF2B5EF4-FFF2-40B4-BE49-F238E27FC236}">
                    <a16:creationId xmlns:a16="http://schemas.microsoft.com/office/drawing/2014/main" id="{2C105A59-23E3-BABC-3003-AB16C5C56A67}"/>
                  </a:ext>
                </a:extLst>
              </p:cNvPr>
              <p:cNvSpPr/>
              <p:nvPr/>
            </p:nvSpPr>
            <p:spPr>
              <a:xfrm>
                <a:off x="7254240" y="2191512"/>
                <a:ext cx="2185416" cy="33375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Freeform: Shape 8">
                <a:extLst>
                  <a:ext uri="{FF2B5EF4-FFF2-40B4-BE49-F238E27FC236}">
                    <a16:creationId xmlns:a16="http://schemas.microsoft.com/office/drawing/2014/main" id="{0A588BB4-B584-B9F6-D6CA-2930E555E9FA}"/>
                  </a:ext>
                </a:extLst>
              </p:cNvPr>
              <p:cNvSpPr/>
              <p:nvPr/>
            </p:nvSpPr>
            <p:spPr>
              <a:xfrm rot="10800000" flipV="1">
                <a:off x="6870191" y="4646089"/>
                <a:ext cx="2941320" cy="1230455"/>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TextBox 21">
              <a:extLst>
                <a:ext uri="{FF2B5EF4-FFF2-40B4-BE49-F238E27FC236}">
                  <a16:creationId xmlns:a16="http://schemas.microsoft.com/office/drawing/2014/main" id="{7412EC53-DD0D-E93E-5FB2-0C4AFC1A04F0}"/>
                </a:ext>
              </a:extLst>
            </p:cNvPr>
            <p:cNvSpPr txBox="1"/>
            <p:nvPr/>
          </p:nvSpPr>
          <p:spPr>
            <a:xfrm>
              <a:off x="7165128" y="5828045"/>
              <a:ext cx="2217770" cy="1717541"/>
            </a:xfrm>
            <a:prstGeom prst="rect">
              <a:avLst/>
            </a:prstGeom>
            <a:noFill/>
          </p:spPr>
          <p:txBody>
            <a:bodyPr wrap="square" rtlCol="0">
              <a:spAutoFit/>
            </a:bodyPr>
            <a:lstStyle/>
            <a:p>
              <a:pPr algn="ctr"/>
              <a:r>
                <a:rPr lang="en-US" b="1" dirty="0"/>
                <a:t> - Transportation Modes </a:t>
              </a:r>
            </a:p>
            <a:p>
              <a:pPr algn="ctr"/>
              <a:r>
                <a:rPr lang="en-US" b="1" dirty="0"/>
                <a:t>- Routs </a:t>
              </a:r>
            </a:p>
            <a:p>
              <a:pPr algn="ctr"/>
              <a:endParaRPr lang="en-US" b="1" dirty="0"/>
            </a:p>
          </p:txBody>
        </p:sp>
        <p:pic>
          <p:nvPicPr>
            <p:cNvPr id="28" name="Graphic 27" descr="Train Tracks with solid fill">
              <a:extLst>
                <a:ext uri="{FF2B5EF4-FFF2-40B4-BE49-F238E27FC236}">
                  <a16:creationId xmlns:a16="http://schemas.microsoft.com/office/drawing/2014/main" id="{693E9A83-59EA-1A58-1EA7-8CFFF5B1014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26557" y="3839072"/>
              <a:ext cx="557051" cy="332130"/>
            </a:xfrm>
            <a:prstGeom prst="rect">
              <a:avLst/>
            </a:prstGeom>
          </p:spPr>
        </p:pic>
      </p:grpSp>
      <p:grpSp>
        <p:nvGrpSpPr>
          <p:cNvPr id="4" name="Group 3">
            <a:extLst>
              <a:ext uri="{FF2B5EF4-FFF2-40B4-BE49-F238E27FC236}">
                <a16:creationId xmlns:a16="http://schemas.microsoft.com/office/drawing/2014/main" id="{90DB3D65-A36F-C7CB-C618-281EE37A607D}"/>
              </a:ext>
            </a:extLst>
          </p:cNvPr>
          <p:cNvGrpSpPr/>
          <p:nvPr/>
        </p:nvGrpSpPr>
        <p:grpSpPr>
          <a:xfrm>
            <a:off x="4616956" y="4078636"/>
            <a:ext cx="2057400" cy="2331720"/>
            <a:chOff x="4974048" y="4480876"/>
            <a:chExt cx="1920240" cy="1922557"/>
          </a:xfrm>
        </p:grpSpPr>
        <p:grpSp>
          <p:nvGrpSpPr>
            <p:cNvPr id="14" name="Group 13">
              <a:extLst>
                <a:ext uri="{FF2B5EF4-FFF2-40B4-BE49-F238E27FC236}">
                  <a16:creationId xmlns:a16="http://schemas.microsoft.com/office/drawing/2014/main" id="{6C0ADC4A-7439-620B-AA78-D011761DBF13}"/>
                </a:ext>
              </a:extLst>
            </p:cNvPr>
            <p:cNvGrpSpPr/>
            <p:nvPr/>
          </p:nvGrpSpPr>
          <p:grpSpPr>
            <a:xfrm>
              <a:off x="4974048" y="4480876"/>
              <a:ext cx="1920240" cy="1922557"/>
              <a:chOff x="2252471" y="1065156"/>
              <a:chExt cx="2941320" cy="2671691"/>
            </a:xfrm>
          </p:grpSpPr>
          <p:sp>
            <p:nvSpPr>
              <p:cNvPr id="12" name="Rectangle 11">
                <a:extLst>
                  <a:ext uri="{FF2B5EF4-FFF2-40B4-BE49-F238E27FC236}">
                    <a16:creationId xmlns:a16="http://schemas.microsoft.com/office/drawing/2014/main" id="{D4664D26-FF9E-EF6B-D0F3-6B5FF9767E46}"/>
                  </a:ext>
                </a:extLst>
              </p:cNvPr>
              <p:cNvSpPr/>
              <p:nvPr/>
            </p:nvSpPr>
            <p:spPr>
              <a:xfrm>
                <a:off x="2636518" y="1065156"/>
                <a:ext cx="2185416" cy="232421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Freeform: Shape 12">
                <a:extLst>
                  <a:ext uri="{FF2B5EF4-FFF2-40B4-BE49-F238E27FC236}">
                    <a16:creationId xmlns:a16="http://schemas.microsoft.com/office/drawing/2014/main" id="{438FD186-FF51-2FEB-D048-3A40AD53158E}"/>
                  </a:ext>
                </a:extLst>
              </p:cNvPr>
              <p:cNvSpPr/>
              <p:nvPr/>
            </p:nvSpPr>
            <p:spPr>
              <a:xfrm rot="10800000" flipV="1">
                <a:off x="2252471" y="2182913"/>
                <a:ext cx="2941320" cy="1553934"/>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1" name="TextBox 20">
              <a:extLst>
                <a:ext uri="{FF2B5EF4-FFF2-40B4-BE49-F238E27FC236}">
                  <a16:creationId xmlns:a16="http://schemas.microsoft.com/office/drawing/2014/main" id="{0C7DB051-7EF0-DA11-4053-D4047F5AD550}"/>
                </a:ext>
              </a:extLst>
            </p:cNvPr>
            <p:cNvSpPr txBox="1"/>
            <p:nvPr/>
          </p:nvSpPr>
          <p:spPr>
            <a:xfrm>
              <a:off x="5064421" y="5537850"/>
              <a:ext cx="1614703" cy="806987"/>
            </a:xfrm>
            <a:prstGeom prst="rect">
              <a:avLst/>
            </a:prstGeom>
            <a:noFill/>
          </p:spPr>
          <p:txBody>
            <a:bodyPr wrap="square" rtlCol="0">
              <a:spAutoFit/>
            </a:bodyPr>
            <a:lstStyle/>
            <a:p>
              <a:pPr algn="ctr"/>
              <a:r>
                <a:rPr lang="en-US" sz="2400" b="1" dirty="0"/>
                <a:t>Suppliers</a:t>
              </a:r>
            </a:p>
            <a:p>
              <a:pPr algn="ctr"/>
              <a:r>
                <a:rPr lang="en-US" sz="2400" b="1" dirty="0"/>
                <a:t>Carriers  </a:t>
              </a:r>
            </a:p>
          </p:txBody>
        </p:sp>
        <p:pic>
          <p:nvPicPr>
            <p:cNvPr id="29" name="Graphic 28" descr="Bus with solid fill">
              <a:extLst>
                <a:ext uri="{FF2B5EF4-FFF2-40B4-BE49-F238E27FC236}">
                  <a16:creationId xmlns:a16="http://schemas.microsoft.com/office/drawing/2014/main" id="{9952D6E2-E15F-4D25-B1B2-BA5C4D614A7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376665" y="4507660"/>
              <a:ext cx="1031856" cy="1037563"/>
            </a:xfrm>
            <a:prstGeom prst="rect">
              <a:avLst/>
            </a:prstGeom>
          </p:spPr>
        </p:pic>
      </p:grpSp>
      <p:sp>
        <p:nvSpPr>
          <p:cNvPr id="30" name="TextBox 29">
            <a:extLst>
              <a:ext uri="{FF2B5EF4-FFF2-40B4-BE49-F238E27FC236}">
                <a16:creationId xmlns:a16="http://schemas.microsoft.com/office/drawing/2014/main" id="{257CDD92-1A27-D55E-C5E4-F48019F0CA4B}"/>
              </a:ext>
            </a:extLst>
          </p:cNvPr>
          <p:cNvSpPr txBox="1"/>
          <p:nvPr/>
        </p:nvSpPr>
        <p:spPr>
          <a:xfrm>
            <a:off x="178489" y="841431"/>
            <a:ext cx="6473033"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normalizeH="0" baseline="0" noProof="0" dirty="0">
                <a:ln w="22225">
                  <a:solidFill>
                    <a:schemeClr val="accent2"/>
                  </a:solidFill>
                  <a:prstDash val="solid"/>
                </a:ln>
                <a:solidFill>
                  <a:schemeClr val="accent2">
                    <a:lumMod val="40000"/>
                    <a:lumOff val="60000"/>
                  </a:schemeClr>
                </a:solidFill>
                <a:uLnTx/>
                <a:uFillTx/>
                <a:latin typeface="Arial"/>
                <a:ea typeface="+mn-ea"/>
                <a:cs typeface="+mn-cs"/>
              </a:rPr>
              <a:t>2- Dataset Description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FFFFFF"/>
              </a:solidFill>
              <a:effectLst/>
              <a:uLnTx/>
              <a:uFillTx/>
              <a:latin typeface="Arial"/>
              <a:ea typeface="+mn-ea"/>
              <a:cs typeface="+mn-cs"/>
            </a:endParaRPr>
          </a:p>
        </p:txBody>
      </p:sp>
      <p:sp>
        <p:nvSpPr>
          <p:cNvPr id="15" name="TextBox 14">
            <a:extLst>
              <a:ext uri="{FF2B5EF4-FFF2-40B4-BE49-F238E27FC236}">
                <a16:creationId xmlns:a16="http://schemas.microsoft.com/office/drawing/2014/main" id="{3F8D059A-5A5B-2C17-E607-672B831EE71B}"/>
              </a:ext>
            </a:extLst>
          </p:cNvPr>
          <p:cNvSpPr txBox="1"/>
          <p:nvPr/>
        </p:nvSpPr>
        <p:spPr>
          <a:xfrm>
            <a:off x="7375486" y="1964386"/>
            <a:ext cx="1965960" cy="1323439"/>
          </a:xfrm>
          <a:prstGeom prst="rect">
            <a:avLst/>
          </a:prstGeom>
          <a:noFill/>
        </p:spPr>
        <p:txBody>
          <a:bodyPr wrap="square" rtlCol="0">
            <a:spAutoFit/>
          </a:bodyPr>
          <a:lstStyle/>
          <a:p>
            <a:pPr algn="ctr"/>
            <a:r>
              <a:rPr lang="en-US" sz="2000" b="1" dirty="0">
                <a:solidFill>
                  <a:srgbClr val="002060"/>
                </a:solidFill>
              </a:rPr>
              <a:t>Air </a:t>
            </a:r>
          </a:p>
          <a:p>
            <a:pPr algn="ctr"/>
            <a:r>
              <a:rPr lang="en-US" sz="2000" b="1" dirty="0">
                <a:solidFill>
                  <a:srgbClr val="002060"/>
                </a:solidFill>
              </a:rPr>
              <a:t>Sea </a:t>
            </a:r>
          </a:p>
          <a:p>
            <a:pPr algn="ctr"/>
            <a:r>
              <a:rPr lang="en-US" sz="2000" b="1" dirty="0">
                <a:solidFill>
                  <a:srgbClr val="002060"/>
                </a:solidFill>
              </a:rPr>
              <a:t>Rail </a:t>
            </a:r>
          </a:p>
          <a:p>
            <a:pPr algn="ctr"/>
            <a:r>
              <a:rPr lang="en-US" sz="2000" b="1" dirty="0">
                <a:solidFill>
                  <a:srgbClr val="002060"/>
                </a:solidFill>
              </a:rPr>
              <a:t>Road</a:t>
            </a:r>
          </a:p>
        </p:txBody>
      </p:sp>
      <p:sp>
        <p:nvSpPr>
          <p:cNvPr id="38" name="TextBox 37">
            <a:extLst>
              <a:ext uri="{FF2B5EF4-FFF2-40B4-BE49-F238E27FC236}">
                <a16:creationId xmlns:a16="http://schemas.microsoft.com/office/drawing/2014/main" id="{0D2AC831-16C2-CE3F-B778-839478A1D0D3}"/>
              </a:ext>
            </a:extLst>
          </p:cNvPr>
          <p:cNvSpPr txBox="1"/>
          <p:nvPr/>
        </p:nvSpPr>
        <p:spPr>
          <a:xfrm>
            <a:off x="7375486" y="3678526"/>
            <a:ext cx="1905613" cy="400110"/>
          </a:xfrm>
          <a:prstGeom prst="rect">
            <a:avLst/>
          </a:prstGeom>
          <a:noFill/>
        </p:spPr>
        <p:txBody>
          <a:bodyPr wrap="square" rtlCol="0">
            <a:spAutoFit/>
          </a:bodyPr>
          <a:lstStyle/>
          <a:p>
            <a:pPr algn="ctr"/>
            <a:r>
              <a:rPr lang="en-US" sz="2000" b="1" dirty="0">
                <a:solidFill>
                  <a:srgbClr val="002060"/>
                </a:solidFill>
              </a:rPr>
              <a:t>A – B - C</a:t>
            </a:r>
          </a:p>
        </p:txBody>
      </p:sp>
      <p:sp>
        <p:nvSpPr>
          <p:cNvPr id="33" name="Slide Number Placeholder 32">
            <a:extLst>
              <a:ext uri="{FF2B5EF4-FFF2-40B4-BE49-F238E27FC236}">
                <a16:creationId xmlns:a16="http://schemas.microsoft.com/office/drawing/2014/main" id="{CE9636BE-2A1F-DF76-D5C1-71C0DFB70C7F}"/>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spTree>
    <p:extLst>
      <p:ext uri="{BB962C8B-B14F-4D97-AF65-F5344CB8AC3E}">
        <p14:creationId xmlns:p14="http://schemas.microsoft.com/office/powerpoint/2010/main" val="2871208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F618D-FB18-C490-967B-CE1054610B0A}"/>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1E07F4BE-BCCA-2EC9-F4FB-D8D91165EA3F}"/>
              </a:ext>
            </a:extLst>
          </p:cNvPr>
          <p:cNvGrpSpPr/>
          <p:nvPr/>
        </p:nvGrpSpPr>
        <p:grpSpPr>
          <a:xfrm>
            <a:off x="458250" y="4370186"/>
            <a:ext cx="1885754" cy="2062134"/>
            <a:chOff x="458249" y="2489758"/>
            <a:chExt cx="1610719" cy="3421646"/>
          </a:xfrm>
        </p:grpSpPr>
        <p:sp>
          <p:nvSpPr>
            <p:cNvPr id="2" name="Rectangle 1">
              <a:extLst>
                <a:ext uri="{FF2B5EF4-FFF2-40B4-BE49-F238E27FC236}">
                  <a16:creationId xmlns:a16="http://schemas.microsoft.com/office/drawing/2014/main" id="{76643678-F83B-C6E1-38A8-20236FB8729E}"/>
                </a:ext>
              </a:extLst>
            </p:cNvPr>
            <p:cNvSpPr/>
            <p:nvPr/>
          </p:nvSpPr>
          <p:spPr>
            <a:xfrm>
              <a:off x="708977" y="2489758"/>
              <a:ext cx="1196200" cy="317145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Freeform: Shape 4">
              <a:extLst>
                <a:ext uri="{FF2B5EF4-FFF2-40B4-BE49-F238E27FC236}">
                  <a16:creationId xmlns:a16="http://schemas.microsoft.com/office/drawing/2014/main" id="{C28EB115-CFF0-9C8D-F85C-AA5E01B517C0}"/>
                </a:ext>
              </a:extLst>
            </p:cNvPr>
            <p:cNvSpPr/>
            <p:nvPr/>
          </p:nvSpPr>
          <p:spPr>
            <a:xfrm rot="10800000" flipV="1">
              <a:off x="458249" y="3686067"/>
              <a:ext cx="1610719" cy="2225337"/>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9" name="TextBox 18">
            <a:extLst>
              <a:ext uri="{FF2B5EF4-FFF2-40B4-BE49-F238E27FC236}">
                <a16:creationId xmlns:a16="http://schemas.microsoft.com/office/drawing/2014/main" id="{AF0E1F99-84EA-291E-97D3-88705FC088AD}"/>
              </a:ext>
            </a:extLst>
          </p:cNvPr>
          <p:cNvSpPr txBox="1"/>
          <p:nvPr/>
        </p:nvSpPr>
        <p:spPr>
          <a:xfrm>
            <a:off x="569430" y="5457623"/>
            <a:ext cx="1614703" cy="830997"/>
          </a:xfrm>
          <a:prstGeom prst="rect">
            <a:avLst/>
          </a:prstGeom>
          <a:noFill/>
        </p:spPr>
        <p:txBody>
          <a:bodyPr wrap="square" rtlCol="0">
            <a:spAutoFit/>
          </a:bodyPr>
          <a:lstStyle/>
          <a:p>
            <a:pPr algn="ctr"/>
            <a:r>
              <a:rPr lang="en-US" sz="2400" b="1" dirty="0"/>
              <a:t>Products Types </a:t>
            </a:r>
          </a:p>
        </p:txBody>
      </p:sp>
      <p:grpSp>
        <p:nvGrpSpPr>
          <p:cNvPr id="3" name="Group 2">
            <a:extLst>
              <a:ext uri="{FF2B5EF4-FFF2-40B4-BE49-F238E27FC236}">
                <a16:creationId xmlns:a16="http://schemas.microsoft.com/office/drawing/2014/main" id="{4485F4F0-A505-DDF5-35E4-8EF19DA17900}"/>
              </a:ext>
            </a:extLst>
          </p:cNvPr>
          <p:cNvGrpSpPr/>
          <p:nvPr/>
        </p:nvGrpSpPr>
        <p:grpSpPr>
          <a:xfrm>
            <a:off x="2412859" y="4369980"/>
            <a:ext cx="2061405" cy="2328438"/>
            <a:chOff x="2669412" y="5294674"/>
            <a:chExt cx="1920240" cy="1285100"/>
          </a:xfrm>
        </p:grpSpPr>
        <p:grpSp>
          <p:nvGrpSpPr>
            <p:cNvPr id="16" name="Group 15">
              <a:extLst>
                <a:ext uri="{FF2B5EF4-FFF2-40B4-BE49-F238E27FC236}">
                  <a16:creationId xmlns:a16="http://schemas.microsoft.com/office/drawing/2014/main" id="{05260540-F01B-3614-5FAD-18D00C92E347}"/>
                </a:ext>
              </a:extLst>
            </p:cNvPr>
            <p:cNvGrpSpPr/>
            <p:nvPr/>
          </p:nvGrpSpPr>
          <p:grpSpPr>
            <a:xfrm>
              <a:off x="2669412" y="5294674"/>
              <a:ext cx="1920240" cy="1138235"/>
              <a:chOff x="3791712" y="4321398"/>
              <a:chExt cx="2941320" cy="1628298"/>
            </a:xfrm>
          </p:grpSpPr>
          <p:sp>
            <p:nvSpPr>
              <p:cNvPr id="6" name="Rectangle 5">
                <a:extLst>
                  <a:ext uri="{FF2B5EF4-FFF2-40B4-BE49-F238E27FC236}">
                    <a16:creationId xmlns:a16="http://schemas.microsoft.com/office/drawing/2014/main" id="{3DEEB2B9-72DB-1CEC-E23F-02F0156C51FC}"/>
                  </a:ext>
                </a:extLst>
              </p:cNvPr>
              <p:cNvSpPr/>
              <p:nvPr/>
            </p:nvSpPr>
            <p:spPr>
              <a:xfrm>
                <a:off x="4175760" y="4321398"/>
                <a:ext cx="2185416" cy="128082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Freeform: Shape 6">
                <a:extLst>
                  <a:ext uri="{FF2B5EF4-FFF2-40B4-BE49-F238E27FC236}">
                    <a16:creationId xmlns:a16="http://schemas.microsoft.com/office/drawing/2014/main" id="{EDD12752-1186-3297-FE9F-2FD54E77BB4E}"/>
                  </a:ext>
                </a:extLst>
              </p:cNvPr>
              <p:cNvSpPr/>
              <p:nvPr/>
            </p:nvSpPr>
            <p:spPr>
              <a:xfrm rot="10800000" flipV="1">
                <a:off x="3791712" y="4697450"/>
                <a:ext cx="2941320" cy="1252246"/>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TextBox 19">
              <a:extLst>
                <a:ext uri="{FF2B5EF4-FFF2-40B4-BE49-F238E27FC236}">
                  <a16:creationId xmlns:a16="http://schemas.microsoft.com/office/drawing/2014/main" id="{126DAC86-31A8-5238-B07F-191FACEA6697}"/>
                </a:ext>
              </a:extLst>
            </p:cNvPr>
            <p:cNvSpPr txBox="1"/>
            <p:nvPr/>
          </p:nvSpPr>
          <p:spPr>
            <a:xfrm>
              <a:off x="2763288" y="5919539"/>
              <a:ext cx="1614703" cy="660235"/>
            </a:xfrm>
            <a:prstGeom prst="rect">
              <a:avLst/>
            </a:prstGeom>
            <a:noFill/>
          </p:spPr>
          <p:txBody>
            <a:bodyPr wrap="square" rtlCol="0">
              <a:spAutoFit/>
            </a:bodyPr>
            <a:lstStyle/>
            <a:p>
              <a:pPr algn="ctr"/>
              <a:r>
                <a:rPr lang="en-US" sz="2400" b="1" dirty="0"/>
                <a:t>Orders</a:t>
              </a:r>
            </a:p>
          </p:txBody>
        </p:sp>
        <p:pic>
          <p:nvPicPr>
            <p:cNvPr id="24" name="Graphic 23" descr="Shopping cart with solid fill">
              <a:extLst>
                <a:ext uri="{FF2B5EF4-FFF2-40B4-BE49-F238E27FC236}">
                  <a16:creationId xmlns:a16="http://schemas.microsoft.com/office/drawing/2014/main" id="{A765A95F-6784-AD66-8273-41A9BDA375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64930" y="5410683"/>
              <a:ext cx="611419" cy="337279"/>
            </a:xfrm>
            <a:prstGeom prst="rect">
              <a:avLst/>
            </a:prstGeom>
          </p:spPr>
        </p:pic>
      </p:grpSp>
      <p:pic>
        <p:nvPicPr>
          <p:cNvPr id="25" name="Graphic 24" descr="Wheelbarrow with solid fill">
            <a:extLst>
              <a:ext uri="{FF2B5EF4-FFF2-40B4-BE49-F238E27FC236}">
                <a16:creationId xmlns:a16="http://schemas.microsoft.com/office/drawing/2014/main" id="{E159D207-36B6-0486-353F-146C1FA51DA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6505" y="4625354"/>
            <a:ext cx="831686" cy="811026"/>
          </a:xfrm>
          <a:prstGeom prst="rect">
            <a:avLst/>
          </a:prstGeom>
        </p:spPr>
      </p:pic>
      <p:grpSp>
        <p:nvGrpSpPr>
          <p:cNvPr id="31" name="Group 30">
            <a:extLst>
              <a:ext uri="{FF2B5EF4-FFF2-40B4-BE49-F238E27FC236}">
                <a16:creationId xmlns:a16="http://schemas.microsoft.com/office/drawing/2014/main" id="{F8D51780-E16B-EA57-BD93-A9A61FA9002D}"/>
              </a:ext>
            </a:extLst>
          </p:cNvPr>
          <p:cNvGrpSpPr/>
          <p:nvPr/>
        </p:nvGrpSpPr>
        <p:grpSpPr>
          <a:xfrm>
            <a:off x="9047796" y="1690575"/>
            <a:ext cx="2780944" cy="6835734"/>
            <a:chOff x="9601399" y="4135864"/>
            <a:chExt cx="1920240" cy="3177317"/>
          </a:xfrm>
        </p:grpSpPr>
        <p:grpSp>
          <p:nvGrpSpPr>
            <p:cNvPr id="18" name="Group 17">
              <a:extLst>
                <a:ext uri="{FF2B5EF4-FFF2-40B4-BE49-F238E27FC236}">
                  <a16:creationId xmlns:a16="http://schemas.microsoft.com/office/drawing/2014/main" id="{8412E15B-CB61-F5CE-1D91-41ADEB8C293A}"/>
                </a:ext>
              </a:extLst>
            </p:cNvPr>
            <p:cNvGrpSpPr/>
            <p:nvPr/>
          </p:nvGrpSpPr>
          <p:grpSpPr>
            <a:xfrm>
              <a:off x="9601399" y="4135864"/>
              <a:ext cx="1920240" cy="2177319"/>
              <a:chOff x="9250680" y="2850822"/>
              <a:chExt cx="2941320" cy="3025722"/>
            </a:xfrm>
          </p:grpSpPr>
          <p:sp>
            <p:nvSpPr>
              <p:cNvPr id="10" name="Rectangle 9">
                <a:extLst>
                  <a:ext uri="{FF2B5EF4-FFF2-40B4-BE49-F238E27FC236}">
                    <a16:creationId xmlns:a16="http://schemas.microsoft.com/office/drawing/2014/main" id="{7624DDE6-3E63-D4EC-D0A0-E58B71BF508E}"/>
                  </a:ext>
                </a:extLst>
              </p:cNvPr>
              <p:cNvSpPr/>
              <p:nvPr/>
            </p:nvSpPr>
            <p:spPr>
              <a:xfrm>
                <a:off x="9634728" y="2850822"/>
                <a:ext cx="2185416" cy="26782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Freeform: Shape 10">
                <a:extLst>
                  <a:ext uri="{FF2B5EF4-FFF2-40B4-BE49-F238E27FC236}">
                    <a16:creationId xmlns:a16="http://schemas.microsoft.com/office/drawing/2014/main" id="{3C7DD159-8CD6-EC00-F507-BF8A484B7484}"/>
                  </a:ext>
                </a:extLst>
              </p:cNvPr>
              <p:cNvSpPr/>
              <p:nvPr/>
            </p:nvSpPr>
            <p:spPr>
              <a:xfrm rot="10800000" flipV="1">
                <a:off x="9250680" y="4746472"/>
                <a:ext cx="2941320" cy="1130072"/>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extBox 22">
              <a:extLst>
                <a:ext uri="{FF2B5EF4-FFF2-40B4-BE49-F238E27FC236}">
                  <a16:creationId xmlns:a16="http://schemas.microsoft.com/office/drawing/2014/main" id="{134F6022-8335-63E4-6385-E05F4A89E94C}"/>
                </a:ext>
              </a:extLst>
            </p:cNvPr>
            <p:cNvSpPr txBox="1"/>
            <p:nvPr/>
          </p:nvSpPr>
          <p:spPr>
            <a:xfrm>
              <a:off x="9678403" y="5818683"/>
              <a:ext cx="1686181" cy="1494498"/>
            </a:xfrm>
            <a:prstGeom prst="rect">
              <a:avLst/>
            </a:prstGeom>
            <a:noFill/>
          </p:spPr>
          <p:txBody>
            <a:bodyPr wrap="square" rtlCol="0">
              <a:spAutoFit/>
            </a:bodyPr>
            <a:lstStyle/>
            <a:p>
              <a:pPr algn="ctr"/>
              <a:r>
                <a:rPr lang="en-US" b="1" dirty="0"/>
                <a:t>- Defect Rete </a:t>
              </a:r>
            </a:p>
            <a:p>
              <a:pPr algn="ctr"/>
              <a:r>
                <a:rPr lang="en-US" b="1" dirty="0"/>
                <a:t>- Inspection Results </a:t>
              </a:r>
            </a:p>
          </p:txBody>
        </p:sp>
        <p:pic>
          <p:nvPicPr>
            <p:cNvPr id="26" name="Graphic 25" descr="Filter with solid fill">
              <a:extLst>
                <a:ext uri="{FF2B5EF4-FFF2-40B4-BE49-F238E27FC236}">
                  <a16:creationId xmlns:a16="http://schemas.microsoft.com/office/drawing/2014/main" id="{46EDD2E6-C6F7-39BE-11DD-F21A45CD52E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27215" y="4135864"/>
              <a:ext cx="468608" cy="468608"/>
            </a:xfrm>
            <a:prstGeom prst="rect">
              <a:avLst/>
            </a:prstGeom>
          </p:spPr>
        </p:pic>
      </p:grpSp>
      <p:grpSp>
        <p:nvGrpSpPr>
          <p:cNvPr id="27" name="Group 26">
            <a:extLst>
              <a:ext uri="{FF2B5EF4-FFF2-40B4-BE49-F238E27FC236}">
                <a16:creationId xmlns:a16="http://schemas.microsoft.com/office/drawing/2014/main" id="{69A2C6AE-EEB4-1846-369B-F59E5713376D}"/>
              </a:ext>
            </a:extLst>
          </p:cNvPr>
          <p:cNvGrpSpPr/>
          <p:nvPr/>
        </p:nvGrpSpPr>
        <p:grpSpPr>
          <a:xfrm>
            <a:off x="6851015" y="4078635"/>
            <a:ext cx="2057401" cy="4742783"/>
            <a:chOff x="7165128" y="5221553"/>
            <a:chExt cx="2217770" cy="2324033"/>
          </a:xfrm>
        </p:grpSpPr>
        <p:grpSp>
          <p:nvGrpSpPr>
            <p:cNvPr id="17" name="Group 16">
              <a:extLst>
                <a:ext uri="{FF2B5EF4-FFF2-40B4-BE49-F238E27FC236}">
                  <a16:creationId xmlns:a16="http://schemas.microsoft.com/office/drawing/2014/main" id="{0E15E7AC-8108-5205-5B90-713C7B1AED40}"/>
                </a:ext>
              </a:extLst>
            </p:cNvPr>
            <p:cNvGrpSpPr/>
            <p:nvPr/>
          </p:nvGrpSpPr>
          <p:grpSpPr>
            <a:xfrm>
              <a:off x="7212204" y="5221553"/>
              <a:ext cx="2124545" cy="1153339"/>
              <a:chOff x="6870191" y="4273800"/>
              <a:chExt cx="2941320" cy="1602744"/>
            </a:xfrm>
          </p:grpSpPr>
          <p:sp>
            <p:nvSpPr>
              <p:cNvPr id="8" name="Rectangle 7">
                <a:extLst>
                  <a:ext uri="{FF2B5EF4-FFF2-40B4-BE49-F238E27FC236}">
                    <a16:creationId xmlns:a16="http://schemas.microsoft.com/office/drawing/2014/main" id="{1F74DFCB-7708-9542-8263-0C94AD1F831C}"/>
                  </a:ext>
                </a:extLst>
              </p:cNvPr>
              <p:cNvSpPr/>
              <p:nvPr/>
            </p:nvSpPr>
            <p:spPr>
              <a:xfrm>
                <a:off x="7254240" y="4273800"/>
                <a:ext cx="2185417" cy="125527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Freeform: Shape 8">
                <a:extLst>
                  <a:ext uri="{FF2B5EF4-FFF2-40B4-BE49-F238E27FC236}">
                    <a16:creationId xmlns:a16="http://schemas.microsoft.com/office/drawing/2014/main" id="{4312041C-084E-3AE6-AA6A-C84A9E1DDF2E}"/>
                  </a:ext>
                </a:extLst>
              </p:cNvPr>
              <p:cNvSpPr/>
              <p:nvPr/>
            </p:nvSpPr>
            <p:spPr>
              <a:xfrm rot="10800000" flipV="1">
                <a:off x="6870191" y="4646089"/>
                <a:ext cx="2941320" cy="1230455"/>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TextBox 21">
              <a:extLst>
                <a:ext uri="{FF2B5EF4-FFF2-40B4-BE49-F238E27FC236}">
                  <a16:creationId xmlns:a16="http://schemas.microsoft.com/office/drawing/2014/main" id="{6DC38B54-91CA-43A8-CF15-6598CD12B1E2}"/>
                </a:ext>
              </a:extLst>
            </p:cNvPr>
            <p:cNvSpPr txBox="1"/>
            <p:nvPr/>
          </p:nvSpPr>
          <p:spPr>
            <a:xfrm>
              <a:off x="7165128" y="5828045"/>
              <a:ext cx="2217770" cy="1717541"/>
            </a:xfrm>
            <a:prstGeom prst="rect">
              <a:avLst/>
            </a:prstGeom>
            <a:noFill/>
          </p:spPr>
          <p:txBody>
            <a:bodyPr wrap="square" rtlCol="0">
              <a:spAutoFit/>
            </a:bodyPr>
            <a:lstStyle/>
            <a:p>
              <a:pPr algn="ctr"/>
              <a:r>
                <a:rPr lang="en-US" b="1" dirty="0"/>
                <a:t> - Transportation Modes </a:t>
              </a:r>
            </a:p>
            <a:p>
              <a:pPr algn="ctr"/>
              <a:r>
                <a:rPr lang="en-US" b="1" dirty="0"/>
                <a:t>- Routs </a:t>
              </a:r>
            </a:p>
            <a:p>
              <a:pPr algn="ctr"/>
              <a:endParaRPr lang="en-US" b="1" dirty="0"/>
            </a:p>
          </p:txBody>
        </p:sp>
        <p:pic>
          <p:nvPicPr>
            <p:cNvPr id="28" name="Graphic 27" descr="Train Tracks with solid fill">
              <a:extLst>
                <a:ext uri="{FF2B5EF4-FFF2-40B4-BE49-F238E27FC236}">
                  <a16:creationId xmlns:a16="http://schemas.microsoft.com/office/drawing/2014/main" id="{E1DF701C-D2CF-FC0C-D235-47703591488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95487" y="5323388"/>
              <a:ext cx="557051" cy="332130"/>
            </a:xfrm>
            <a:prstGeom prst="rect">
              <a:avLst/>
            </a:prstGeom>
          </p:spPr>
        </p:pic>
      </p:grpSp>
      <p:grpSp>
        <p:nvGrpSpPr>
          <p:cNvPr id="4" name="Group 3">
            <a:extLst>
              <a:ext uri="{FF2B5EF4-FFF2-40B4-BE49-F238E27FC236}">
                <a16:creationId xmlns:a16="http://schemas.microsoft.com/office/drawing/2014/main" id="{AC17C885-01B9-21A2-0496-C283B2725DB7}"/>
              </a:ext>
            </a:extLst>
          </p:cNvPr>
          <p:cNvGrpSpPr/>
          <p:nvPr/>
        </p:nvGrpSpPr>
        <p:grpSpPr>
          <a:xfrm>
            <a:off x="4616956" y="4078636"/>
            <a:ext cx="2057400" cy="2331720"/>
            <a:chOff x="4974048" y="4480876"/>
            <a:chExt cx="1920240" cy="1922557"/>
          </a:xfrm>
        </p:grpSpPr>
        <p:grpSp>
          <p:nvGrpSpPr>
            <p:cNvPr id="14" name="Group 13">
              <a:extLst>
                <a:ext uri="{FF2B5EF4-FFF2-40B4-BE49-F238E27FC236}">
                  <a16:creationId xmlns:a16="http://schemas.microsoft.com/office/drawing/2014/main" id="{DD478ED3-471C-A4D5-27B1-928C00BA26D7}"/>
                </a:ext>
              </a:extLst>
            </p:cNvPr>
            <p:cNvGrpSpPr/>
            <p:nvPr/>
          </p:nvGrpSpPr>
          <p:grpSpPr>
            <a:xfrm>
              <a:off x="4974048" y="4480876"/>
              <a:ext cx="1920240" cy="1922557"/>
              <a:chOff x="2252471" y="1065156"/>
              <a:chExt cx="2941320" cy="2671691"/>
            </a:xfrm>
          </p:grpSpPr>
          <p:sp>
            <p:nvSpPr>
              <p:cNvPr id="12" name="Rectangle 11">
                <a:extLst>
                  <a:ext uri="{FF2B5EF4-FFF2-40B4-BE49-F238E27FC236}">
                    <a16:creationId xmlns:a16="http://schemas.microsoft.com/office/drawing/2014/main" id="{A07DAA4F-A325-6594-65BA-48BB1057D782}"/>
                  </a:ext>
                </a:extLst>
              </p:cNvPr>
              <p:cNvSpPr/>
              <p:nvPr/>
            </p:nvSpPr>
            <p:spPr>
              <a:xfrm>
                <a:off x="2636518" y="1065156"/>
                <a:ext cx="2185416" cy="232421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Freeform: Shape 12">
                <a:extLst>
                  <a:ext uri="{FF2B5EF4-FFF2-40B4-BE49-F238E27FC236}">
                    <a16:creationId xmlns:a16="http://schemas.microsoft.com/office/drawing/2014/main" id="{289721C1-EC86-92B9-748D-7A805E2566DA}"/>
                  </a:ext>
                </a:extLst>
              </p:cNvPr>
              <p:cNvSpPr/>
              <p:nvPr/>
            </p:nvSpPr>
            <p:spPr>
              <a:xfrm rot="10800000" flipV="1">
                <a:off x="2252471" y="2182913"/>
                <a:ext cx="2941320" cy="1553934"/>
              </a:xfrm>
              <a:custGeom>
                <a:avLst/>
                <a:gdLst>
                  <a:gd name="connsiteX0" fmla="*/ 3236954 w 3523490"/>
                  <a:gd name="connsiteY0" fmla="*/ 0 h 3090672"/>
                  <a:gd name="connsiteX1" fmla="*/ 2727024 w 3523490"/>
                  <a:gd name="connsiteY1" fmla="*/ 0 h 3090672"/>
                  <a:gd name="connsiteX2" fmla="*/ 2732409 w 3523490"/>
                  <a:gd name="connsiteY2" fmla="*/ 27659 h 3090672"/>
                  <a:gd name="connsiteX3" fmla="*/ 2737106 w 3523490"/>
                  <a:gd name="connsiteY3" fmla="*/ 100583 h 3090672"/>
                  <a:gd name="connsiteX4" fmla="*/ 1827278 w 3523490"/>
                  <a:gd name="connsiteY4" fmla="*/ 813815 h 3090672"/>
                  <a:gd name="connsiteX5" fmla="*/ 917450 w 3523490"/>
                  <a:gd name="connsiteY5" fmla="*/ 100583 h 3090672"/>
                  <a:gd name="connsiteX6" fmla="*/ 922148 w 3523490"/>
                  <a:gd name="connsiteY6" fmla="*/ 27659 h 3090672"/>
                  <a:gd name="connsiteX7" fmla="*/ 927532 w 3523490"/>
                  <a:gd name="connsiteY7" fmla="*/ 0 h 3090672"/>
                  <a:gd name="connsiteX8" fmla="*/ 286536 w 3523490"/>
                  <a:gd name="connsiteY8" fmla="*/ 0 h 3090672"/>
                  <a:gd name="connsiteX9" fmla="*/ 0 w 3523490"/>
                  <a:gd name="connsiteY9" fmla="*/ 286536 h 3090672"/>
                  <a:gd name="connsiteX10" fmla="*/ 0 w 3523490"/>
                  <a:gd name="connsiteY10" fmla="*/ 2804136 h 3090672"/>
                  <a:gd name="connsiteX11" fmla="*/ 286536 w 3523490"/>
                  <a:gd name="connsiteY11" fmla="*/ 3090672 h 3090672"/>
                  <a:gd name="connsiteX12" fmla="*/ 3236954 w 3523490"/>
                  <a:gd name="connsiteY12" fmla="*/ 3090672 h 3090672"/>
                  <a:gd name="connsiteX13" fmla="*/ 3523490 w 3523490"/>
                  <a:gd name="connsiteY13" fmla="*/ 2804136 h 3090672"/>
                  <a:gd name="connsiteX14" fmla="*/ 3523490 w 3523490"/>
                  <a:gd name="connsiteY14" fmla="*/ 286536 h 3090672"/>
                  <a:gd name="connsiteX15" fmla="*/ 3236954 w 3523490"/>
                  <a:gd name="connsiteY15" fmla="*/ 0 h 309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23490" h="3090672">
                    <a:moveTo>
                      <a:pt x="3236954" y="0"/>
                    </a:moveTo>
                    <a:lnTo>
                      <a:pt x="2727024" y="0"/>
                    </a:lnTo>
                    <a:lnTo>
                      <a:pt x="2732409" y="27659"/>
                    </a:lnTo>
                    <a:cubicBezTo>
                      <a:pt x="2735515" y="51636"/>
                      <a:pt x="2737106" y="75964"/>
                      <a:pt x="2737106" y="100583"/>
                    </a:cubicBezTo>
                    <a:cubicBezTo>
                      <a:pt x="2737106" y="494490"/>
                      <a:pt x="2329762" y="813815"/>
                      <a:pt x="1827278" y="813815"/>
                    </a:cubicBezTo>
                    <a:cubicBezTo>
                      <a:pt x="1324794" y="813815"/>
                      <a:pt x="917450" y="494490"/>
                      <a:pt x="917450" y="100583"/>
                    </a:cubicBezTo>
                    <a:cubicBezTo>
                      <a:pt x="917450" y="75964"/>
                      <a:pt x="919041" y="51636"/>
                      <a:pt x="922148" y="27659"/>
                    </a:cubicBezTo>
                    <a:lnTo>
                      <a:pt x="927532" y="0"/>
                    </a:lnTo>
                    <a:lnTo>
                      <a:pt x="286536" y="0"/>
                    </a:lnTo>
                    <a:cubicBezTo>
                      <a:pt x="128287" y="0"/>
                      <a:pt x="0" y="128287"/>
                      <a:pt x="0" y="286536"/>
                    </a:cubicBezTo>
                    <a:lnTo>
                      <a:pt x="0" y="2804136"/>
                    </a:lnTo>
                    <a:cubicBezTo>
                      <a:pt x="0" y="2962385"/>
                      <a:pt x="128287" y="3090672"/>
                      <a:pt x="286536" y="3090672"/>
                    </a:cubicBezTo>
                    <a:lnTo>
                      <a:pt x="3236954" y="3090672"/>
                    </a:lnTo>
                    <a:cubicBezTo>
                      <a:pt x="3395203" y="3090672"/>
                      <a:pt x="3523490" y="2962385"/>
                      <a:pt x="3523490" y="2804136"/>
                    </a:cubicBezTo>
                    <a:lnTo>
                      <a:pt x="3523490" y="286536"/>
                    </a:lnTo>
                    <a:cubicBezTo>
                      <a:pt x="3523490" y="128287"/>
                      <a:pt x="3395203" y="0"/>
                      <a:pt x="3236954"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1" name="TextBox 20">
              <a:extLst>
                <a:ext uri="{FF2B5EF4-FFF2-40B4-BE49-F238E27FC236}">
                  <a16:creationId xmlns:a16="http://schemas.microsoft.com/office/drawing/2014/main" id="{964D5494-DCDF-6D04-E891-2ADF28BE6B66}"/>
                </a:ext>
              </a:extLst>
            </p:cNvPr>
            <p:cNvSpPr txBox="1"/>
            <p:nvPr/>
          </p:nvSpPr>
          <p:spPr>
            <a:xfrm>
              <a:off x="5064421" y="5537850"/>
              <a:ext cx="1614703" cy="806987"/>
            </a:xfrm>
            <a:prstGeom prst="rect">
              <a:avLst/>
            </a:prstGeom>
            <a:noFill/>
          </p:spPr>
          <p:txBody>
            <a:bodyPr wrap="square" rtlCol="0">
              <a:spAutoFit/>
            </a:bodyPr>
            <a:lstStyle/>
            <a:p>
              <a:pPr algn="ctr"/>
              <a:r>
                <a:rPr lang="en-US" sz="2400" b="1" dirty="0"/>
                <a:t>Suppliers</a:t>
              </a:r>
            </a:p>
            <a:p>
              <a:pPr algn="ctr"/>
              <a:r>
                <a:rPr lang="en-US" sz="2400" b="1" dirty="0"/>
                <a:t>Carriers  </a:t>
              </a:r>
            </a:p>
          </p:txBody>
        </p:sp>
        <p:pic>
          <p:nvPicPr>
            <p:cNvPr id="29" name="Graphic 28" descr="Bus with solid fill">
              <a:extLst>
                <a:ext uri="{FF2B5EF4-FFF2-40B4-BE49-F238E27FC236}">
                  <a16:creationId xmlns:a16="http://schemas.microsoft.com/office/drawing/2014/main" id="{D9CCD7EB-1B48-AF48-B1BE-D278C7432C6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376665" y="4507660"/>
              <a:ext cx="1031856" cy="1037563"/>
            </a:xfrm>
            <a:prstGeom prst="rect">
              <a:avLst/>
            </a:prstGeom>
          </p:spPr>
        </p:pic>
      </p:grpSp>
      <p:sp>
        <p:nvSpPr>
          <p:cNvPr id="30" name="TextBox 29">
            <a:extLst>
              <a:ext uri="{FF2B5EF4-FFF2-40B4-BE49-F238E27FC236}">
                <a16:creationId xmlns:a16="http://schemas.microsoft.com/office/drawing/2014/main" id="{40DBD866-6155-3DCB-03DE-5365432D68DC}"/>
              </a:ext>
            </a:extLst>
          </p:cNvPr>
          <p:cNvSpPr txBox="1"/>
          <p:nvPr/>
        </p:nvSpPr>
        <p:spPr>
          <a:xfrm>
            <a:off x="178489" y="841431"/>
            <a:ext cx="6473033"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normalizeH="0" baseline="0" noProof="0" dirty="0">
                <a:ln w="22225">
                  <a:solidFill>
                    <a:schemeClr val="accent2"/>
                  </a:solidFill>
                  <a:prstDash val="solid"/>
                </a:ln>
                <a:solidFill>
                  <a:schemeClr val="accent2">
                    <a:lumMod val="40000"/>
                    <a:lumOff val="60000"/>
                  </a:schemeClr>
                </a:solidFill>
                <a:uLnTx/>
                <a:uFillTx/>
                <a:latin typeface="Arial"/>
                <a:ea typeface="+mn-ea"/>
                <a:cs typeface="+mn-cs"/>
              </a:rPr>
              <a:t>2- Dataset Description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FFFFFF"/>
              </a:solidFill>
              <a:effectLst/>
              <a:uLnTx/>
              <a:uFillTx/>
              <a:latin typeface="Arial"/>
              <a:ea typeface="+mn-ea"/>
              <a:cs typeface="+mn-cs"/>
            </a:endParaRPr>
          </a:p>
        </p:txBody>
      </p:sp>
      <p:sp>
        <p:nvSpPr>
          <p:cNvPr id="33" name="TextBox 32">
            <a:extLst>
              <a:ext uri="{FF2B5EF4-FFF2-40B4-BE49-F238E27FC236}">
                <a16:creationId xmlns:a16="http://schemas.microsoft.com/office/drawing/2014/main" id="{68852CE9-D1DF-1455-DD58-6BC14773FCE9}"/>
              </a:ext>
            </a:extLst>
          </p:cNvPr>
          <p:cNvSpPr txBox="1"/>
          <p:nvPr/>
        </p:nvSpPr>
        <p:spPr>
          <a:xfrm>
            <a:off x="9629024" y="2892652"/>
            <a:ext cx="1618488" cy="1477328"/>
          </a:xfrm>
          <a:prstGeom prst="rect">
            <a:avLst/>
          </a:prstGeom>
          <a:noFill/>
        </p:spPr>
        <p:txBody>
          <a:bodyPr wrap="square" rtlCol="0">
            <a:spAutoFit/>
          </a:bodyPr>
          <a:lstStyle/>
          <a:p>
            <a:r>
              <a:rPr lang="en-US" b="1" dirty="0">
                <a:solidFill>
                  <a:srgbClr val="002060"/>
                </a:solidFill>
              </a:rPr>
              <a:t>Inspection Results: </a:t>
            </a:r>
          </a:p>
          <a:p>
            <a:r>
              <a:rPr lang="en-US" dirty="0">
                <a:solidFill>
                  <a:srgbClr val="002060"/>
                </a:solidFill>
              </a:rPr>
              <a:t>Pass </a:t>
            </a:r>
            <a:r>
              <a:rPr lang="en-US" b="1" dirty="0">
                <a:solidFill>
                  <a:srgbClr val="002060"/>
                </a:solidFill>
              </a:rPr>
              <a:t>23%</a:t>
            </a:r>
          </a:p>
          <a:p>
            <a:r>
              <a:rPr lang="en-US" dirty="0">
                <a:solidFill>
                  <a:srgbClr val="002060"/>
                </a:solidFill>
              </a:rPr>
              <a:t>Fail </a:t>
            </a:r>
            <a:r>
              <a:rPr lang="en-US" b="1" dirty="0">
                <a:solidFill>
                  <a:srgbClr val="002060"/>
                </a:solidFill>
              </a:rPr>
              <a:t>36%</a:t>
            </a:r>
          </a:p>
          <a:p>
            <a:r>
              <a:rPr lang="en-US" dirty="0">
                <a:solidFill>
                  <a:srgbClr val="002060"/>
                </a:solidFill>
              </a:rPr>
              <a:t>Pending </a:t>
            </a:r>
            <a:r>
              <a:rPr lang="en-US" b="1" dirty="0">
                <a:solidFill>
                  <a:srgbClr val="002060"/>
                </a:solidFill>
              </a:rPr>
              <a:t>41%</a:t>
            </a:r>
          </a:p>
        </p:txBody>
      </p:sp>
      <p:sp>
        <p:nvSpPr>
          <p:cNvPr id="34" name="Rectangle: Rounded Corners 33">
            <a:extLst>
              <a:ext uri="{FF2B5EF4-FFF2-40B4-BE49-F238E27FC236}">
                <a16:creationId xmlns:a16="http://schemas.microsoft.com/office/drawing/2014/main" id="{211B09DD-3DC2-6841-41FF-68931771E7A1}"/>
              </a:ext>
            </a:extLst>
          </p:cNvPr>
          <p:cNvSpPr/>
          <p:nvPr/>
        </p:nvSpPr>
        <p:spPr>
          <a:xfrm>
            <a:off x="6969656" y="2064270"/>
            <a:ext cx="2123114" cy="1656764"/>
          </a:xfrm>
          <a:prstGeom prst="roundRect">
            <a:avLst>
              <a:gd name="adj" fmla="val 2792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Defect Rate: </a:t>
            </a:r>
          </a:p>
          <a:p>
            <a:pPr algn="ctr"/>
            <a:r>
              <a:rPr lang="en-US" dirty="0">
                <a:solidFill>
                  <a:srgbClr val="002060"/>
                </a:solidFill>
              </a:rPr>
              <a:t>Min </a:t>
            </a:r>
            <a:r>
              <a:rPr lang="en-US" b="1" dirty="0">
                <a:solidFill>
                  <a:srgbClr val="002060"/>
                </a:solidFill>
              </a:rPr>
              <a:t>.02 </a:t>
            </a:r>
          </a:p>
          <a:p>
            <a:pPr algn="ctr"/>
            <a:r>
              <a:rPr lang="en-US" dirty="0">
                <a:solidFill>
                  <a:srgbClr val="002060"/>
                </a:solidFill>
              </a:rPr>
              <a:t>Max </a:t>
            </a:r>
            <a:r>
              <a:rPr lang="en-US" b="1" dirty="0">
                <a:solidFill>
                  <a:srgbClr val="002060"/>
                </a:solidFill>
              </a:rPr>
              <a:t>4.9</a:t>
            </a:r>
            <a:r>
              <a:rPr lang="en-US" dirty="0">
                <a:solidFill>
                  <a:srgbClr val="002060"/>
                </a:solidFill>
              </a:rPr>
              <a:t> </a:t>
            </a:r>
            <a:br>
              <a:rPr lang="en-US" dirty="0">
                <a:solidFill>
                  <a:srgbClr val="002060"/>
                </a:solidFill>
              </a:rPr>
            </a:br>
            <a:r>
              <a:rPr lang="en-US" dirty="0">
                <a:solidFill>
                  <a:srgbClr val="002060"/>
                </a:solidFill>
              </a:rPr>
              <a:t>Average </a:t>
            </a:r>
            <a:r>
              <a:rPr lang="en-US" b="1" dirty="0">
                <a:solidFill>
                  <a:srgbClr val="002060"/>
                </a:solidFill>
              </a:rPr>
              <a:t>2.3</a:t>
            </a:r>
            <a:r>
              <a:rPr lang="en-US" dirty="0">
                <a:solidFill>
                  <a:srgbClr val="002060"/>
                </a:solidFill>
              </a:rPr>
              <a:t> </a:t>
            </a:r>
          </a:p>
        </p:txBody>
      </p:sp>
      <p:sp>
        <p:nvSpPr>
          <p:cNvPr id="15" name="Slide Number Placeholder 14">
            <a:extLst>
              <a:ext uri="{FF2B5EF4-FFF2-40B4-BE49-F238E27FC236}">
                <a16:creationId xmlns:a16="http://schemas.microsoft.com/office/drawing/2014/main" id="{8858BFF6-F2C2-6013-0225-16E0CD3029EE}"/>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spTree>
    <p:extLst>
      <p:ext uri="{BB962C8B-B14F-4D97-AF65-F5344CB8AC3E}">
        <p14:creationId xmlns:p14="http://schemas.microsoft.com/office/powerpoint/2010/main" val="692187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A4A9CBC0-C8FC-82E2-4974-D8B89C3A7ABF}"/>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539FB31F-9C75-F6DB-3DEB-EF7ABBE87C38}"/>
              </a:ext>
            </a:extLst>
          </p:cNvPr>
          <p:cNvGrpSpPr/>
          <p:nvPr/>
        </p:nvGrpSpPr>
        <p:grpSpPr>
          <a:xfrm rot="1541555">
            <a:off x="-2048363" y="1359946"/>
            <a:ext cx="3952118" cy="3862589"/>
            <a:chOff x="-1714500" y="1054100"/>
            <a:chExt cx="4675978" cy="4076700"/>
          </a:xfrm>
        </p:grpSpPr>
        <p:sp>
          <p:nvSpPr>
            <p:cNvPr id="13" name="Circle: Hollow 12">
              <a:extLst>
                <a:ext uri="{FF2B5EF4-FFF2-40B4-BE49-F238E27FC236}">
                  <a16:creationId xmlns:a16="http://schemas.microsoft.com/office/drawing/2014/main" id="{B9C1D739-EE52-659C-BBF1-8BF932289399}"/>
                </a:ext>
              </a:extLst>
            </p:cNvPr>
            <p:cNvSpPr/>
            <p:nvPr/>
          </p:nvSpPr>
          <p:spPr>
            <a:xfrm>
              <a:off x="-1714500" y="1054100"/>
              <a:ext cx="4622800" cy="4076700"/>
            </a:xfrm>
            <a:prstGeom prst="donut">
              <a:avLst>
                <a:gd name="adj" fmla="val 20328"/>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Block Arc 15">
              <a:extLst>
                <a:ext uri="{FF2B5EF4-FFF2-40B4-BE49-F238E27FC236}">
                  <a16:creationId xmlns:a16="http://schemas.microsoft.com/office/drawing/2014/main" id="{624C4036-2FBD-8D55-1F80-93A349BBAB52}"/>
                </a:ext>
              </a:extLst>
            </p:cNvPr>
            <p:cNvSpPr/>
            <p:nvPr/>
          </p:nvSpPr>
          <p:spPr>
            <a:xfrm rot="6768175">
              <a:off x="-803303" y="924453"/>
              <a:ext cx="3489165" cy="4040397"/>
            </a:xfrm>
            <a:prstGeom prst="blockArc">
              <a:avLst>
                <a:gd name="adj1" fmla="val 10800000"/>
                <a:gd name="adj2" fmla="val 14911070"/>
                <a:gd name="adj3" fmla="val 29888"/>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0" name="Rectangle: Rounded Corners 19">
            <a:extLst>
              <a:ext uri="{FF2B5EF4-FFF2-40B4-BE49-F238E27FC236}">
                <a16:creationId xmlns:a16="http://schemas.microsoft.com/office/drawing/2014/main" id="{69E6B6AA-30B7-D16E-E1BF-D9BB61100DB6}"/>
              </a:ext>
            </a:extLst>
          </p:cNvPr>
          <p:cNvSpPr/>
          <p:nvPr/>
        </p:nvSpPr>
        <p:spPr>
          <a:xfrm>
            <a:off x="4768850" y="1782938"/>
            <a:ext cx="6604642" cy="4584701"/>
          </a:xfrm>
          <a:prstGeom prst="roundRect">
            <a:avLst>
              <a:gd name="adj" fmla="val 16131"/>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B2A40B4D-9802-5286-ADC5-14D52B3408E5}"/>
              </a:ext>
            </a:extLst>
          </p:cNvPr>
          <p:cNvSpPr/>
          <p:nvPr/>
        </p:nvSpPr>
        <p:spPr>
          <a:xfrm>
            <a:off x="3416300" y="876300"/>
            <a:ext cx="8598491" cy="1498600"/>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41098BBB-0825-2D66-18ED-9A5AE1FFDCF3}"/>
              </a:ext>
            </a:extLst>
          </p:cNvPr>
          <p:cNvSpPr/>
          <p:nvPr/>
        </p:nvSpPr>
        <p:spPr>
          <a:xfrm>
            <a:off x="3301809" y="862187"/>
            <a:ext cx="1828800" cy="1512713"/>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3</a:t>
            </a:r>
            <a:endParaRPr lang="en-US" b="1" dirty="0">
              <a:solidFill>
                <a:schemeClr val="tx1"/>
              </a:solidFill>
            </a:endParaRPr>
          </a:p>
        </p:txBody>
      </p:sp>
      <p:sp>
        <p:nvSpPr>
          <p:cNvPr id="22" name="TextBox 21">
            <a:extLst>
              <a:ext uri="{FF2B5EF4-FFF2-40B4-BE49-F238E27FC236}">
                <a16:creationId xmlns:a16="http://schemas.microsoft.com/office/drawing/2014/main" id="{1C9E214F-550C-2785-0918-D2BF78ACAC91}"/>
              </a:ext>
            </a:extLst>
          </p:cNvPr>
          <p:cNvSpPr txBox="1"/>
          <p:nvPr/>
        </p:nvSpPr>
        <p:spPr>
          <a:xfrm>
            <a:off x="5842000" y="1231900"/>
            <a:ext cx="6883400" cy="830997"/>
          </a:xfrm>
          <a:prstGeom prst="rect">
            <a:avLst/>
          </a:prstGeom>
          <a:noFill/>
        </p:spPr>
        <p:txBody>
          <a:bodyPr wrap="square" rtlCol="0">
            <a:spAutoFit/>
          </a:bodyPr>
          <a:lstStyle/>
          <a:p>
            <a:r>
              <a:rPr lang="en-US" sz="4800" dirty="0">
                <a:ln w="0"/>
                <a:solidFill>
                  <a:schemeClr val="bg1"/>
                </a:solidFill>
                <a:effectLst>
                  <a:outerShdw blurRad="38100" dist="25400" dir="5400000" algn="ctr" rotWithShape="0">
                    <a:srgbClr val="6E747A">
                      <a:alpha val="43000"/>
                    </a:srgbClr>
                  </a:outerShdw>
                </a:effectLst>
              </a:rPr>
              <a:t>Data Cleaning</a:t>
            </a:r>
            <a:endParaRPr lang="en-US" sz="4800" dirty="0">
              <a:solidFill>
                <a:schemeClr val="bg1"/>
              </a:solidFill>
            </a:endParaRPr>
          </a:p>
        </p:txBody>
      </p:sp>
      <p:sp>
        <p:nvSpPr>
          <p:cNvPr id="24" name="TextBox 23">
            <a:extLst>
              <a:ext uri="{FF2B5EF4-FFF2-40B4-BE49-F238E27FC236}">
                <a16:creationId xmlns:a16="http://schemas.microsoft.com/office/drawing/2014/main" id="{79D47174-69BB-5D9E-A6BC-F26B6299749A}"/>
              </a:ext>
            </a:extLst>
          </p:cNvPr>
          <p:cNvSpPr txBox="1"/>
          <p:nvPr/>
        </p:nvSpPr>
        <p:spPr>
          <a:xfrm>
            <a:off x="705881" y="232514"/>
            <a:ext cx="2350642" cy="923330"/>
          </a:xfrm>
          <a:prstGeom prst="rect">
            <a:avLst/>
          </a:prstGeom>
          <a:noFill/>
          <a:ln>
            <a:noFill/>
          </a:ln>
        </p:spPr>
        <p:txBody>
          <a:bodyPr wrap="square" rtlCol="0">
            <a:spAutoFit/>
          </a:bodyPr>
          <a:lstStyle/>
          <a:p>
            <a:r>
              <a:rPr lang="en-US" sz="5400" b="1" dirty="0">
                <a:ln w="22225">
                  <a:solidFill>
                    <a:schemeClr val="accent2"/>
                  </a:solidFill>
                  <a:prstDash val="solid"/>
                </a:ln>
              </a:rPr>
              <a:t>Steps</a:t>
            </a:r>
            <a:endParaRPr lang="en-US" sz="4400" b="1" dirty="0">
              <a:ln w="22225">
                <a:solidFill>
                  <a:schemeClr val="accent2"/>
                </a:solidFill>
                <a:prstDash val="solid"/>
              </a:ln>
            </a:endParaRPr>
          </a:p>
        </p:txBody>
      </p:sp>
      <p:pic>
        <p:nvPicPr>
          <p:cNvPr id="26" name="Graphic 25" descr="Abacus with solid fill">
            <a:extLst>
              <a:ext uri="{FF2B5EF4-FFF2-40B4-BE49-F238E27FC236}">
                <a16:creationId xmlns:a16="http://schemas.microsoft.com/office/drawing/2014/main" id="{3BCAB58B-BF7E-FE8D-1A30-10DFF5FC703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2540" y="1782938"/>
            <a:ext cx="741624" cy="741624"/>
          </a:xfrm>
          <a:prstGeom prst="rect">
            <a:avLst/>
          </a:prstGeom>
        </p:spPr>
      </p:pic>
      <p:pic>
        <p:nvPicPr>
          <p:cNvPr id="3" name="Graphic 2" descr="Circles with lines with solid fill">
            <a:extLst>
              <a:ext uri="{FF2B5EF4-FFF2-40B4-BE49-F238E27FC236}">
                <a16:creationId xmlns:a16="http://schemas.microsoft.com/office/drawing/2014/main" id="{18D4C1B0-42C7-531B-086B-EF5F911EED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9800" y="2718482"/>
            <a:ext cx="1016000" cy="914400"/>
          </a:xfrm>
          <a:prstGeom prst="rect">
            <a:avLst/>
          </a:prstGeom>
        </p:spPr>
      </p:pic>
      <p:sp>
        <p:nvSpPr>
          <p:cNvPr id="2" name="TextBox 1">
            <a:extLst>
              <a:ext uri="{FF2B5EF4-FFF2-40B4-BE49-F238E27FC236}">
                <a16:creationId xmlns:a16="http://schemas.microsoft.com/office/drawing/2014/main" id="{E7C7AB97-09F4-845A-A914-0F193A7BBD3E}"/>
              </a:ext>
            </a:extLst>
          </p:cNvPr>
          <p:cNvSpPr txBox="1"/>
          <p:nvPr/>
        </p:nvSpPr>
        <p:spPr>
          <a:xfrm>
            <a:off x="4981187" y="3553938"/>
            <a:ext cx="6179968" cy="1446550"/>
          </a:xfrm>
          <a:prstGeom prst="rect">
            <a:avLst/>
          </a:prstGeom>
          <a:noFill/>
        </p:spPr>
        <p:txBody>
          <a:bodyPr wrap="square" rtlCol="0">
            <a:spAutoFit/>
          </a:bodyPr>
          <a:lstStyle/>
          <a:p>
            <a:r>
              <a:rPr lang="en-US" sz="4400" dirty="0">
                <a:ln w="0"/>
                <a:effectLst>
                  <a:outerShdw blurRad="38100" dist="19050" dir="2700000" algn="tl" rotWithShape="0">
                    <a:schemeClr val="dk1">
                      <a:alpha val="40000"/>
                    </a:schemeClr>
                  </a:outerShdw>
                </a:effectLst>
              </a:rPr>
              <a:t>Three Tools were used as Follows:</a:t>
            </a:r>
          </a:p>
        </p:txBody>
      </p:sp>
      <p:pic>
        <p:nvPicPr>
          <p:cNvPr id="5" name="Graphic 4" descr="Lightbulb and gear with solid fill">
            <a:extLst>
              <a:ext uri="{FF2B5EF4-FFF2-40B4-BE49-F238E27FC236}">
                <a16:creationId xmlns:a16="http://schemas.microsoft.com/office/drawing/2014/main" id="{D1E8E6AA-3A2A-9F48-0FA6-4B747C9E486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78922" y="4451276"/>
            <a:ext cx="1653283" cy="1742300"/>
          </a:xfrm>
          <a:prstGeom prst="rect">
            <a:avLst/>
          </a:prstGeom>
        </p:spPr>
      </p:pic>
    </p:spTree>
    <p:extLst>
      <p:ext uri="{BB962C8B-B14F-4D97-AF65-F5344CB8AC3E}">
        <p14:creationId xmlns:p14="http://schemas.microsoft.com/office/powerpoint/2010/main" val="339798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ircle: Hollow 4">
            <a:extLst>
              <a:ext uri="{FF2B5EF4-FFF2-40B4-BE49-F238E27FC236}">
                <a16:creationId xmlns:a16="http://schemas.microsoft.com/office/drawing/2014/main" id="{A1D28EF1-8921-5891-2AEC-799E9D00A326}"/>
              </a:ext>
            </a:extLst>
          </p:cNvPr>
          <p:cNvSpPr/>
          <p:nvPr/>
        </p:nvSpPr>
        <p:spPr>
          <a:xfrm>
            <a:off x="4197350" y="1587500"/>
            <a:ext cx="3213100" cy="2984500"/>
          </a:xfrm>
          <a:prstGeom prst="donut">
            <a:avLst>
              <a:gd name="adj" fmla="val 1861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Block Arc 5">
            <a:extLst>
              <a:ext uri="{FF2B5EF4-FFF2-40B4-BE49-F238E27FC236}">
                <a16:creationId xmlns:a16="http://schemas.microsoft.com/office/drawing/2014/main" id="{DC513878-96A0-4C79-59A0-E915BA5CB06B}"/>
              </a:ext>
            </a:extLst>
          </p:cNvPr>
          <p:cNvSpPr/>
          <p:nvPr/>
        </p:nvSpPr>
        <p:spPr>
          <a:xfrm>
            <a:off x="4197350" y="1587500"/>
            <a:ext cx="3213100" cy="2984500"/>
          </a:xfrm>
          <a:prstGeom prst="blockArc">
            <a:avLst>
              <a:gd name="adj1" fmla="val 10800000"/>
              <a:gd name="adj2" fmla="val 15747633"/>
              <a:gd name="adj3" fmla="val 1734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64ADE06-6752-C519-0D7C-A884E13039D9}"/>
              </a:ext>
            </a:extLst>
          </p:cNvPr>
          <p:cNvSpPr/>
          <p:nvPr/>
        </p:nvSpPr>
        <p:spPr>
          <a:xfrm>
            <a:off x="5067300" y="2409825"/>
            <a:ext cx="1495424" cy="13239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1</a:t>
            </a:r>
          </a:p>
        </p:txBody>
      </p:sp>
      <p:sp>
        <p:nvSpPr>
          <p:cNvPr id="10" name="Freeform: Shape 9">
            <a:extLst>
              <a:ext uri="{FF2B5EF4-FFF2-40B4-BE49-F238E27FC236}">
                <a16:creationId xmlns:a16="http://schemas.microsoft.com/office/drawing/2014/main" id="{3B196E4E-6C90-AC68-DEF1-A0BC789AF74B}"/>
              </a:ext>
            </a:extLst>
          </p:cNvPr>
          <p:cNvSpPr/>
          <p:nvPr/>
        </p:nvSpPr>
        <p:spPr>
          <a:xfrm>
            <a:off x="-419100" y="88900"/>
            <a:ext cx="6019800" cy="3143250"/>
          </a:xfrm>
          <a:custGeom>
            <a:avLst/>
            <a:gdLst>
              <a:gd name="connsiteX0" fmla="*/ 622312 w 8204200"/>
              <a:gd name="connsiteY0" fmla="*/ 0 h 3733800"/>
              <a:gd name="connsiteX1" fmla="*/ 7581888 w 8204200"/>
              <a:gd name="connsiteY1" fmla="*/ 0 h 3733800"/>
              <a:gd name="connsiteX2" fmla="*/ 8204200 w 8204200"/>
              <a:gd name="connsiteY2" fmla="*/ 622312 h 3733800"/>
              <a:gd name="connsiteX3" fmla="*/ 8204200 w 8204200"/>
              <a:gd name="connsiteY3" fmla="*/ 1654444 h 3733800"/>
              <a:gd name="connsiteX4" fmla="*/ 8203979 w 8204200"/>
              <a:gd name="connsiteY4" fmla="*/ 1654453 h 3733800"/>
              <a:gd name="connsiteX5" fmla="*/ 6083300 w 8204200"/>
              <a:gd name="connsiteY5" fmla="*/ 3543300 h 3733800"/>
              <a:gd name="connsiteX6" fmla="*/ 6095268 w 8204200"/>
              <a:gd name="connsiteY6" fmla="*/ 3733800 h 3733800"/>
              <a:gd name="connsiteX7" fmla="*/ 622312 w 8204200"/>
              <a:gd name="connsiteY7" fmla="*/ 3733800 h 3733800"/>
              <a:gd name="connsiteX8" fmla="*/ 0 w 8204200"/>
              <a:gd name="connsiteY8" fmla="*/ 3111488 h 3733800"/>
              <a:gd name="connsiteX9" fmla="*/ 0 w 8204200"/>
              <a:gd name="connsiteY9" fmla="*/ 622312 h 3733800"/>
              <a:gd name="connsiteX10" fmla="*/ 622312 w 8204200"/>
              <a:gd name="connsiteY10" fmla="*/ 0 h 373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04200" h="3733800">
                <a:moveTo>
                  <a:pt x="622312" y="0"/>
                </a:moveTo>
                <a:lnTo>
                  <a:pt x="7581888" y="0"/>
                </a:lnTo>
                <a:cubicBezTo>
                  <a:pt x="7925581" y="0"/>
                  <a:pt x="8204200" y="278619"/>
                  <a:pt x="8204200" y="622312"/>
                </a:cubicBezTo>
                <a:lnTo>
                  <a:pt x="8204200" y="1654444"/>
                </a:lnTo>
                <a:lnTo>
                  <a:pt x="8203979" y="1654453"/>
                </a:lnTo>
                <a:cubicBezTo>
                  <a:pt x="7012825" y="1751683"/>
                  <a:pt x="6083300" y="2560242"/>
                  <a:pt x="6083300" y="3543300"/>
                </a:cubicBezTo>
                <a:lnTo>
                  <a:pt x="6095268" y="3733800"/>
                </a:lnTo>
                <a:lnTo>
                  <a:pt x="622312" y="3733800"/>
                </a:lnTo>
                <a:cubicBezTo>
                  <a:pt x="278619" y="3733800"/>
                  <a:pt x="0" y="3455181"/>
                  <a:pt x="0" y="3111488"/>
                </a:cubicBezTo>
                <a:lnTo>
                  <a:pt x="0" y="622312"/>
                </a:lnTo>
                <a:cubicBezTo>
                  <a:pt x="0" y="278619"/>
                  <a:pt x="278619" y="0"/>
                  <a:pt x="622312"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extBox 12">
            <a:extLst>
              <a:ext uri="{FF2B5EF4-FFF2-40B4-BE49-F238E27FC236}">
                <a16:creationId xmlns:a16="http://schemas.microsoft.com/office/drawing/2014/main" id="{DCDD5AAE-127F-6BD7-B926-832908B9E77E}"/>
              </a:ext>
            </a:extLst>
          </p:cNvPr>
          <p:cNvSpPr txBox="1"/>
          <p:nvPr/>
        </p:nvSpPr>
        <p:spPr>
          <a:xfrm>
            <a:off x="-20665" y="377477"/>
            <a:ext cx="5222929" cy="1384995"/>
          </a:xfrm>
          <a:prstGeom prst="rect">
            <a:avLst/>
          </a:prstGeom>
          <a:noFill/>
        </p:spPr>
        <p:txBody>
          <a:bodyPr wrap="square" rtlCol="0">
            <a:spAutoFit/>
          </a:bodyPr>
          <a:lstStyle/>
          <a:p>
            <a:r>
              <a:rPr lang="en-US" sz="4400" b="1" dirty="0">
                <a:solidFill>
                  <a:schemeClr val="bg1"/>
                </a:solidFill>
                <a:effectLst>
                  <a:outerShdw blurRad="38100" dist="38100" dir="2700000" algn="tl">
                    <a:srgbClr val="000000">
                      <a:alpha val="43137"/>
                    </a:srgbClr>
                  </a:outerShdw>
                </a:effectLst>
              </a:rPr>
              <a:t>No missing values</a:t>
            </a:r>
          </a:p>
          <a:p>
            <a:r>
              <a:rPr lang="en-US" sz="4000" b="1" dirty="0">
                <a:solidFill>
                  <a:schemeClr val="bg1"/>
                </a:solidFill>
                <a:effectLst>
                  <a:outerShdw blurRad="38100" dist="38100" dir="2700000" algn="tl">
                    <a:srgbClr val="000000">
                      <a:alpha val="43137"/>
                    </a:srgbClr>
                  </a:outerShdw>
                </a:effectLst>
              </a:rPr>
              <a:t>(Excel – Python -SQL)</a:t>
            </a:r>
          </a:p>
        </p:txBody>
      </p:sp>
      <p:pic>
        <p:nvPicPr>
          <p:cNvPr id="17" name="Picture 16" descr="A screenshot of a computer&#10;&#10;AI-generated content may be incorrect.">
            <a:extLst>
              <a:ext uri="{FF2B5EF4-FFF2-40B4-BE49-F238E27FC236}">
                <a16:creationId xmlns:a16="http://schemas.microsoft.com/office/drawing/2014/main" id="{60DBC6FD-CC3F-370F-3D95-F74F9A16C5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4293" y="377477"/>
            <a:ext cx="4563960" cy="2850574"/>
          </a:xfrm>
          <a:prstGeom prst="rect">
            <a:avLst/>
          </a:prstGeom>
          <a:effectLst>
            <a:glow rad="63500">
              <a:srgbClr val="7030A0">
                <a:alpha val="40000"/>
              </a:srgbClr>
            </a:glow>
            <a:outerShdw blurRad="50800" dist="38100" dir="2700000" algn="tl" rotWithShape="0">
              <a:srgbClr val="7030A0">
                <a:alpha val="40000"/>
              </a:srgbClr>
            </a:outerShdw>
          </a:effectLst>
        </p:spPr>
      </p:pic>
      <p:pic>
        <p:nvPicPr>
          <p:cNvPr id="3" name="Picture 2" descr="A screenshot of a computer&#10;&#10;AI-generated content may be incorrect.">
            <a:extLst>
              <a:ext uri="{FF2B5EF4-FFF2-40B4-BE49-F238E27FC236}">
                <a16:creationId xmlns:a16="http://schemas.microsoft.com/office/drawing/2014/main" id="{C21077DC-4857-1103-8BCC-0D510EB416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788" y="3666214"/>
            <a:ext cx="4513069" cy="2984500"/>
          </a:xfrm>
          <a:prstGeom prst="rect">
            <a:avLst/>
          </a:prstGeom>
          <a:effectLst>
            <a:glow rad="63500">
              <a:srgbClr val="7030A0">
                <a:alpha val="40000"/>
              </a:srgbClr>
            </a:glow>
            <a:outerShdw blurRad="50800" dist="38100" dir="2700000" algn="tl" rotWithShape="0">
              <a:srgbClr val="7030A0">
                <a:alpha val="40000"/>
              </a:srgbClr>
            </a:outerShdw>
          </a:effectLst>
        </p:spPr>
      </p:pic>
      <p:pic>
        <p:nvPicPr>
          <p:cNvPr id="11" name="Picture 10" descr="A screenshot of a computer&#10;&#10;AI-generated content may be incorrect.">
            <a:extLst>
              <a:ext uri="{FF2B5EF4-FFF2-40B4-BE49-F238E27FC236}">
                <a16:creationId xmlns:a16="http://schemas.microsoft.com/office/drawing/2014/main" id="{37F1FF0D-9AC3-7B40-C799-87AF46F603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69790" y="3566390"/>
            <a:ext cx="4557109" cy="3184148"/>
          </a:xfrm>
          <a:prstGeom prst="rect">
            <a:avLst/>
          </a:prstGeom>
          <a:effectLst>
            <a:glow rad="63500">
              <a:srgbClr val="7030A0">
                <a:alpha val="40000"/>
              </a:srgbClr>
            </a:glow>
            <a:outerShdw blurRad="50800" dist="38100" dir="2700000" algn="tl" rotWithShape="0">
              <a:srgbClr val="7030A0">
                <a:alpha val="40000"/>
              </a:srgbClr>
            </a:outerShdw>
          </a:effectLst>
        </p:spPr>
      </p:pic>
      <p:sp>
        <p:nvSpPr>
          <p:cNvPr id="2" name="Slide Number Placeholder 1">
            <a:extLst>
              <a:ext uri="{FF2B5EF4-FFF2-40B4-BE49-F238E27FC236}">
                <a16:creationId xmlns:a16="http://schemas.microsoft.com/office/drawing/2014/main" id="{367BC097-BF2E-F217-9975-680DF56F8466}"/>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Tree>
    <p:extLst>
      <p:ext uri="{BB962C8B-B14F-4D97-AF65-F5344CB8AC3E}">
        <p14:creationId xmlns:p14="http://schemas.microsoft.com/office/powerpoint/2010/main" val="213651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30E12-8E74-9E2B-8C98-2E8B62C3D9B7}"/>
            </a:ext>
          </a:extLst>
        </p:cNvPr>
        <p:cNvGrpSpPr/>
        <p:nvPr/>
      </p:nvGrpSpPr>
      <p:grpSpPr>
        <a:xfrm>
          <a:off x="0" y="0"/>
          <a:ext cx="0" cy="0"/>
          <a:chOff x="0" y="0"/>
          <a:chExt cx="0" cy="0"/>
        </a:xfrm>
      </p:grpSpPr>
      <p:sp>
        <p:nvSpPr>
          <p:cNvPr id="5" name="Circle: Hollow 4">
            <a:extLst>
              <a:ext uri="{FF2B5EF4-FFF2-40B4-BE49-F238E27FC236}">
                <a16:creationId xmlns:a16="http://schemas.microsoft.com/office/drawing/2014/main" id="{0C66687F-918A-CDD2-0661-CFE68B8C6391}"/>
              </a:ext>
            </a:extLst>
          </p:cNvPr>
          <p:cNvSpPr/>
          <p:nvPr/>
        </p:nvSpPr>
        <p:spPr>
          <a:xfrm>
            <a:off x="3730813" y="1739899"/>
            <a:ext cx="3213100" cy="2984500"/>
          </a:xfrm>
          <a:prstGeom prst="donut">
            <a:avLst>
              <a:gd name="adj" fmla="val 1861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Block Arc 5">
            <a:extLst>
              <a:ext uri="{FF2B5EF4-FFF2-40B4-BE49-F238E27FC236}">
                <a16:creationId xmlns:a16="http://schemas.microsoft.com/office/drawing/2014/main" id="{0105D6D5-A12D-62F1-361C-23A0109F471B}"/>
              </a:ext>
            </a:extLst>
          </p:cNvPr>
          <p:cNvSpPr/>
          <p:nvPr/>
        </p:nvSpPr>
        <p:spPr>
          <a:xfrm rot="6463551">
            <a:off x="3832354" y="1936750"/>
            <a:ext cx="3213100" cy="2984500"/>
          </a:xfrm>
          <a:prstGeom prst="blockArc">
            <a:avLst>
              <a:gd name="adj1" fmla="val 10583298"/>
              <a:gd name="adj2" fmla="val 15747633"/>
              <a:gd name="adj3" fmla="val 1734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8C23487-A7C2-BE25-64E6-B5D145CE342A}"/>
              </a:ext>
            </a:extLst>
          </p:cNvPr>
          <p:cNvSpPr/>
          <p:nvPr/>
        </p:nvSpPr>
        <p:spPr>
          <a:xfrm>
            <a:off x="4600576" y="2597387"/>
            <a:ext cx="1495424" cy="13239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2</a:t>
            </a:r>
          </a:p>
        </p:txBody>
      </p:sp>
      <p:sp>
        <p:nvSpPr>
          <p:cNvPr id="10" name="Freeform: Shape 9">
            <a:extLst>
              <a:ext uri="{FF2B5EF4-FFF2-40B4-BE49-F238E27FC236}">
                <a16:creationId xmlns:a16="http://schemas.microsoft.com/office/drawing/2014/main" id="{818947B7-B0BA-FBC6-E1AA-15D84C91B346}"/>
              </a:ext>
            </a:extLst>
          </p:cNvPr>
          <p:cNvSpPr/>
          <p:nvPr/>
        </p:nvSpPr>
        <p:spPr>
          <a:xfrm flipH="1">
            <a:off x="5438904" y="265521"/>
            <a:ext cx="6616700" cy="3183115"/>
          </a:xfrm>
          <a:custGeom>
            <a:avLst/>
            <a:gdLst>
              <a:gd name="connsiteX0" fmla="*/ 622312 w 8204200"/>
              <a:gd name="connsiteY0" fmla="*/ 0 h 3733800"/>
              <a:gd name="connsiteX1" fmla="*/ 7581888 w 8204200"/>
              <a:gd name="connsiteY1" fmla="*/ 0 h 3733800"/>
              <a:gd name="connsiteX2" fmla="*/ 8204200 w 8204200"/>
              <a:gd name="connsiteY2" fmla="*/ 622312 h 3733800"/>
              <a:gd name="connsiteX3" fmla="*/ 8204200 w 8204200"/>
              <a:gd name="connsiteY3" fmla="*/ 1654444 h 3733800"/>
              <a:gd name="connsiteX4" fmla="*/ 8203979 w 8204200"/>
              <a:gd name="connsiteY4" fmla="*/ 1654453 h 3733800"/>
              <a:gd name="connsiteX5" fmla="*/ 6083300 w 8204200"/>
              <a:gd name="connsiteY5" fmla="*/ 3543300 h 3733800"/>
              <a:gd name="connsiteX6" fmla="*/ 6095268 w 8204200"/>
              <a:gd name="connsiteY6" fmla="*/ 3733800 h 3733800"/>
              <a:gd name="connsiteX7" fmla="*/ 622312 w 8204200"/>
              <a:gd name="connsiteY7" fmla="*/ 3733800 h 3733800"/>
              <a:gd name="connsiteX8" fmla="*/ 0 w 8204200"/>
              <a:gd name="connsiteY8" fmla="*/ 3111488 h 3733800"/>
              <a:gd name="connsiteX9" fmla="*/ 0 w 8204200"/>
              <a:gd name="connsiteY9" fmla="*/ 622312 h 3733800"/>
              <a:gd name="connsiteX10" fmla="*/ 622312 w 8204200"/>
              <a:gd name="connsiteY10" fmla="*/ 0 h 373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04200" h="3733800">
                <a:moveTo>
                  <a:pt x="622312" y="0"/>
                </a:moveTo>
                <a:lnTo>
                  <a:pt x="7581888" y="0"/>
                </a:lnTo>
                <a:cubicBezTo>
                  <a:pt x="7925581" y="0"/>
                  <a:pt x="8204200" y="278619"/>
                  <a:pt x="8204200" y="622312"/>
                </a:cubicBezTo>
                <a:lnTo>
                  <a:pt x="8204200" y="1654444"/>
                </a:lnTo>
                <a:lnTo>
                  <a:pt x="8203979" y="1654453"/>
                </a:lnTo>
                <a:cubicBezTo>
                  <a:pt x="7012825" y="1751683"/>
                  <a:pt x="6083300" y="2560242"/>
                  <a:pt x="6083300" y="3543300"/>
                </a:cubicBezTo>
                <a:lnTo>
                  <a:pt x="6095268" y="3733800"/>
                </a:lnTo>
                <a:lnTo>
                  <a:pt x="622312" y="3733800"/>
                </a:lnTo>
                <a:cubicBezTo>
                  <a:pt x="278619" y="3733800"/>
                  <a:pt x="0" y="3455181"/>
                  <a:pt x="0" y="3111488"/>
                </a:cubicBezTo>
                <a:lnTo>
                  <a:pt x="0" y="622312"/>
                </a:lnTo>
                <a:cubicBezTo>
                  <a:pt x="0" y="278619"/>
                  <a:pt x="278619" y="0"/>
                  <a:pt x="622312"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A6AB1807-747A-78EC-A782-97851A3D366A}"/>
              </a:ext>
            </a:extLst>
          </p:cNvPr>
          <p:cNvSpPr txBox="1"/>
          <p:nvPr/>
        </p:nvSpPr>
        <p:spPr>
          <a:xfrm>
            <a:off x="6462793" y="665964"/>
            <a:ext cx="5438492" cy="1384995"/>
          </a:xfrm>
          <a:prstGeom prst="rect">
            <a:avLst/>
          </a:prstGeom>
          <a:noFill/>
        </p:spPr>
        <p:txBody>
          <a:bodyPr wrap="square" rtlCol="0">
            <a:spAutoFit/>
          </a:bodyPr>
          <a:lstStyle/>
          <a:p>
            <a:r>
              <a:rPr lang="en-US" sz="4400" b="1" dirty="0">
                <a:solidFill>
                  <a:schemeClr val="bg1"/>
                </a:solidFill>
                <a:effectLst>
                  <a:outerShdw blurRad="38100" dist="38100" dir="2700000" algn="tl">
                    <a:srgbClr val="000000">
                      <a:alpha val="43137"/>
                    </a:srgbClr>
                  </a:outerShdw>
                </a:effectLst>
              </a:rPr>
              <a:t>No duplicated rows</a:t>
            </a:r>
          </a:p>
          <a:p>
            <a:r>
              <a:rPr lang="en-US" sz="4000" b="1" dirty="0">
                <a:solidFill>
                  <a:schemeClr val="bg1"/>
                </a:solidFill>
                <a:effectLst>
                  <a:outerShdw blurRad="38100" dist="38100" dir="2700000" algn="tl">
                    <a:srgbClr val="000000">
                      <a:alpha val="43137"/>
                    </a:srgbClr>
                  </a:outerShdw>
                </a:effectLst>
              </a:rPr>
              <a:t>(Excel – Python -SQL)</a:t>
            </a:r>
          </a:p>
        </p:txBody>
      </p:sp>
      <p:pic>
        <p:nvPicPr>
          <p:cNvPr id="15" name="Picture 14" descr="A computer screen shot of a program&#10;&#10;AI-generated content may be incorrect.">
            <a:extLst>
              <a:ext uri="{FF2B5EF4-FFF2-40B4-BE49-F238E27FC236}">
                <a16:creationId xmlns:a16="http://schemas.microsoft.com/office/drawing/2014/main" id="{92A3222D-8DB7-C7CB-1A17-D670EA1988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3463" y="3689328"/>
            <a:ext cx="4072807" cy="2903151"/>
          </a:xfrm>
          <a:prstGeom prst="rect">
            <a:avLst/>
          </a:prstGeom>
          <a:effectLst>
            <a:glow rad="63500">
              <a:srgbClr val="7030A0">
                <a:alpha val="40000"/>
              </a:srgbClr>
            </a:glow>
            <a:outerShdw blurRad="50800" dist="38100" dir="2700000" algn="tl" rotWithShape="0">
              <a:srgbClr val="7030A0">
                <a:alpha val="40000"/>
              </a:srgbClr>
            </a:outerShdw>
          </a:effectLst>
        </p:spPr>
      </p:pic>
      <p:pic>
        <p:nvPicPr>
          <p:cNvPr id="8" name="Picture 7" descr="A screenshot of a computer&#10;&#10;AI-generated content may be incorrect.">
            <a:extLst>
              <a:ext uri="{FF2B5EF4-FFF2-40B4-BE49-F238E27FC236}">
                <a16:creationId xmlns:a16="http://schemas.microsoft.com/office/drawing/2014/main" id="{8B977AAA-C84A-B26A-1D60-2113873E1C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58" y="145293"/>
            <a:ext cx="4286799" cy="2830382"/>
          </a:xfrm>
          <a:prstGeom prst="rect">
            <a:avLst/>
          </a:prstGeom>
          <a:effectLst>
            <a:glow rad="63500">
              <a:schemeClr val="accent5">
                <a:satMod val="175000"/>
                <a:alpha val="40000"/>
              </a:schemeClr>
            </a:glow>
            <a:outerShdw blurRad="50800" dist="38100" dir="2700000" algn="tl" rotWithShape="0">
              <a:srgbClr val="7030A0">
                <a:alpha val="40000"/>
              </a:srgbClr>
            </a:outerShdw>
          </a:effectLst>
        </p:spPr>
      </p:pic>
      <p:pic>
        <p:nvPicPr>
          <p:cNvPr id="18" name="Picture 17" descr="A screenshot of a computer&#10;&#10;AI-generated content may be incorrect.">
            <a:extLst>
              <a:ext uri="{FF2B5EF4-FFF2-40B4-BE49-F238E27FC236}">
                <a16:creationId xmlns:a16="http://schemas.microsoft.com/office/drawing/2014/main" id="{9C5129D3-2AE9-A058-7AFB-56A70E59FB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59" y="4731230"/>
            <a:ext cx="6528018" cy="1981477"/>
          </a:xfrm>
          <a:prstGeom prst="rect">
            <a:avLst/>
          </a:prstGeom>
          <a:effectLst>
            <a:glow rad="63500">
              <a:srgbClr val="7030A0">
                <a:alpha val="40000"/>
              </a:srgbClr>
            </a:glow>
            <a:outerShdw blurRad="50800" dist="38100" dir="2700000" algn="tl" rotWithShape="0">
              <a:srgbClr val="7030A0">
                <a:alpha val="40000"/>
              </a:srgbClr>
            </a:outerShdw>
          </a:effectLst>
        </p:spPr>
      </p:pic>
      <p:sp>
        <p:nvSpPr>
          <p:cNvPr id="2" name="Slide Number Placeholder 1">
            <a:extLst>
              <a:ext uri="{FF2B5EF4-FFF2-40B4-BE49-F238E27FC236}">
                <a16:creationId xmlns:a16="http://schemas.microsoft.com/office/drawing/2014/main" id="{91946304-F8E9-89D1-72AF-A7C9D050DAD2}"/>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spTree>
    <p:extLst>
      <p:ext uri="{BB962C8B-B14F-4D97-AF65-F5344CB8AC3E}">
        <p14:creationId xmlns:p14="http://schemas.microsoft.com/office/powerpoint/2010/main" val="1866216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DC4C9-5A12-B62F-3AC5-C4F482452399}"/>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DEE0F8F1-F44B-5904-E0EB-43C156834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506" y="473930"/>
            <a:ext cx="4317378" cy="2861107"/>
          </a:xfrm>
          <a:prstGeom prst="rect">
            <a:avLst/>
          </a:prstGeom>
          <a:effectLst>
            <a:glow rad="63500">
              <a:srgbClr val="7030A0">
                <a:alpha val="40000"/>
              </a:srgbClr>
            </a:glow>
            <a:outerShdw blurRad="50800" dist="38100" dir="2700000" algn="tl" rotWithShape="0">
              <a:srgbClr val="7030A0">
                <a:alpha val="40000"/>
              </a:srgbClr>
            </a:outerShdw>
          </a:effectLst>
        </p:spPr>
      </p:pic>
      <p:sp>
        <p:nvSpPr>
          <p:cNvPr id="10" name="Freeform: Shape 9">
            <a:extLst>
              <a:ext uri="{FF2B5EF4-FFF2-40B4-BE49-F238E27FC236}">
                <a16:creationId xmlns:a16="http://schemas.microsoft.com/office/drawing/2014/main" id="{EF5A8694-43F0-F2C9-B4D3-0A1309772DDA}"/>
              </a:ext>
            </a:extLst>
          </p:cNvPr>
          <p:cNvSpPr/>
          <p:nvPr/>
        </p:nvSpPr>
        <p:spPr>
          <a:xfrm flipV="1">
            <a:off x="5213563" y="980259"/>
            <a:ext cx="5194556" cy="2712202"/>
          </a:xfrm>
          <a:custGeom>
            <a:avLst/>
            <a:gdLst>
              <a:gd name="connsiteX0" fmla="*/ 622312 w 8204200"/>
              <a:gd name="connsiteY0" fmla="*/ 0 h 3733800"/>
              <a:gd name="connsiteX1" fmla="*/ 7581888 w 8204200"/>
              <a:gd name="connsiteY1" fmla="*/ 0 h 3733800"/>
              <a:gd name="connsiteX2" fmla="*/ 8204200 w 8204200"/>
              <a:gd name="connsiteY2" fmla="*/ 622312 h 3733800"/>
              <a:gd name="connsiteX3" fmla="*/ 8204200 w 8204200"/>
              <a:gd name="connsiteY3" fmla="*/ 1654444 h 3733800"/>
              <a:gd name="connsiteX4" fmla="*/ 8203979 w 8204200"/>
              <a:gd name="connsiteY4" fmla="*/ 1654453 h 3733800"/>
              <a:gd name="connsiteX5" fmla="*/ 6083300 w 8204200"/>
              <a:gd name="connsiteY5" fmla="*/ 3543300 h 3733800"/>
              <a:gd name="connsiteX6" fmla="*/ 6095268 w 8204200"/>
              <a:gd name="connsiteY6" fmla="*/ 3733800 h 3733800"/>
              <a:gd name="connsiteX7" fmla="*/ 622312 w 8204200"/>
              <a:gd name="connsiteY7" fmla="*/ 3733800 h 3733800"/>
              <a:gd name="connsiteX8" fmla="*/ 0 w 8204200"/>
              <a:gd name="connsiteY8" fmla="*/ 3111488 h 3733800"/>
              <a:gd name="connsiteX9" fmla="*/ 0 w 8204200"/>
              <a:gd name="connsiteY9" fmla="*/ 622312 h 3733800"/>
              <a:gd name="connsiteX10" fmla="*/ 622312 w 8204200"/>
              <a:gd name="connsiteY10" fmla="*/ 0 h 373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04200" h="3733800">
                <a:moveTo>
                  <a:pt x="622312" y="0"/>
                </a:moveTo>
                <a:lnTo>
                  <a:pt x="7581888" y="0"/>
                </a:lnTo>
                <a:cubicBezTo>
                  <a:pt x="7925581" y="0"/>
                  <a:pt x="8204200" y="278619"/>
                  <a:pt x="8204200" y="622312"/>
                </a:cubicBezTo>
                <a:lnTo>
                  <a:pt x="8204200" y="1654444"/>
                </a:lnTo>
                <a:lnTo>
                  <a:pt x="8203979" y="1654453"/>
                </a:lnTo>
                <a:cubicBezTo>
                  <a:pt x="7012825" y="1751683"/>
                  <a:pt x="6083300" y="2560242"/>
                  <a:pt x="6083300" y="3543300"/>
                </a:cubicBezTo>
                <a:lnTo>
                  <a:pt x="6095268" y="3733800"/>
                </a:lnTo>
                <a:lnTo>
                  <a:pt x="622312" y="3733800"/>
                </a:lnTo>
                <a:cubicBezTo>
                  <a:pt x="278619" y="3733800"/>
                  <a:pt x="0" y="3455181"/>
                  <a:pt x="0" y="3111488"/>
                </a:cubicBezTo>
                <a:lnTo>
                  <a:pt x="0" y="622312"/>
                </a:lnTo>
                <a:cubicBezTo>
                  <a:pt x="0" y="278619"/>
                  <a:pt x="278619" y="0"/>
                  <a:pt x="622312"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Circle: Hollow 4">
            <a:extLst>
              <a:ext uri="{FF2B5EF4-FFF2-40B4-BE49-F238E27FC236}">
                <a16:creationId xmlns:a16="http://schemas.microsoft.com/office/drawing/2014/main" id="{45C7A077-D6DE-A53C-8384-8697E189FA10}"/>
              </a:ext>
            </a:extLst>
          </p:cNvPr>
          <p:cNvSpPr/>
          <p:nvPr/>
        </p:nvSpPr>
        <p:spPr>
          <a:xfrm>
            <a:off x="9144000" y="16674"/>
            <a:ext cx="2510726" cy="2385564"/>
          </a:xfrm>
          <a:prstGeom prst="donut">
            <a:avLst>
              <a:gd name="adj" fmla="val 1861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Block Arc 5">
            <a:extLst>
              <a:ext uri="{FF2B5EF4-FFF2-40B4-BE49-F238E27FC236}">
                <a16:creationId xmlns:a16="http://schemas.microsoft.com/office/drawing/2014/main" id="{6F3A13FF-45D0-72BB-6676-3EFDBD1A7534}"/>
              </a:ext>
            </a:extLst>
          </p:cNvPr>
          <p:cNvSpPr/>
          <p:nvPr/>
        </p:nvSpPr>
        <p:spPr>
          <a:xfrm rot="17027141">
            <a:off x="9150883" y="-118952"/>
            <a:ext cx="2549832" cy="2516152"/>
          </a:xfrm>
          <a:prstGeom prst="blockArc">
            <a:avLst>
              <a:gd name="adj1" fmla="val 10078495"/>
              <a:gd name="adj2" fmla="val 15820071"/>
              <a:gd name="adj3" fmla="val 1636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86ACC9A7-5F25-2B0F-5B5C-29C2AD9A1400}"/>
              </a:ext>
            </a:extLst>
          </p:cNvPr>
          <p:cNvSpPr/>
          <p:nvPr/>
        </p:nvSpPr>
        <p:spPr>
          <a:xfrm>
            <a:off x="9950822" y="724361"/>
            <a:ext cx="997080" cy="95543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3</a:t>
            </a:r>
          </a:p>
        </p:txBody>
      </p:sp>
      <p:sp>
        <p:nvSpPr>
          <p:cNvPr id="2" name="TextBox 1">
            <a:extLst>
              <a:ext uri="{FF2B5EF4-FFF2-40B4-BE49-F238E27FC236}">
                <a16:creationId xmlns:a16="http://schemas.microsoft.com/office/drawing/2014/main" id="{E8618A12-6151-7144-B74B-A5E77F6D3E69}"/>
              </a:ext>
            </a:extLst>
          </p:cNvPr>
          <p:cNvSpPr txBox="1"/>
          <p:nvPr/>
        </p:nvSpPr>
        <p:spPr>
          <a:xfrm>
            <a:off x="5296050" y="1218397"/>
            <a:ext cx="5194555" cy="2062103"/>
          </a:xfrm>
          <a:prstGeom prst="rect">
            <a:avLst/>
          </a:prstGeom>
          <a:noFill/>
        </p:spPr>
        <p:txBody>
          <a:bodyPr wrap="square" rtlCol="0">
            <a:spAutoFit/>
          </a:bodyPr>
          <a:lstStyle/>
          <a:p>
            <a:pPr lvl="0">
              <a:defRPr/>
            </a:pPr>
            <a:r>
              <a:rPr kumimoji="0" lang="en-US" sz="4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ptos" panose="02110004020202020204"/>
                <a:ea typeface="+mn-ea"/>
                <a:cs typeface="+mn-cs"/>
              </a:rPr>
              <a:t>Renaming</a:t>
            </a:r>
          </a:p>
          <a:p>
            <a:pPr lvl="0">
              <a:defRPr/>
            </a:pPr>
            <a:r>
              <a:rPr kumimoji="0" lang="en-US" sz="4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ptos" panose="02110004020202020204"/>
                <a:ea typeface="+mn-ea"/>
                <a:cs typeface="+mn-cs"/>
              </a:rPr>
              <a:t>Variables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ptos" panose="02110004020202020204"/>
                <a:ea typeface="+mn-ea"/>
                <a:cs typeface="+mn-cs"/>
              </a:rPr>
              <a:t>(Excel – Python -SQL)</a:t>
            </a:r>
          </a:p>
        </p:txBody>
      </p:sp>
      <p:pic>
        <p:nvPicPr>
          <p:cNvPr id="9" name="Picture 8" descr="A screenshot of a computer&#10;&#10;AI-generated content may be incorrect.">
            <a:extLst>
              <a:ext uri="{FF2B5EF4-FFF2-40B4-BE49-F238E27FC236}">
                <a16:creationId xmlns:a16="http://schemas.microsoft.com/office/drawing/2014/main" id="{82228A8F-6D25-F2BB-E52C-288F087D2E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506" y="3522963"/>
            <a:ext cx="4317378" cy="3018992"/>
          </a:xfrm>
          <a:prstGeom prst="rect">
            <a:avLst/>
          </a:prstGeom>
          <a:effectLst>
            <a:glow rad="63500">
              <a:srgbClr val="7030A0">
                <a:alpha val="40000"/>
              </a:srgbClr>
            </a:glow>
            <a:outerShdw blurRad="50800" dist="38100" dir="2700000" algn="tl" rotWithShape="0">
              <a:srgbClr val="7030A0">
                <a:alpha val="40000"/>
              </a:srgbClr>
            </a:outerShdw>
          </a:effectLst>
        </p:spPr>
      </p:pic>
      <p:pic>
        <p:nvPicPr>
          <p:cNvPr id="12" name="Picture 11" descr="A screenshot of a computer&#10;&#10;AI-generated content may be incorrect.">
            <a:extLst>
              <a:ext uri="{FF2B5EF4-FFF2-40B4-BE49-F238E27FC236}">
                <a16:creationId xmlns:a16="http://schemas.microsoft.com/office/drawing/2014/main" id="{EE6C06BB-C457-5506-F592-6DD30E8F56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71715" y="3856818"/>
            <a:ext cx="5286086" cy="2712202"/>
          </a:xfrm>
          <a:prstGeom prst="rect">
            <a:avLst/>
          </a:prstGeom>
          <a:effectLst>
            <a:glow rad="63500">
              <a:srgbClr val="7030A0">
                <a:alpha val="40000"/>
              </a:srgbClr>
            </a:glow>
            <a:outerShdw blurRad="50800" dist="38100" dir="2700000" algn="tl" rotWithShape="0">
              <a:srgbClr val="7030A0">
                <a:alpha val="40000"/>
              </a:srgbClr>
            </a:outerShdw>
          </a:effectLst>
        </p:spPr>
      </p:pic>
      <p:sp>
        <p:nvSpPr>
          <p:cNvPr id="4" name="Slide Number Placeholder 3">
            <a:extLst>
              <a:ext uri="{FF2B5EF4-FFF2-40B4-BE49-F238E27FC236}">
                <a16:creationId xmlns:a16="http://schemas.microsoft.com/office/drawing/2014/main" id="{6256E23C-9558-1410-F56F-1AE157C03C53}"/>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spTree>
    <p:extLst>
      <p:ext uri="{BB962C8B-B14F-4D97-AF65-F5344CB8AC3E}">
        <p14:creationId xmlns:p14="http://schemas.microsoft.com/office/powerpoint/2010/main" val="4260839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96F86247-5E0C-77BA-46CA-8501A7BE09EF}"/>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DC9A3D15-9908-BCEB-D66E-C560A194E699}"/>
              </a:ext>
            </a:extLst>
          </p:cNvPr>
          <p:cNvGrpSpPr/>
          <p:nvPr/>
        </p:nvGrpSpPr>
        <p:grpSpPr>
          <a:xfrm rot="1541555">
            <a:off x="-2046141" y="1350203"/>
            <a:ext cx="3907172" cy="3862589"/>
            <a:chOff x="-1714500" y="1054100"/>
            <a:chExt cx="4622800" cy="4076700"/>
          </a:xfrm>
        </p:grpSpPr>
        <p:sp>
          <p:nvSpPr>
            <p:cNvPr id="13" name="Circle: Hollow 12">
              <a:extLst>
                <a:ext uri="{FF2B5EF4-FFF2-40B4-BE49-F238E27FC236}">
                  <a16:creationId xmlns:a16="http://schemas.microsoft.com/office/drawing/2014/main" id="{ACDBA282-2DE7-65E3-1E09-8FE89448D8B1}"/>
                </a:ext>
              </a:extLst>
            </p:cNvPr>
            <p:cNvSpPr/>
            <p:nvPr/>
          </p:nvSpPr>
          <p:spPr>
            <a:xfrm>
              <a:off x="-1714500" y="1054100"/>
              <a:ext cx="4622800" cy="4076700"/>
            </a:xfrm>
            <a:prstGeom prst="donut">
              <a:avLst>
                <a:gd name="adj" fmla="val 20328"/>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Block Arc 15">
              <a:extLst>
                <a:ext uri="{FF2B5EF4-FFF2-40B4-BE49-F238E27FC236}">
                  <a16:creationId xmlns:a16="http://schemas.microsoft.com/office/drawing/2014/main" id="{5605189F-FC4E-0167-9CEB-3C8E3DA682B5}"/>
                </a:ext>
              </a:extLst>
            </p:cNvPr>
            <p:cNvSpPr/>
            <p:nvPr/>
          </p:nvSpPr>
          <p:spPr>
            <a:xfrm rot="9444201">
              <a:off x="-1014428" y="1142539"/>
              <a:ext cx="3911415" cy="3604223"/>
            </a:xfrm>
            <a:prstGeom prst="blockArc">
              <a:avLst>
                <a:gd name="adj1" fmla="val 10800000"/>
                <a:gd name="adj2" fmla="val 14911070"/>
                <a:gd name="adj3" fmla="val 29888"/>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0" name="Rectangle: Rounded Corners 19">
            <a:extLst>
              <a:ext uri="{FF2B5EF4-FFF2-40B4-BE49-F238E27FC236}">
                <a16:creationId xmlns:a16="http://schemas.microsoft.com/office/drawing/2014/main" id="{C4082B99-2267-003C-D7FC-C8F42A8FCAA9}"/>
              </a:ext>
            </a:extLst>
          </p:cNvPr>
          <p:cNvSpPr/>
          <p:nvPr/>
        </p:nvSpPr>
        <p:spPr>
          <a:xfrm>
            <a:off x="4768850" y="1790699"/>
            <a:ext cx="7203410" cy="4584701"/>
          </a:xfrm>
          <a:prstGeom prst="roundRect">
            <a:avLst>
              <a:gd name="adj" fmla="val 16131"/>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9B3A004-9E32-ADB5-462F-43F60AEA6F52}"/>
              </a:ext>
            </a:extLst>
          </p:cNvPr>
          <p:cNvSpPr/>
          <p:nvPr/>
        </p:nvSpPr>
        <p:spPr>
          <a:xfrm>
            <a:off x="3416300" y="876300"/>
            <a:ext cx="7203410" cy="1498600"/>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F9BC53E-81F4-B901-03F3-08DB94E8E847}"/>
              </a:ext>
            </a:extLst>
          </p:cNvPr>
          <p:cNvSpPr/>
          <p:nvPr/>
        </p:nvSpPr>
        <p:spPr>
          <a:xfrm>
            <a:off x="3301809" y="862187"/>
            <a:ext cx="1828800" cy="1512713"/>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4</a:t>
            </a:r>
            <a:endParaRPr lang="en-US" b="1" dirty="0">
              <a:solidFill>
                <a:schemeClr val="tx1"/>
              </a:solidFill>
            </a:endParaRPr>
          </a:p>
        </p:txBody>
      </p:sp>
      <p:sp>
        <p:nvSpPr>
          <p:cNvPr id="22" name="TextBox 21">
            <a:extLst>
              <a:ext uri="{FF2B5EF4-FFF2-40B4-BE49-F238E27FC236}">
                <a16:creationId xmlns:a16="http://schemas.microsoft.com/office/drawing/2014/main" id="{D36B759F-8493-7664-144A-38B679F3D48E}"/>
              </a:ext>
            </a:extLst>
          </p:cNvPr>
          <p:cNvSpPr txBox="1"/>
          <p:nvPr/>
        </p:nvSpPr>
        <p:spPr>
          <a:xfrm>
            <a:off x="5842000" y="1231900"/>
            <a:ext cx="6883400" cy="830997"/>
          </a:xfrm>
          <a:prstGeom prst="rect">
            <a:avLst/>
          </a:prstGeom>
          <a:noFill/>
        </p:spPr>
        <p:txBody>
          <a:bodyPr wrap="square" rtlCol="0">
            <a:spAutoFit/>
          </a:bodyPr>
          <a:lstStyle/>
          <a:p>
            <a:r>
              <a:rPr lang="en-US" sz="4800" dirty="0">
                <a:ln w="0"/>
                <a:solidFill>
                  <a:schemeClr val="bg1"/>
                </a:solidFill>
                <a:effectLst>
                  <a:glow rad="101600">
                    <a:schemeClr val="accent1">
                      <a:satMod val="175000"/>
                      <a:alpha val="40000"/>
                    </a:schemeClr>
                  </a:glow>
                  <a:outerShdw blurRad="38100" dist="19050" dir="2700000" algn="tl" rotWithShape="0">
                    <a:schemeClr val="dk1">
                      <a:alpha val="40000"/>
                    </a:schemeClr>
                  </a:outerShdw>
                </a:effectLst>
                <a:latin typeface="Tw Cen MT" panose="020B0602020104020603"/>
              </a:rPr>
              <a:t>Normalization</a:t>
            </a:r>
            <a:endParaRPr lang="en-US" sz="4800" dirty="0">
              <a:ln w="0"/>
              <a:solidFill>
                <a:schemeClr val="bg1"/>
              </a:solidFill>
              <a:effectLst>
                <a:glow rad="101600">
                  <a:schemeClr val="accent1">
                    <a:satMod val="175000"/>
                    <a:alpha val="40000"/>
                  </a:schemeClr>
                </a:glow>
                <a:outerShdw blurRad="38100" dist="19050" dir="2700000" algn="tl" rotWithShape="0">
                  <a:schemeClr val="dk1">
                    <a:alpha val="40000"/>
                  </a:schemeClr>
                </a:outerShdw>
              </a:effectLst>
            </a:endParaRPr>
          </a:p>
        </p:txBody>
      </p:sp>
      <p:pic>
        <p:nvPicPr>
          <p:cNvPr id="26" name="Graphic 25" descr="Abacus with solid fill">
            <a:extLst>
              <a:ext uri="{FF2B5EF4-FFF2-40B4-BE49-F238E27FC236}">
                <a16:creationId xmlns:a16="http://schemas.microsoft.com/office/drawing/2014/main" id="{EF003A33-A437-A1B5-6EA1-13251229F9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2540" y="1782938"/>
            <a:ext cx="741624" cy="741624"/>
          </a:xfrm>
          <a:prstGeom prst="rect">
            <a:avLst/>
          </a:prstGeom>
        </p:spPr>
      </p:pic>
      <p:pic>
        <p:nvPicPr>
          <p:cNvPr id="3" name="Graphic 2" descr="Circles with lines with solid fill">
            <a:extLst>
              <a:ext uri="{FF2B5EF4-FFF2-40B4-BE49-F238E27FC236}">
                <a16:creationId xmlns:a16="http://schemas.microsoft.com/office/drawing/2014/main" id="{B1414D92-2511-08E6-D03B-C007B9DE8D1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7329" y="2463899"/>
            <a:ext cx="1016000" cy="914400"/>
          </a:xfrm>
          <a:prstGeom prst="rect">
            <a:avLst/>
          </a:prstGeom>
        </p:spPr>
      </p:pic>
      <p:pic>
        <p:nvPicPr>
          <p:cNvPr id="2" name="Picture 1">
            <a:extLst>
              <a:ext uri="{FF2B5EF4-FFF2-40B4-BE49-F238E27FC236}">
                <a16:creationId xmlns:a16="http://schemas.microsoft.com/office/drawing/2014/main" id="{D74FD42A-3F5C-E7DA-F38D-04BC70AA3D07}"/>
              </a:ext>
            </a:extLst>
          </p:cNvPr>
          <p:cNvPicPr>
            <a:picLocks noChangeAspect="1"/>
          </p:cNvPicPr>
          <p:nvPr/>
        </p:nvPicPr>
        <p:blipFill>
          <a:blip r:embed="rId6"/>
          <a:stretch>
            <a:fillRect/>
          </a:stretch>
        </p:blipFill>
        <p:spPr>
          <a:xfrm>
            <a:off x="2172098" y="2816304"/>
            <a:ext cx="4682604" cy="361130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 name="Picture 3">
            <a:extLst>
              <a:ext uri="{FF2B5EF4-FFF2-40B4-BE49-F238E27FC236}">
                <a16:creationId xmlns:a16="http://schemas.microsoft.com/office/drawing/2014/main" id="{D4EB197F-E92B-7C8E-7231-C4F5468F67CD}"/>
              </a:ext>
            </a:extLst>
          </p:cNvPr>
          <p:cNvPicPr>
            <a:picLocks noChangeAspect="1"/>
          </p:cNvPicPr>
          <p:nvPr/>
        </p:nvPicPr>
        <p:blipFill>
          <a:blip r:embed="rId7"/>
          <a:stretch>
            <a:fillRect/>
          </a:stretch>
        </p:blipFill>
        <p:spPr>
          <a:xfrm>
            <a:off x="7631376" y="2960297"/>
            <a:ext cx="4083412" cy="33158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Graphic 5" descr="Chemicals with solid fill">
            <a:extLst>
              <a:ext uri="{FF2B5EF4-FFF2-40B4-BE49-F238E27FC236}">
                <a16:creationId xmlns:a16="http://schemas.microsoft.com/office/drawing/2014/main" id="{29DF5EAE-9FBD-0037-709B-75C5D25CBD4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1054" y="3602060"/>
            <a:ext cx="914400" cy="914400"/>
          </a:xfrm>
          <a:prstGeom prst="rect">
            <a:avLst/>
          </a:prstGeom>
        </p:spPr>
      </p:pic>
    </p:spTree>
    <p:extLst>
      <p:ext uri="{BB962C8B-B14F-4D97-AF65-F5344CB8AC3E}">
        <p14:creationId xmlns:p14="http://schemas.microsoft.com/office/powerpoint/2010/main" val="2035893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B67D9-2397-882E-AB1D-039A28716243}"/>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4A69F8D5-F9B8-770F-6AFB-F9CC7ABCAC9F}"/>
              </a:ext>
            </a:extLst>
          </p:cNvPr>
          <p:cNvGrpSpPr/>
          <p:nvPr/>
        </p:nvGrpSpPr>
        <p:grpSpPr>
          <a:xfrm rot="1541555">
            <a:off x="-2046889" y="1353483"/>
            <a:ext cx="3922301" cy="3862589"/>
            <a:chOff x="-1714500" y="1054100"/>
            <a:chExt cx="4640700" cy="4076700"/>
          </a:xfrm>
        </p:grpSpPr>
        <p:sp>
          <p:nvSpPr>
            <p:cNvPr id="13" name="Circle: Hollow 12">
              <a:extLst>
                <a:ext uri="{FF2B5EF4-FFF2-40B4-BE49-F238E27FC236}">
                  <a16:creationId xmlns:a16="http://schemas.microsoft.com/office/drawing/2014/main" id="{6D1C22DA-4A14-7ED4-382A-4589C6312747}"/>
                </a:ext>
              </a:extLst>
            </p:cNvPr>
            <p:cNvSpPr/>
            <p:nvPr/>
          </p:nvSpPr>
          <p:spPr>
            <a:xfrm>
              <a:off x="-1714500" y="1054100"/>
              <a:ext cx="4622800" cy="4076700"/>
            </a:xfrm>
            <a:prstGeom prst="donut">
              <a:avLst>
                <a:gd name="adj" fmla="val 20328"/>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Block Arc 15">
              <a:extLst>
                <a:ext uri="{FF2B5EF4-FFF2-40B4-BE49-F238E27FC236}">
                  <a16:creationId xmlns:a16="http://schemas.microsoft.com/office/drawing/2014/main" id="{E55521DC-57EB-7034-EC05-79302AE486D7}"/>
                </a:ext>
              </a:extLst>
            </p:cNvPr>
            <p:cNvSpPr/>
            <p:nvPr/>
          </p:nvSpPr>
          <p:spPr>
            <a:xfrm rot="11412620">
              <a:off x="-985215" y="1484633"/>
              <a:ext cx="3911415" cy="3604223"/>
            </a:xfrm>
            <a:prstGeom prst="blockArc">
              <a:avLst>
                <a:gd name="adj1" fmla="val 10800000"/>
                <a:gd name="adj2" fmla="val 14911070"/>
                <a:gd name="adj3" fmla="val 29888"/>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0" name="Rectangle: Rounded Corners 19">
            <a:extLst>
              <a:ext uri="{FF2B5EF4-FFF2-40B4-BE49-F238E27FC236}">
                <a16:creationId xmlns:a16="http://schemas.microsoft.com/office/drawing/2014/main" id="{4870DB6C-20FB-151C-EFBB-553C256B31BD}"/>
              </a:ext>
            </a:extLst>
          </p:cNvPr>
          <p:cNvSpPr/>
          <p:nvPr/>
        </p:nvSpPr>
        <p:spPr>
          <a:xfrm>
            <a:off x="4768850" y="1790699"/>
            <a:ext cx="6883400" cy="4584701"/>
          </a:xfrm>
          <a:prstGeom prst="roundRect">
            <a:avLst>
              <a:gd name="adj" fmla="val 16131"/>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AE1A417B-D6F8-8222-66EF-401BDC07989C}"/>
              </a:ext>
            </a:extLst>
          </p:cNvPr>
          <p:cNvSpPr/>
          <p:nvPr/>
        </p:nvSpPr>
        <p:spPr>
          <a:xfrm>
            <a:off x="3416300" y="876300"/>
            <a:ext cx="7067402" cy="1498600"/>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0C4C853-418E-EFAD-C4A3-0924E73C875D}"/>
              </a:ext>
            </a:extLst>
          </p:cNvPr>
          <p:cNvSpPr/>
          <p:nvPr/>
        </p:nvSpPr>
        <p:spPr>
          <a:xfrm>
            <a:off x="3301809" y="862187"/>
            <a:ext cx="1828800" cy="1512713"/>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5</a:t>
            </a:r>
            <a:endParaRPr lang="en-US" b="1" dirty="0">
              <a:solidFill>
                <a:schemeClr val="tx1"/>
              </a:solidFill>
            </a:endParaRPr>
          </a:p>
        </p:txBody>
      </p:sp>
      <p:sp>
        <p:nvSpPr>
          <p:cNvPr id="22" name="TextBox 21">
            <a:extLst>
              <a:ext uri="{FF2B5EF4-FFF2-40B4-BE49-F238E27FC236}">
                <a16:creationId xmlns:a16="http://schemas.microsoft.com/office/drawing/2014/main" id="{5DBFDB60-7698-B6F7-88C9-7EDF61240858}"/>
              </a:ext>
            </a:extLst>
          </p:cNvPr>
          <p:cNvSpPr txBox="1"/>
          <p:nvPr/>
        </p:nvSpPr>
        <p:spPr>
          <a:xfrm>
            <a:off x="5130609" y="1240879"/>
            <a:ext cx="6883400" cy="769441"/>
          </a:xfrm>
          <a:prstGeom prst="rect">
            <a:avLst/>
          </a:prstGeom>
          <a:noFill/>
        </p:spPr>
        <p:txBody>
          <a:bodyPr wrap="square" rtlCol="0">
            <a:spAutoFit/>
          </a:bodyPr>
          <a:lstStyle/>
          <a:p>
            <a:r>
              <a:rPr lang="en-US" sz="4400" dirty="0">
                <a:ln w="0"/>
                <a:solidFill>
                  <a:schemeClr val="bg1"/>
                </a:solidFill>
                <a:effectLst>
                  <a:outerShdw blurRad="38100" dist="19050" dir="2700000" algn="tl" rotWithShape="0">
                    <a:schemeClr val="dk1">
                      <a:alpha val="40000"/>
                    </a:schemeClr>
                  </a:outerShdw>
                </a:effectLst>
              </a:rPr>
              <a:t>Analysis Questions</a:t>
            </a:r>
            <a:endParaRPr lang="en-US" sz="4400" dirty="0">
              <a:ln w="0"/>
              <a:solidFill>
                <a:schemeClr val="bg1"/>
              </a:solidFill>
              <a:effectLst>
                <a:glow rad="101600">
                  <a:schemeClr val="accent1">
                    <a:satMod val="175000"/>
                    <a:alpha val="40000"/>
                  </a:schemeClr>
                </a:glow>
                <a:outerShdw blurRad="38100" dist="19050" dir="2700000" algn="tl" rotWithShape="0">
                  <a:schemeClr val="dk1">
                    <a:alpha val="40000"/>
                  </a:schemeClr>
                </a:outerShdw>
              </a:effectLst>
            </a:endParaRPr>
          </a:p>
        </p:txBody>
      </p:sp>
      <p:pic>
        <p:nvPicPr>
          <p:cNvPr id="26" name="Graphic 25" descr="Abacus with solid fill">
            <a:extLst>
              <a:ext uri="{FF2B5EF4-FFF2-40B4-BE49-F238E27FC236}">
                <a16:creationId xmlns:a16="http://schemas.microsoft.com/office/drawing/2014/main" id="{884D3726-3FFC-2956-ED06-04841E2CDF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2540" y="1782938"/>
            <a:ext cx="741624" cy="741624"/>
          </a:xfrm>
          <a:prstGeom prst="rect">
            <a:avLst/>
          </a:prstGeom>
        </p:spPr>
      </p:pic>
      <p:pic>
        <p:nvPicPr>
          <p:cNvPr id="3" name="Graphic 2" descr="Circles with lines with solid fill">
            <a:extLst>
              <a:ext uri="{FF2B5EF4-FFF2-40B4-BE49-F238E27FC236}">
                <a16:creationId xmlns:a16="http://schemas.microsoft.com/office/drawing/2014/main" id="{327D1FA2-076D-7970-DC7E-27B292AA7D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7329" y="2463899"/>
            <a:ext cx="1016000" cy="914400"/>
          </a:xfrm>
          <a:prstGeom prst="rect">
            <a:avLst/>
          </a:prstGeom>
        </p:spPr>
      </p:pic>
      <p:pic>
        <p:nvPicPr>
          <p:cNvPr id="6" name="Graphic 5" descr="Chemicals with solid fill">
            <a:extLst>
              <a:ext uri="{FF2B5EF4-FFF2-40B4-BE49-F238E27FC236}">
                <a16:creationId xmlns:a16="http://schemas.microsoft.com/office/drawing/2014/main" id="{91ADC71B-F34D-6CDE-1B93-D198101F61F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7329" y="3378299"/>
            <a:ext cx="914400" cy="914400"/>
          </a:xfrm>
          <a:prstGeom prst="rect">
            <a:avLst/>
          </a:prstGeom>
        </p:spPr>
      </p:pic>
      <p:pic>
        <p:nvPicPr>
          <p:cNvPr id="7" name="Graphic 6" descr="Bullseye with solid fill">
            <a:extLst>
              <a:ext uri="{FF2B5EF4-FFF2-40B4-BE49-F238E27FC236}">
                <a16:creationId xmlns:a16="http://schemas.microsoft.com/office/drawing/2014/main" id="{CCE65FB0-CCC8-6038-4324-CEA16130696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94529" y="2724091"/>
            <a:ext cx="3601923" cy="3601923"/>
          </a:xfrm>
          <a:prstGeom prst="rect">
            <a:avLst/>
          </a:prstGeom>
        </p:spPr>
      </p:pic>
      <p:sp>
        <p:nvSpPr>
          <p:cNvPr id="8" name="TextBox 7">
            <a:extLst>
              <a:ext uri="{FF2B5EF4-FFF2-40B4-BE49-F238E27FC236}">
                <a16:creationId xmlns:a16="http://schemas.microsoft.com/office/drawing/2014/main" id="{92038779-6873-D7DA-9A62-D88BC071A55A}"/>
              </a:ext>
            </a:extLst>
          </p:cNvPr>
          <p:cNvSpPr txBox="1"/>
          <p:nvPr/>
        </p:nvSpPr>
        <p:spPr>
          <a:xfrm>
            <a:off x="5017077" y="2924719"/>
            <a:ext cx="6146800" cy="2554545"/>
          </a:xfrm>
          <a:prstGeom prst="rect">
            <a:avLst/>
          </a:prstGeom>
          <a:noFill/>
        </p:spPr>
        <p:txBody>
          <a:bodyPr wrap="square" rtlCol="0">
            <a:spAutoFit/>
          </a:bodyPr>
          <a:lstStyle/>
          <a:p>
            <a:pPr algn="ctr"/>
            <a:r>
              <a:rPr lang="en-US" sz="3200" b="1" dirty="0">
                <a:effectLst>
                  <a:outerShdw blurRad="38100" dist="38100" dir="2700000" algn="tl">
                    <a:srgbClr val="000000">
                      <a:alpha val="43137"/>
                    </a:srgbClr>
                  </a:outerShdw>
                </a:effectLst>
                <a:latin typeface="Aptos" panose="020B0004020202020204" pitchFamily="34" charset="0"/>
                <a:cs typeface="Angsana New" panose="02020603050405020304" pitchFamily="18" charset="-34"/>
              </a:rPr>
              <a:t>Main Goal: deliver the correct orders to right place on time with no errors or returns with low costs to get higher customer satisfaction.</a:t>
            </a:r>
          </a:p>
        </p:txBody>
      </p:sp>
      <p:pic>
        <p:nvPicPr>
          <p:cNvPr id="2" name="Graphic 1" descr="Bullseye with solid fill">
            <a:extLst>
              <a:ext uri="{FF2B5EF4-FFF2-40B4-BE49-F238E27FC236}">
                <a16:creationId xmlns:a16="http://schemas.microsoft.com/office/drawing/2014/main" id="{2F00456E-0672-C7D4-55D0-1F6B8E61D09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066" y="4299489"/>
            <a:ext cx="846947" cy="846947"/>
          </a:xfrm>
          <a:prstGeom prst="rect">
            <a:avLst/>
          </a:prstGeom>
        </p:spPr>
      </p:pic>
    </p:spTree>
    <p:extLst>
      <p:ext uri="{BB962C8B-B14F-4D97-AF65-F5344CB8AC3E}">
        <p14:creationId xmlns:p14="http://schemas.microsoft.com/office/powerpoint/2010/main" val="23286548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A4811551-5957-581E-FA23-2C36348F8B83}"/>
              </a:ext>
            </a:extLst>
          </p:cNvPr>
          <p:cNvGrpSpPr/>
          <p:nvPr/>
        </p:nvGrpSpPr>
        <p:grpSpPr>
          <a:xfrm rot="20933669">
            <a:off x="4636138" y="261926"/>
            <a:ext cx="3299637" cy="5284381"/>
            <a:chOff x="7935433" y="871870"/>
            <a:chExt cx="3299637" cy="5284381"/>
          </a:xfrm>
          <a:effectLst>
            <a:outerShdw blurRad="63500" sx="102000" sy="102000" algn="ctr" rotWithShape="0">
              <a:prstClr val="black">
                <a:alpha val="40000"/>
              </a:prstClr>
            </a:outerShdw>
          </a:effectLst>
        </p:grpSpPr>
        <p:sp>
          <p:nvSpPr>
            <p:cNvPr id="10" name="Rectangle: Rounded Corners 9">
              <a:extLst>
                <a:ext uri="{FF2B5EF4-FFF2-40B4-BE49-F238E27FC236}">
                  <a16:creationId xmlns:a16="http://schemas.microsoft.com/office/drawing/2014/main" id="{0492E546-D9F1-629B-3B50-FD22CD354919}"/>
                </a:ext>
              </a:extLst>
            </p:cNvPr>
            <p:cNvSpPr/>
            <p:nvPr/>
          </p:nvSpPr>
          <p:spPr>
            <a:xfrm>
              <a:off x="7935433" y="871870"/>
              <a:ext cx="3299637" cy="5284381"/>
            </a:xfrm>
            <a:prstGeom prst="roundRect">
              <a:avLst>
                <a:gd name="adj" fmla="val 7995"/>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F9F8469-33EF-2301-F8E5-11E13B7CECF0}"/>
                </a:ext>
              </a:extLst>
            </p:cNvPr>
            <p:cNvSpPr txBox="1"/>
            <p:nvPr/>
          </p:nvSpPr>
          <p:spPr>
            <a:xfrm>
              <a:off x="8474149" y="1648047"/>
              <a:ext cx="2477386" cy="923330"/>
            </a:xfrm>
            <a:prstGeom prst="rect">
              <a:avLst/>
            </a:prstGeom>
            <a:noFill/>
          </p:spPr>
          <p:txBody>
            <a:bodyPr wrap="square" rtlCol="0">
              <a:spAutoFit/>
            </a:bodyPr>
            <a:lstStyle/>
            <a:p>
              <a:pPr algn="ctr"/>
              <a:r>
                <a:rPr lang="en-US" sz="5400" dirty="0">
                  <a:solidFill>
                    <a:schemeClr val="bg1"/>
                  </a:solidFill>
                </a:rPr>
                <a:t>3</a:t>
              </a:r>
            </a:p>
          </p:txBody>
        </p:sp>
        <p:sp>
          <p:nvSpPr>
            <p:cNvPr id="13" name="TextBox 12">
              <a:extLst>
                <a:ext uri="{FF2B5EF4-FFF2-40B4-BE49-F238E27FC236}">
                  <a16:creationId xmlns:a16="http://schemas.microsoft.com/office/drawing/2014/main" id="{E4EF59F6-450E-B908-CF48-CEB2C857BA12}"/>
                </a:ext>
              </a:extLst>
            </p:cNvPr>
            <p:cNvSpPr txBox="1"/>
            <p:nvPr/>
          </p:nvSpPr>
          <p:spPr>
            <a:xfrm>
              <a:off x="8373139" y="3020404"/>
              <a:ext cx="2424224" cy="1938992"/>
            </a:xfrm>
            <a:prstGeom prst="rect">
              <a:avLst/>
            </a:prstGeom>
            <a:noFill/>
          </p:spPr>
          <p:txBody>
            <a:bodyPr wrap="square" rtlCol="0">
              <a:spAutoFit/>
            </a:bodyPr>
            <a:lstStyle/>
            <a:p>
              <a:pPr algn="ctr"/>
              <a:r>
                <a:rPr lang="en-US" sz="5400" dirty="0" err="1">
                  <a:solidFill>
                    <a:schemeClr val="bg1"/>
                  </a:solidFill>
                </a:rPr>
                <a:t>Secand</a:t>
              </a:r>
              <a:r>
                <a:rPr lang="en-US" sz="6000" dirty="0">
                  <a:solidFill>
                    <a:schemeClr val="bg1"/>
                  </a:solidFill>
                </a:rPr>
                <a:t> Title</a:t>
              </a:r>
            </a:p>
          </p:txBody>
        </p:sp>
      </p:grpSp>
      <p:grpSp>
        <p:nvGrpSpPr>
          <p:cNvPr id="14" name="Group 13">
            <a:extLst>
              <a:ext uri="{FF2B5EF4-FFF2-40B4-BE49-F238E27FC236}">
                <a16:creationId xmlns:a16="http://schemas.microsoft.com/office/drawing/2014/main" id="{52FD731D-F6DF-E752-4787-5E58F065E8F1}"/>
              </a:ext>
            </a:extLst>
          </p:cNvPr>
          <p:cNvGrpSpPr/>
          <p:nvPr/>
        </p:nvGrpSpPr>
        <p:grpSpPr>
          <a:xfrm>
            <a:off x="4549475" y="261925"/>
            <a:ext cx="3381154" cy="5284381"/>
            <a:chOff x="3880884" y="871870"/>
            <a:chExt cx="3381154" cy="5284381"/>
          </a:xfrm>
          <a:effectLst>
            <a:outerShdw blurRad="63500" sx="102000" sy="102000" algn="ctr" rotWithShape="0">
              <a:prstClr val="black">
                <a:alpha val="40000"/>
              </a:prstClr>
            </a:outerShdw>
          </a:effectLst>
        </p:grpSpPr>
        <p:sp>
          <p:nvSpPr>
            <p:cNvPr id="7" name="Rectangle: Rounded Corners 6">
              <a:extLst>
                <a:ext uri="{FF2B5EF4-FFF2-40B4-BE49-F238E27FC236}">
                  <a16:creationId xmlns:a16="http://schemas.microsoft.com/office/drawing/2014/main" id="{DBA4D5FA-76DB-6C2F-14ED-CE0EF188947B}"/>
                </a:ext>
              </a:extLst>
            </p:cNvPr>
            <p:cNvSpPr/>
            <p:nvPr/>
          </p:nvSpPr>
          <p:spPr>
            <a:xfrm>
              <a:off x="3880884" y="871870"/>
              <a:ext cx="3381154" cy="5284381"/>
            </a:xfrm>
            <a:prstGeom prst="roundRect">
              <a:avLst>
                <a:gd name="adj" fmla="val 7995"/>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C12487A-95EE-2E83-7EEA-8996796C3802}"/>
                </a:ext>
              </a:extLst>
            </p:cNvPr>
            <p:cNvSpPr txBox="1"/>
            <p:nvPr/>
          </p:nvSpPr>
          <p:spPr>
            <a:xfrm>
              <a:off x="4359349" y="1348081"/>
              <a:ext cx="2424224" cy="1015663"/>
            </a:xfrm>
            <a:prstGeom prst="rect">
              <a:avLst/>
            </a:prstGeom>
            <a:noFill/>
          </p:spPr>
          <p:txBody>
            <a:bodyPr wrap="square" rtlCol="0">
              <a:spAutoFit/>
            </a:bodyPr>
            <a:lstStyle/>
            <a:p>
              <a:pPr algn="ctr"/>
              <a:r>
                <a:rPr lang="en-US" sz="6000" dirty="0">
                  <a:solidFill>
                    <a:schemeClr val="bg1"/>
                  </a:solidFill>
                </a:rPr>
                <a:t>2</a:t>
              </a:r>
            </a:p>
          </p:txBody>
        </p:sp>
        <p:sp>
          <p:nvSpPr>
            <p:cNvPr id="9" name="TextBox 8">
              <a:extLst>
                <a:ext uri="{FF2B5EF4-FFF2-40B4-BE49-F238E27FC236}">
                  <a16:creationId xmlns:a16="http://schemas.microsoft.com/office/drawing/2014/main" id="{5CE832D1-6655-8D91-C213-35AC9AE837CF}"/>
                </a:ext>
              </a:extLst>
            </p:cNvPr>
            <p:cNvSpPr txBox="1"/>
            <p:nvPr/>
          </p:nvSpPr>
          <p:spPr>
            <a:xfrm>
              <a:off x="4265427" y="3020404"/>
              <a:ext cx="2424224" cy="1938992"/>
            </a:xfrm>
            <a:prstGeom prst="rect">
              <a:avLst/>
            </a:prstGeom>
            <a:noFill/>
          </p:spPr>
          <p:txBody>
            <a:bodyPr wrap="square" rtlCol="0">
              <a:spAutoFit/>
            </a:bodyPr>
            <a:lstStyle/>
            <a:p>
              <a:pPr algn="ctr"/>
              <a:r>
                <a:rPr lang="en-US" sz="6000" dirty="0">
                  <a:solidFill>
                    <a:schemeClr val="bg1"/>
                  </a:solidFill>
                </a:rPr>
                <a:t>Third Title</a:t>
              </a:r>
            </a:p>
          </p:txBody>
        </p:sp>
      </p:grpSp>
      <p:grpSp>
        <p:nvGrpSpPr>
          <p:cNvPr id="5" name="Group 4">
            <a:extLst>
              <a:ext uri="{FF2B5EF4-FFF2-40B4-BE49-F238E27FC236}">
                <a16:creationId xmlns:a16="http://schemas.microsoft.com/office/drawing/2014/main" id="{82B976E4-2CC6-234A-7890-EB58AFD222A6}"/>
              </a:ext>
            </a:extLst>
          </p:cNvPr>
          <p:cNvGrpSpPr/>
          <p:nvPr/>
        </p:nvGrpSpPr>
        <p:grpSpPr>
          <a:xfrm rot="788013">
            <a:off x="4638795" y="396078"/>
            <a:ext cx="3294321" cy="5284381"/>
            <a:chOff x="4134293" y="701748"/>
            <a:chExt cx="3923414" cy="5284381"/>
          </a:xfrm>
          <a:solidFill>
            <a:schemeClr val="accent2">
              <a:lumMod val="75000"/>
            </a:schemeClr>
          </a:solidFill>
          <a:effectLst>
            <a:outerShdw blurRad="63500" sx="102000" sy="102000" algn="ctr" rotWithShape="0">
              <a:prstClr val="black">
                <a:alpha val="40000"/>
              </a:prstClr>
            </a:outerShdw>
          </a:effectLst>
        </p:grpSpPr>
        <p:sp>
          <p:nvSpPr>
            <p:cNvPr id="2" name="Rectangle: Rounded Corners 1">
              <a:extLst>
                <a:ext uri="{FF2B5EF4-FFF2-40B4-BE49-F238E27FC236}">
                  <a16:creationId xmlns:a16="http://schemas.microsoft.com/office/drawing/2014/main" id="{1869A59D-2D46-5D60-1DB7-5DBC806818C3}"/>
                </a:ext>
              </a:extLst>
            </p:cNvPr>
            <p:cNvSpPr/>
            <p:nvPr/>
          </p:nvSpPr>
          <p:spPr>
            <a:xfrm>
              <a:off x="4134293" y="701748"/>
              <a:ext cx="3923414" cy="5284381"/>
            </a:xfrm>
            <a:prstGeom prst="roundRect">
              <a:avLst>
                <a:gd name="adj" fmla="val 799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6890CF-0012-743C-5BCC-D1AF40BD99C8}"/>
                </a:ext>
              </a:extLst>
            </p:cNvPr>
            <p:cNvSpPr txBox="1"/>
            <p:nvPr/>
          </p:nvSpPr>
          <p:spPr>
            <a:xfrm>
              <a:off x="4742121" y="1052623"/>
              <a:ext cx="2828261" cy="1107996"/>
            </a:xfrm>
            <a:prstGeom prst="rect">
              <a:avLst/>
            </a:prstGeom>
            <a:grpFill/>
          </p:spPr>
          <p:txBody>
            <a:bodyPr wrap="square" rtlCol="0">
              <a:spAutoFit/>
            </a:bodyPr>
            <a:lstStyle/>
            <a:p>
              <a:pPr algn="ctr"/>
              <a:r>
                <a:rPr lang="en-US" sz="6600" b="1" dirty="0">
                  <a:solidFill>
                    <a:schemeClr val="bg1"/>
                  </a:solidFill>
                </a:rPr>
                <a:t>1</a:t>
              </a:r>
              <a:endParaRPr lang="en-US" b="1" dirty="0">
                <a:solidFill>
                  <a:schemeClr val="bg1"/>
                </a:solidFill>
              </a:endParaRPr>
            </a:p>
          </p:txBody>
        </p:sp>
        <p:sp>
          <p:nvSpPr>
            <p:cNvPr id="4" name="TextBox 3">
              <a:extLst>
                <a:ext uri="{FF2B5EF4-FFF2-40B4-BE49-F238E27FC236}">
                  <a16:creationId xmlns:a16="http://schemas.microsoft.com/office/drawing/2014/main" id="{85A9E454-3F30-3BB0-E8C7-7D0B6B2CB530}"/>
                </a:ext>
              </a:extLst>
            </p:cNvPr>
            <p:cNvSpPr txBox="1"/>
            <p:nvPr/>
          </p:nvSpPr>
          <p:spPr>
            <a:xfrm>
              <a:off x="4742121" y="2090172"/>
              <a:ext cx="2828261" cy="2677656"/>
            </a:xfrm>
            <a:prstGeom prst="rect">
              <a:avLst/>
            </a:prstGeom>
            <a:grpFill/>
          </p:spPr>
          <p:txBody>
            <a:bodyPr wrap="square" rtlCol="0">
              <a:spAutoFit/>
            </a:bodyPr>
            <a:lstStyle/>
            <a:p>
              <a:pPr algn="ctr"/>
              <a:r>
                <a:rPr lang="en-US" sz="2800" b="1" dirty="0">
                  <a:solidFill>
                    <a:schemeClr val="bg1"/>
                  </a:solidFill>
                </a:rPr>
                <a:t>Efficiency of Inventory Management service level (stock – availability).</a:t>
              </a:r>
              <a:endParaRPr lang="en-US" sz="2800" dirty="0">
                <a:solidFill>
                  <a:schemeClr val="bg1"/>
                </a:solidFill>
              </a:endParaRPr>
            </a:p>
          </p:txBody>
        </p:sp>
      </p:grpSp>
      <p:sp>
        <p:nvSpPr>
          <p:cNvPr id="16" name="TextBox 15">
            <a:extLst>
              <a:ext uri="{FF2B5EF4-FFF2-40B4-BE49-F238E27FC236}">
                <a16:creationId xmlns:a16="http://schemas.microsoft.com/office/drawing/2014/main" id="{08B1A21A-A563-E61E-CD6D-D894059F59BD}"/>
              </a:ext>
            </a:extLst>
          </p:cNvPr>
          <p:cNvSpPr txBox="1"/>
          <p:nvPr/>
        </p:nvSpPr>
        <p:spPr>
          <a:xfrm>
            <a:off x="331533" y="1085991"/>
            <a:ext cx="3111394" cy="2800767"/>
          </a:xfrm>
          <a:prstGeom prst="rect">
            <a:avLst/>
          </a:prstGeom>
          <a:noFill/>
        </p:spPr>
        <p:txBody>
          <a:bodyPr wrap="square" rtlCol="0">
            <a:spAutoFit/>
          </a:bodyPr>
          <a:lstStyle/>
          <a:p>
            <a:r>
              <a:rPr lang="en-US" sz="4400" b="1" dirty="0">
                <a:ln w="22225">
                  <a:solidFill>
                    <a:schemeClr val="accent2"/>
                  </a:solidFill>
                  <a:prstDash val="solid"/>
                </a:ln>
                <a:solidFill>
                  <a:schemeClr val="accent2">
                    <a:lumMod val="40000"/>
                    <a:lumOff val="60000"/>
                  </a:schemeClr>
                </a:solidFill>
              </a:rPr>
              <a:t>4</a:t>
            </a:r>
            <a:r>
              <a:rPr lang="ar-EG" sz="4400" b="1" dirty="0">
                <a:ln w="22225">
                  <a:solidFill>
                    <a:schemeClr val="accent2"/>
                  </a:solidFill>
                  <a:prstDash val="solid"/>
                </a:ln>
                <a:solidFill>
                  <a:schemeClr val="accent2">
                    <a:lumMod val="40000"/>
                    <a:lumOff val="60000"/>
                  </a:schemeClr>
                </a:solidFill>
              </a:rPr>
              <a:t>-</a:t>
            </a:r>
            <a:r>
              <a:rPr lang="en-US" sz="4400" b="1" dirty="0">
                <a:ln w="22225">
                  <a:solidFill>
                    <a:schemeClr val="accent2"/>
                  </a:solidFill>
                  <a:prstDash val="solid"/>
                </a:ln>
                <a:solidFill>
                  <a:schemeClr val="accent2">
                    <a:lumMod val="40000"/>
                    <a:lumOff val="60000"/>
                  </a:schemeClr>
                </a:solidFill>
              </a:rPr>
              <a:t> Analysis Questions</a:t>
            </a:r>
          </a:p>
          <a:p>
            <a:endParaRPr lang="en-US" sz="4400" b="1" dirty="0">
              <a:ln w="22225">
                <a:solidFill>
                  <a:schemeClr val="accent2"/>
                </a:solidFill>
                <a:prstDash val="solid"/>
              </a:ln>
              <a:solidFill>
                <a:schemeClr val="accent2">
                  <a:lumMod val="40000"/>
                  <a:lumOff val="60000"/>
                </a:schemeClr>
              </a:solidFill>
            </a:endParaRPr>
          </a:p>
        </p:txBody>
      </p:sp>
      <p:sp>
        <p:nvSpPr>
          <p:cNvPr id="6" name="Slide Number Placeholder 5">
            <a:extLst>
              <a:ext uri="{FF2B5EF4-FFF2-40B4-BE49-F238E27FC236}">
                <a16:creationId xmlns:a16="http://schemas.microsoft.com/office/drawing/2014/main" id="{F43EA74C-4F63-6ADE-3CF9-2628664A2E93}"/>
              </a:ext>
            </a:extLst>
          </p:cNvPr>
          <p:cNvSpPr>
            <a:spLocks noGrp="1"/>
          </p:cNvSpPr>
          <p:nvPr>
            <p:ph type="sldNum" sz="quarter" idx="12"/>
          </p:nvPr>
        </p:nvSpPr>
        <p:spPr/>
        <p:txBody>
          <a:bodyPr/>
          <a:lstStyle/>
          <a:p>
            <a:fld id="{C263D6C4-4840-40CC-AC84-17E24B3B7BDE}" type="slidenum">
              <a:rPr lang="en-US" noProof="0" smtClean="0"/>
              <a:pPr/>
              <a:t>17</a:t>
            </a:fld>
            <a:endParaRPr lang="en-US" noProof="0" dirty="0"/>
          </a:p>
        </p:txBody>
      </p:sp>
    </p:spTree>
    <p:extLst>
      <p:ext uri="{BB962C8B-B14F-4D97-AF65-F5344CB8AC3E}">
        <p14:creationId xmlns:p14="http://schemas.microsoft.com/office/powerpoint/2010/main" val="245012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0-#ppt_h/2"/>
                                          </p:val>
                                        </p:tav>
                                        <p:tav tm="100000">
                                          <p:val>
                                            <p:strVal val="#ppt_y"/>
                                          </p:val>
                                        </p:tav>
                                      </p:tavLst>
                                    </p:anim>
                                  </p:childTnLst>
                                </p:cTn>
                              </p:par>
                              <p:par>
                                <p:cTn id="17" presetID="26"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down)">
                                      <p:cBhvr>
                                        <p:cTn id="19" dur="580">
                                          <p:stCondLst>
                                            <p:cond delay="0"/>
                                          </p:stCondLst>
                                        </p:cTn>
                                        <p:tgtEl>
                                          <p:spTgt spid="16"/>
                                        </p:tgtEl>
                                      </p:cBhvr>
                                    </p:animEffect>
                                    <p:anim calcmode="lin" valueType="num">
                                      <p:cBhvr>
                                        <p:cTn id="20"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25" dur="26">
                                          <p:stCondLst>
                                            <p:cond delay="650"/>
                                          </p:stCondLst>
                                        </p:cTn>
                                        <p:tgtEl>
                                          <p:spTgt spid="16"/>
                                        </p:tgtEl>
                                      </p:cBhvr>
                                      <p:to x="100000" y="60000"/>
                                    </p:animScale>
                                    <p:animScale>
                                      <p:cBhvr>
                                        <p:cTn id="26" dur="166" decel="50000">
                                          <p:stCondLst>
                                            <p:cond delay="676"/>
                                          </p:stCondLst>
                                        </p:cTn>
                                        <p:tgtEl>
                                          <p:spTgt spid="16"/>
                                        </p:tgtEl>
                                      </p:cBhvr>
                                      <p:to x="100000" y="100000"/>
                                    </p:animScale>
                                    <p:animScale>
                                      <p:cBhvr>
                                        <p:cTn id="27" dur="26">
                                          <p:stCondLst>
                                            <p:cond delay="1312"/>
                                          </p:stCondLst>
                                        </p:cTn>
                                        <p:tgtEl>
                                          <p:spTgt spid="16"/>
                                        </p:tgtEl>
                                      </p:cBhvr>
                                      <p:to x="100000" y="80000"/>
                                    </p:animScale>
                                    <p:animScale>
                                      <p:cBhvr>
                                        <p:cTn id="28" dur="166" decel="50000">
                                          <p:stCondLst>
                                            <p:cond delay="1338"/>
                                          </p:stCondLst>
                                        </p:cTn>
                                        <p:tgtEl>
                                          <p:spTgt spid="16"/>
                                        </p:tgtEl>
                                      </p:cBhvr>
                                      <p:to x="100000" y="100000"/>
                                    </p:animScale>
                                    <p:animScale>
                                      <p:cBhvr>
                                        <p:cTn id="29" dur="26">
                                          <p:stCondLst>
                                            <p:cond delay="1642"/>
                                          </p:stCondLst>
                                        </p:cTn>
                                        <p:tgtEl>
                                          <p:spTgt spid="16"/>
                                        </p:tgtEl>
                                      </p:cBhvr>
                                      <p:to x="100000" y="90000"/>
                                    </p:animScale>
                                    <p:animScale>
                                      <p:cBhvr>
                                        <p:cTn id="30" dur="166" decel="50000">
                                          <p:stCondLst>
                                            <p:cond delay="1668"/>
                                          </p:stCondLst>
                                        </p:cTn>
                                        <p:tgtEl>
                                          <p:spTgt spid="16"/>
                                        </p:tgtEl>
                                      </p:cBhvr>
                                      <p:to x="100000" y="100000"/>
                                    </p:animScale>
                                    <p:animScale>
                                      <p:cBhvr>
                                        <p:cTn id="31" dur="26">
                                          <p:stCondLst>
                                            <p:cond delay="1808"/>
                                          </p:stCondLst>
                                        </p:cTn>
                                        <p:tgtEl>
                                          <p:spTgt spid="16"/>
                                        </p:tgtEl>
                                      </p:cBhvr>
                                      <p:to x="100000" y="95000"/>
                                    </p:animScale>
                                    <p:animScale>
                                      <p:cBhvr>
                                        <p:cTn id="32" dur="166" decel="50000">
                                          <p:stCondLst>
                                            <p:cond delay="1834"/>
                                          </p:stCondLst>
                                        </p:cTn>
                                        <p:tgtEl>
                                          <p:spTgt spid="1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83DBF-C62B-5891-4049-19A5373FEDFD}"/>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4DF1785-FC52-AF03-9B02-C639DBCF454B}"/>
              </a:ext>
            </a:extLst>
          </p:cNvPr>
          <p:cNvGrpSpPr/>
          <p:nvPr/>
        </p:nvGrpSpPr>
        <p:grpSpPr>
          <a:xfrm rot="20933669">
            <a:off x="4636138" y="261926"/>
            <a:ext cx="3299637" cy="5284381"/>
            <a:chOff x="7935433" y="871870"/>
            <a:chExt cx="3299637" cy="5284381"/>
          </a:xfrm>
          <a:effectLst>
            <a:outerShdw blurRad="63500" sx="102000" sy="102000" algn="ctr" rotWithShape="0">
              <a:prstClr val="black">
                <a:alpha val="40000"/>
              </a:prstClr>
            </a:outerShdw>
          </a:effectLst>
        </p:grpSpPr>
        <p:sp>
          <p:nvSpPr>
            <p:cNvPr id="10" name="Rectangle: Rounded Corners 9">
              <a:extLst>
                <a:ext uri="{FF2B5EF4-FFF2-40B4-BE49-F238E27FC236}">
                  <a16:creationId xmlns:a16="http://schemas.microsoft.com/office/drawing/2014/main" id="{5CB4D39B-05B5-F2EA-8F2A-C1AFCA80D505}"/>
                </a:ext>
              </a:extLst>
            </p:cNvPr>
            <p:cNvSpPr/>
            <p:nvPr/>
          </p:nvSpPr>
          <p:spPr>
            <a:xfrm>
              <a:off x="7935433" y="871870"/>
              <a:ext cx="3299637" cy="5284381"/>
            </a:xfrm>
            <a:prstGeom prst="roundRect">
              <a:avLst>
                <a:gd name="adj" fmla="val 7995"/>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879AEDD-2CB0-A3ED-1798-1C7C17247548}"/>
                </a:ext>
              </a:extLst>
            </p:cNvPr>
            <p:cNvSpPr txBox="1"/>
            <p:nvPr/>
          </p:nvSpPr>
          <p:spPr>
            <a:xfrm>
              <a:off x="8474149" y="1648047"/>
              <a:ext cx="2477386" cy="923330"/>
            </a:xfrm>
            <a:prstGeom prst="rect">
              <a:avLst/>
            </a:prstGeom>
            <a:noFill/>
          </p:spPr>
          <p:txBody>
            <a:bodyPr wrap="square" rtlCol="0">
              <a:spAutoFit/>
            </a:bodyPr>
            <a:lstStyle/>
            <a:p>
              <a:pPr algn="ctr"/>
              <a:r>
                <a:rPr lang="en-US" sz="5400" dirty="0">
                  <a:solidFill>
                    <a:schemeClr val="bg1"/>
                  </a:solidFill>
                </a:rPr>
                <a:t>3</a:t>
              </a:r>
            </a:p>
          </p:txBody>
        </p:sp>
        <p:sp>
          <p:nvSpPr>
            <p:cNvPr id="13" name="TextBox 12">
              <a:extLst>
                <a:ext uri="{FF2B5EF4-FFF2-40B4-BE49-F238E27FC236}">
                  <a16:creationId xmlns:a16="http://schemas.microsoft.com/office/drawing/2014/main" id="{1E8A3630-5188-DE68-3DA3-44639E805168}"/>
                </a:ext>
              </a:extLst>
            </p:cNvPr>
            <p:cNvSpPr txBox="1"/>
            <p:nvPr/>
          </p:nvSpPr>
          <p:spPr>
            <a:xfrm>
              <a:off x="8373139" y="3020404"/>
              <a:ext cx="2424224" cy="1938992"/>
            </a:xfrm>
            <a:prstGeom prst="rect">
              <a:avLst/>
            </a:prstGeom>
            <a:noFill/>
          </p:spPr>
          <p:txBody>
            <a:bodyPr wrap="square" rtlCol="0">
              <a:spAutoFit/>
            </a:bodyPr>
            <a:lstStyle/>
            <a:p>
              <a:pPr algn="ctr"/>
              <a:r>
                <a:rPr lang="en-US" sz="5400" dirty="0" err="1">
                  <a:solidFill>
                    <a:schemeClr val="bg1"/>
                  </a:solidFill>
                </a:rPr>
                <a:t>Secand</a:t>
              </a:r>
              <a:r>
                <a:rPr lang="en-US" sz="6000" dirty="0">
                  <a:solidFill>
                    <a:schemeClr val="bg1"/>
                  </a:solidFill>
                </a:rPr>
                <a:t> Title</a:t>
              </a:r>
            </a:p>
          </p:txBody>
        </p:sp>
      </p:grpSp>
      <p:grpSp>
        <p:nvGrpSpPr>
          <p:cNvPr id="14" name="Group 13">
            <a:extLst>
              <a:ext uri="{FF2B5EF4-FFF2-40B4-BE49-F238E27FC236}">
                <a16:creationId xmlns:a16="http://schemas.microsoft.com/office/drawing/2014/main" id="{335757C4-C79A-CB4A-5979-CFFF90BD2FDD}"/>
              </a:ext>
            </a:extLst>
          </p:cNvPr>
          <p:cNvGrpSpPr/>
          <p:nvPr/>
        </p:nvGrpSpPr>
        <p:grpSpPr>
          <a:xfrm>
            <a:off x="4549475" y="261925"/>
            <a:ext cx="3381154" cy="5284381"/>
            <a:chOff x="3880884" y="871870"/>
            <a:chExt cx="3381154" cy="5284381"/>
          </a:xfrm>
          <a:effectLst>
            <a:outerShdw blurRad="63500" sx="102000" sy="102000" algn="ctr" rotWithShape="0">
              <a:prstClr val="black">
                <a:alpha val="40000"/>
              </a:prstClr>
            </a:outerShdw>
          </a:effectLst>
        </p:grpSpPr>
        <p:sp>
          <p:nvSpPr>
            <p:cNvPr id="7" name="Rectangle: Rounded Corners 6">
              <a:extLst>
                <a:ext uri="{FF2B5EF4-FFF2-40B4-BE49-F238E27FC236}">
                  <a16:creationId xmlns:a16="http://schemas.microsoft.com/office/drawing/2014/main" id="{D6317EDB-65E8-BB1D-7089-80297265AB91}"/>
                </a:ext>
              </a:extLst>
            </p:cNvPr>
            <p:cNvSpPr/>
            <p:nvPr/>
          </p:nvSpPr>
          <p:spPr>
            <a:xfrm>
              <a:off x="3880884" y="871870"/>
              <a:ext cx="3381154" cy="5284381"/>
            </a:xfrm>
            <a:prstGeom prst="roundRect">
              <a:avLst>
                <a:gd name="adj" fmla="val 7995"/>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2D09067-F98A-E758-438A-55D884F9A87B}"/>
                </a:ext>
              </a:extLst>
            </p:cNvPr>
            <p:cNvSpPr txBox="1"/>
            <p:nvPr/>
          </p:nvSpPr>
          <p:spPr>
            <a:xfrm>
              <a:off x="4359349" y="1348081"/>
              <a:ext cx="2424224" cy="1015663"/>
            </a:xfrm>
            <a:prstGeom prst="rect">
              <a:avLst/>
            </a:prstGeom>
            <a:noFill/>
          </p:spPr>
          <p:txBody>
            <a:bodyPr wrap="square" rtlCol="0">
              <a:spAutoFit/>
            </a:bodyPr>
            <a:lstStyle/>
            <a:p>
              <a:pPr algn="ctr"/>
              <a:r>
                <a:rPr lang="en-US" sz="6000" dirty="0">
                  <a:solidFill>
                    <a:schemeClr val="bg1"/>
                  </a:solidFill>
                </a:rPr>
                <a:t>2</a:t>
              </a:r>
            </a:p>
          </p:txBody>
        </p:sp>
        <p:sp>
          <p:nvSpPr>
            <p:cNvPr id="9" name="TextBox 8">
              <a:extLst>
                <a:ext uri="{FF2B5EF4-FFF2-40B4-BE49-F238E27FC236}">
                  <a16:creationId xmlns:a16="http://schemas.microsoft.com/office/drawing/2014/main" id="{D38F80DA-E9DE-18EC-A2C9-0F6EDAE9F04D}"/>
                </a:ext>
              </a:extLst>
            </p:cNvPr>
            <p:cNvSpPr txBox="1"/>
            <p:nvPr/>
          </p:nvSpPr>
          <p:spPr>
            <a:xfrm>
              <a:off x="4265427" y="3020404"/>
              <a:ext cx="2424224" cy="1938992"/>
            </a:xfrm>
            <a:prstGeom prst="rect">
              <a:avLst/>
            </a:prstGeom>
            <a:noFill/>
          </p:spPr>
          <p:txBody>
            <a:bodyPr wrap="square" rtlCol="0">
              <a:spAutoFit/>
            </a:bodyPr>
            <a:lstStyle/>
            <a:p>
              <a:pPr algn="ctr"/>
              <a:r>
                <a:rPr lang="en-US" sz="6000" dirty="0">
                  <a:solidFill>
                    <a:schemeClr val="bg1"/>
                  </a:solidFill>
                </a:rPr>
                <a:t>Third Title</a:t>
              </a:r>
            </a:p>
          </p:txBody>
        </p:sp>
      </p:grpSp>
      <p:grpSp>
        <p:nvGrpSpPr>
          <p:cNvPr id="5" name="Group 4">
            <a:extLst>
              <a:ext uri="{FF2B5EF4-FFF2-40B4-BE49-F238E27FC236}">
                <a16:creationId xmlns:a16="http://schemas.microsoft.com/office/drawing/2014/main" id="{2B3C8C89-42BF-DA6A-E9C0-24CBF19B2D00}"/>
              </a:ext>
            </a:extLst>
          </p:cNvPr>
          <p:cNvGrpSpPr/>
          <p:nvPr/>
        </p:nvGrpSpPr>
        <p:grpSpPr>
          <a:xfrm rot="788013">
            <a:off x="4638795" y="396078"/>
            <a:ext cx="3294321" cy="5284381"/>
            <a:chOff x="4134293" y="701748"/>
            <a:chExt cx="3923414" cy="5284381"/>
          </a:xfrm>
          <a:solidFill>
            <a:schemeClr val="accent2">
              <a:lumMod val="75000"/>
            </a:schemeClr>
          </a:solidFill>
          <a:effectLst>
            <a:outerShdw blurRad="63500" sx="102000" sy="102000" algn="ctr" rotWithShape="0">
              <a:prstClr val="black">
                <a:alpha val="40000"/>
              </a:prstClr>
            </a:outerShdw>
          </a:effectLst>
        </p:grpSpPr>
        <p:sp>
          <p:nvSpPr>
            <p:cNvPr id="2" name="Rectangle: Rounded Corners 1">
              <a:extLst>
                <a:ext uri="{FF2B5EF4-FFF2-40B4-BE49-F238E27FC236}">
                  <a16:creationId xmlns:a16="http://schemas.microsoft.com/office/drawing/2014/main" id="{4F4D0AD8-544A-091B-76F0-3E70BEE5B710}"/>
                </a:ext>
              </a:extLst>
            </p:cNvPr>
            <p:cNvSpPr/>
            <p:nvPr/>
          </p:nvSpPr>
          <p:spPr>
            <a:xfrm>
              <a:off x="4134293" y="701748"/>
              <a:ext cx="3923414" cy="5284381"/>
            </a:xfrm>
            <a:prstGeom prst="roundRect">
              <a:avLst>
                <a:gd name="adj" fmla="val 799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8E640C9-349D-0C22-99C9-A806FE229726}"/>
                </a:ext>
              </a:extLst>
            </p:cNvPr>
            <p:cNvSpPr txBox="1"/>
            <p:nvPr/>
          </p:nvSpPr>
          <p:spPr>
            <a:xfrm>
              <a:off x="4742121" y="1052623"/>
              <a:ext cx="2828261" cy="1107996"/>
            </a:xfrm>
            <a:prstGeom prst="rect">
              <a:avLst/>
            </a:prstGeom>
            <a:grpFill/>
          </p:spPr>
          <p:txBody>
            <a:bodyPr wrap="square" rtlCol="0">
              <a:spAutoFit/>
            </a:bodyPr>
            <a:lstStyle/>
            <a:p>
              <a:pPr algn="ctr"/>
              <a:r>
                <a:rPr lang="en-US" sz="6600" b="1" dirty="0">
                  <a:solidFill>
                    <a:schemeClr val="bg1"/>
                  </a:solidFill>
                </a:rPr>
                <a:t>1</a:t>
              </a:r>
              <a:endParaRPr lang="en-US" b="1" dirty="0">
                <a:solidFill>
                  <a:schemeClr val="bg1"/>
                </a:solidFill>
              </a:endParaRPr>
            </a:p>
          </p:txBody>
        </p:sp>
        <p:sp>
          <p:nvSpPr>
            <p:cNvPr id="4" name="TextBox 3">
              <a:extLst>
                <a:ext uri="{FF2B5EF4-FFF2-40B4-BE49-F238E27FC236}">
                  <a16:creationId xmlns:a16="http://schemas.microsoft.com/office/drawing/2014/main" id="{F9BEE882-F0D4-A496-AC14-6A18930B93F5}"/>
                </a:ext>
              </a:extLst>
            </p:cNvPr>
            <p:cNvSpPr txBox="1"/>
            <p:nvPr/>
          </p:nvSpPr>
          <p:spPr>
            <a:xfrm>
              <a:off x="4742121" y="2090172"/>
              <a:ext cx="2828261" cy="2677656"/>
            </a:xfrm>
            <a:prstGeom prst="rect">
              <a:avLst/>
            </a:prstGeom>
            <a:grpFill/>
          </p:spPr>
          <p:txBody>
            <a:bodyPr wrap="square" rtlCol="0">
              <a:spAutoFit/>
            </a:bodyPr>
            <a:lstStyle/>
            <a:p>
              <a:pPr algn="ctr"/>
              <a:r>
                <a:rPr lang="en-US" sz="2800" b="1" dirty="0">
                  <a:solidFill>
                    <a:schemeClr val="bg1"/>
                  </a:solidFill>
                </a:rPr>
                <a:t>Efficiency of Inventory Management service level (stock – availability).</a:t>
              </a:r>
              <a:endParaRPr lang="en-US" sz="2800" dirty="0">
                <a:solidFill>
                  <a:schemeClr val="bg1"/>
                </a:solidFill>
              </a:endParaRPr>
            </a:p>
          </p:txBody>
        </p:sp>
      </p:grpSp>
      <p:sp>
        <p:nvSpPr>
          <p:cNvPr id="12" name="TextBox 11">
            <a:extLst>
              <a:ext uri="{FF2B5EF4-FFF2-40B4-BE49-F238E27FC236}">
                <a16:creationId xmlns:a16="http://schemas.microsoft.com/office/drawing/2014/main" id="{B3C18875-0B6E-5373-F07E-93778C28FE14}"/>
              </a:ext>
            </a:extLst>
          </p:cNvPr>
          <p:cNvSpPr txBox="1"/>
          <p:nvPr/>
        </p:nvSpPr>
        <p:spPr>
          <a:xfrm>
            <a:off x="331533" y="2193103"/>
            <a:ext cx="3742898" cy="830997"/>
          </a:xfrm>
          <a:prstGeom prst="rect">
            <a:avLst/>
          </a:prstGeom>
          <a:noFill/>
        </p:spPr>
        <p:txBody>
          <a:bodyPr wrap="square" rtlCol="0">
            <a:spAutoFit/>
          </a:bodyPr>
          <a:lstStyle/>
          <a:p>
            <a:r>
              <a:rPr lang="en-US" sz="2400" dirty="0">
                <a:solidFill>
                  <a:schemeClr val="bg1"/>
                </a:solidFill>
              </a:rPr>
              <a:t>we can achieve our main goal  By ……</a:t>
            </a:r>
          </a:p>
        </p:txBody>
      </p:sp>
      <p:sp>
        <p:nvSpPr>
          <p:cNvPr id="16" name="TextBox 15">
            <a:extLst>
              <a:ext uri="{FF2B5EF4-FFF2-40B4-BE49-F238E27FC236}">
                <a16:creationId xmlns:a16="http://schemas.microsoft.com/office/drawing/2014/main" id="{7CD36A7B-1357-78D9-D323-5657F390C7F1}"/>
              </a:ext>
            </a:extLst>
          </p:cNvPr>
          <p:cNvSpPr txBox="1"/>
          <p:nvPr/>
        </p:nvSpPr>
        <p:spPr>
          <a:xfrm>
            <a:off x="450477" y="623443"/>
            <a:ext cx="3134059" cy="1569660"/>
          </a:xfrm>
          <a:prstGeom prst="rect">
            <a:avLst/>
          </a:prstGeom>
          <a:noFill/>
        </p:spPr>
        <p:txBody>
          <a:bodyPr wrap="square" rtlCol="0">
            <a:spAutoFit/>
          </a:bodyPr>
          <a:lstStyle/>
          <a:p>
            <a:r>
              <a:rPr lang="en-US" sz="3200" b="1" dirty="0">
                <a:ln w="22225">
                  <a:solidFill>
                    <a:schemeClr val="accent2"/>
                  </a:solidFill>
                  <a:prstDash val="solid"/>
                </a:ln>
                <a:solidFill>
                  <a:schemeClr val="accent2">
                    <a:lumMod val="40000"/>
                    <a:lumOff val="60000"/>
                  </a:schemeClr>
                </a:solidFill>
              </a:rPr>
              <a:t>4</a:t>
            </a:r>
            <a:r>
              <a:rPr lang="ar-EG" sz="3200" b="1" dirty="0">
                <a:ln w="22225">
                  <a:solidFill>
                    <a:schemeClr val="accent2"/>
                  </a:solidFill>
                  <a:prstDash val="solid"/>
                </a:ln>
                <a:solidFill>
                  <a:schemeClr val="accent2">
                    <a:lumMod val="40000"/>
                    <a:lumOff val="60000"/>
                  </a:schemeClr>
                </a:solidFill>
              </a:rPr>
              <a:t>-</a:t>
            </a:r>
            <a:r>
              <a:rPr lang="en-US" sz="3200" b="1" dirty="0">
                <a:ln w="22225">
                  <a:solidFill>
                    <a:schemeClr val="accent2"/>
                  </a:solidFill>
                  <a:prstDash val="solid"/>
                </a:ln>
                <a:solidFill>
                  <a:schemeClr val="accent2">
                    <a:lumMod val="40000"/>
                    <a:lumOff val="60000"/>
                  </a:schemeClr>
                </a:solidFill>
              </a:rPr>
              <a:t> Analysis Questions</a:t>
            </a:r>
          </a:p>
          <a:p>
            <a:endParaRPr lang="en-US" sz="3200" b="1" dirty="0">
              <a:ln w="22225">
                <a:solidFill>
                  <a:schemeClr val="accent2"/>
                </a:solidFill>
                <a:prstDash val="solid"/>
              </a:ln>
              <a:solidFill>
                <a:schemeClr val="accent2">
                  <a:lumMod val="40000"/>
                  <a:lumOff val="60000"/>
                </a:schemeClr>
              </a:solidFill>
            </a:endParaRPr>
          </a:p>
        </p:txBody>
      </p:sp>
      <p:pic>
        <p:nvPicPr>
          <p:cNvPr id="17" name="Graphic 16" descr="Court with solid fill">
            <a:extLst>
              <a:ext uri="{FF2B5EF4-FFF2-40B4-BE49-F238E27FC236}">
                <a16:creationId xmlns:a16="http://schemas.microsoft.com/office/drawing/2014/main" id="{7368905C-5A51-F84D-5BC7-081DD34FAC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71188" y="596587"/>
            <a:ext cx="914400" cy="914400"/>
          </a:xfrm>
          <a:prstGeom prst="rect">
            <a:avLst/>
          </a:prstGeom>
        </p:spPr>
      </p:pic>
      <p:sp>
        <p:nvSpPr>
          <p:cNvPr id="6" name="Slide Number Placeholder 5">
            <a:extLst>
              <a:ext uri="{FF2B5EF4-FFF2-40B4-BE49-F238E27FC236}">
                <a16:creationId xmlns:a16="http://schemas.microsoft.com/office/drawing/2014/main" id="{FEF65DAF-548F-226C-46D8-4D35D6A765AB}"/>
              </a:ext>
            </a:extLst>
          </p:cNvPr>
          <p:cNvSpPr>
            <a:spLocks noGrp="1"/>
          </p:cNvSpPr>
          <p:nvPr>
            <p:ph type="sldNum" sz="quarter" idx="12"/>
          </p:nvPr>
        </p:nvSpPr>
        <p:spPr/>
        <p:txBody>
          <a:bodyPr/>
          <a:lstStyle/>
          <a:p>
            <a:fld id="{C263D6C4-4840-40CC-AC84-17E24B3B7BDE}" type="slidenum">
              <a:rPr lang="en-US" noProof="0" smtClean="0"/>
              <a:pPr/>
              <a:t>18</a:t>
            </a:fld>
            <a:endParaRPr lang="en-US" noProof="0" dirty="0"/>
          </a:p>
        </p:txBody>
      </p:sp>
    </p:spTree>
    <p:extLst>
      <p:ext uri="{BB962C8B-B14F-4D97-AF65-F5344CB8AC3E}">
        <p14:creationId xmlns:p14="http://schemas.microsoft.com/office/powerpoint/2010/main" val="3049717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ABAF9-D2E1-5583-C868-6A6FC21E66A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3F3DC20-674F-508D-E564-CDF3612D3C93}"/>
              </a:ext>
            </a:extLst>
          </p:cNvPr>
          <p:cNvGrpSpPr/>
          <p:nvPr/>
        </p:nvGrpSpPr>
        <p:grpSpPr>
          <a:xfrm rot="925040">
            <a:off x="7502230" y="1296193"/>
            <a:ext cx="3299637" cy="5284381"/>
            <a:chOff x="7935433" y="871870"/>
            <a:chExt cx="3299637" cy="5284381"/>
          </a:xfrm>
          <a:solidFill>
            <a:schemeClr val="accent1">
              <a:lumMod val="60000"/>
              <a:lumOff val="40000"/>
            </a:schemeClr>
          </a:solidFill>
          <a:effectLst>
            <a:outerShdw blurRad="63500" sx="102000" sy="102000" algn="ctr" rotWithShape="0">
              <a:prstClr val="black">
                <a:alpha val="40000"/>
              </a:prstClr>
            </a:outerShdw>
          </a:effectLst>
          <a:scene3d>
            <a:camera prst="perspectiveFront"/>
            <a:lightRig rig="threePt" dir="t"/>
          </a:scene3d>
        </p:grpSpPr>
        <p:sp>
          <p:nvSpPr>
            <p:cNvPr id="10" name="Rectangle: Rounded Corners 9">
              <a:extLst>
                <a:ext uri="{FF2B5EF4-FFF2-40B4-BE49-F238E27FC236}">
                  <a16:creationId xmlns:a16="http://schemas.microsoft.com/office/drawing/2014/main" id="{6C106BF2-3847-F548-8EC4-AE69A85CE939}"/>
                </a:ext>
              </a:extLst>
            </p:cNvPr>
            <p:cNvSpPr/>
            <p:nvPr/>
          </p:nvSpPr>
          <p:spPr>
            <a:xfrm>
              <a:off x="7935433" y="871870"/>
              <a:ext cx="3299637" cy="5284381"/>
            </a:xfrm>
            <a:prstGeom prst="roundRect">
              <a:avLst>
                <a:gd name="adj" fmla="val 799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0E84A22-86A5-2578-B077-C86596F5B02B}"/>
                </a:ext>
              </a:extLst>
            </p:cNvPr>
            <p:cNvSpPr txBox="1"/>
            <p:nvPr/>
          </p:nvSpPr>
          <p:spPr>
            <a:xfrm>
              <a:off x="8474149" y="1648047"/>
              <a:ext cx="2477386" cy="923330"/>
            </a:xfrm>
            <a:prstGeom prst="rect">
              <a:avLst/>
            </a:prstGeom>
            <a:grpFill/>
          </p:spPr>
          <p:txBody>
            <a:bodyPr wrap="square" rtlCol="0">
              <a:spAutoFit/>
            </a:bodyPr>
            <a:lstStyle/>
            <a:p>
              <a:pPr algn="ctr"/>
              <a:r>
                <a:rPr lang="en-US" sz="5400" dirty="0">
                  <a:solidFill>
                    <a:schemeClr val="accent1">
                      <a:lumMod val="75000"/>
                    </a:schemeClr>
                  </a:solidFill>
                </a:rPr>
                <a:t>3</a:t>
              </a:r>
            </a:p>
          </p:txBody>
        </p:sp>
        <p:sp>
          <p:nvSpPr>
            <p:cNvPr id="13" name="TextBox 12">
              <a:extLst>
                <a:ext uri="{FF2B5EF4-FFF2-40B4-BE49-F238E27FC236}">
                  <a16:creationId xmlns:a16="http://schemas.microsoft.com/office/drawing/2014/main" id="{C373D532-A36E-0911-5ED1-9921595FF129}"/>
                </a:ext>
              </a:extLst>
            </p:cNvPr>
            <p:cNvSpPr txBox="1"/>
            <p:nvPr/>
          </p:nvSpPr>
          <p:spPr>
            <a:xfrm>
              <a:off x="8373139" y="3205071"/>
              <a:ext cx="2424224" cy="1569660"/>
            </a:xfrm>
            <a:prstGeom prst="rect">
              <a:avLst/>
            </a:prstGeom>
            <a:grpFill/>
          </p:spPr>
          <p:txBody>
            <a:bodyPr wrap="square" rtlCol="0">
              <a:spAutoFit/>
            </a:bodyPr>
            <a:lstStyle/>
            <a:p>
              <a:pPr algn="ctr"/>
              <a:r>
                <a:rPr lang="en-US" sz="3200" b="1" dirty="0">
                  <a:solidFill>
                    <a:schemeClr val="accent1">
                      <a:lumMod val="75000"/>
                    </a:schemeClr>
                  </a:solidFill>
                </a:rPr>
                <a:t>Financial Evaluation: revenue</a:t>
              </a:r>
              <a:endParaRPr lang="en-US" sz="3200" dirty="0">
                <a:solidFill>
                  <a:schemeClr val="accent1">
                    <a:lumMod val="75000"/>
                  </a:schemeClr>
                </a:solidFill>
              </a:endParaRPr>
            </a:p>
          </p:txBody>
        </p:sp>
      </p:grpSp>
      <p:grpSp>
        <p:nvGrpSpPr>
          <p:cNvPr id="5" name="Group 4">
            <a:extLst>
              <a:ext uri="{FF2B5EF4-FFF2-40B4-BE49-F238E27FC236}">
                <a16:creationId xmlns:a16="http://schemas.microsoft.com/office/drawing/2014/main" id="{CF795BE3-63AB-0F8F-52FE-9EA7B5DF9E5D}"/>
              </a:ext>
            </a:extLst>
          </p:cNvPr>
          <p:cNvGrpSpPr/>
          <p:nvPr/>
        </p:nvGrpSpPr>
        <p:grpSpPr>
          <a:xfrm rot="20698819">
            <a:off x="923101" y="1251169"/>
            <a:ext cx="3294321" cy="5284381"/>
            <a:chOff x="4134293" y="701748"/>
            <a:chExt cx="3923414" cy="5284381"/>
          </a:xfrm>
          <a:solidFill>
            <a:schemeClr val="accent2">
              <a:lumMod val="75000"/>
            </a:schemeClr>
          </a:solidFill>
          <a:effectLst>
            <a:outerShdw blurRad="63500" sx="102000" sy="102000" algn="ctr" rotWithShape="0">
              <a:prstClr val="black">
                <a:alpha val="40000"/>
              </a:prstClr>
            </a:outerShdw>
          </a:effectLst>
          <a:scene3d>
            <a:camera prst="perspectiveFront"/>
            <a:lightRig rig="threePt" dir="t"/>
          </a:scene3d>
        </p:grpSpPr>
        <p:sp>
          <p:nvSpPr>
            <p:cNvPr id="2" name="Rectangle: Rounded Corners 1">
              <a:extLst>
                <a:ext uri="{FF2B5EF4-FFF2-40B4-BE49-F238E27FC236}">
                  <a16:creationId xmlns:a16="http://schemas.microsoft.com/office/drawing/2014/main" id="{96FFAC5B-97F6-9D23-66A6-97FFE6708AC8}"/>
                </a:ext>
              </a:extLst>
            </p:cNvPr>
            <p:cNvSpPr/>
            <p:nvPr/>
          </p:nvSpPr>
          <p:spPr>
            <a:xfrm>
              <a:off x="4134293" y="701748"/>
              <a:ext cx="3923414" cy="5284381"/>
            </a:xfrm>
            <a:prstGeom prst="roundRect">
              <a:avLst>
                <a:gd name="adj" fmla="val 7995"/>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3948AEE-F000-7055-4B0D-2BF68508BFC1}"/>
                </a:ext>
              </a:extLst>
            </p:cNvPr>
            <p:cNvSpPr txBox="1"/>
            <p:nvPr/>
          </p:nvSpPr>
          <p:spPr>
            <a:xfrm>
              <a:off x="4742121" y="1052623"/>
              <a:ext cx="2828261" cy="1107996"/>
            </a:xfrm>
            <a:prstGeom prst="rect">
              <a:avLst/>
            </a:prstGeom>
            <a:grpFill/>
          </p:spPr>
          <p:txBody>
            <a:bodyPr wrap="square" rtlCol="0">
              <a:spAutoFit/>
            </a:bodyPr>
            <a:lstStyle/>
            <a:p>
              <a:pPr algn="ctr"/>
              <a:r>
                <a:rPr lang="en-US" sz="6600" b="1" dirty="0">
                  <a:solidFill>
                    <a:schemeClr val="bg1"/>
                  </a:solidFill>
                </a:rPr>
                <a:t>1</a:t>
              </a:r>
              <a:endParaRPr lang="en-US" b="1" dirty="0">
                <a:solidFill>
                  <a:schemeClr val="bg1"/>
                </a:solidFill>
              </a:endParaRPr>
            </a:p>
          </p:txBody>
        </p:sp>
        <p:sp>
          <p:nvSpPr>
            <p:cNvPr id="4" name="TextBox 3">
              <a:extLst>
                <a:ext uri="{FF2B5EF4-FFF2-40B4-BE49-F238E27FC236}">
                  <a16:creationId xmlns:a16="http://schemas.microsoft.com/office/drawing/2014/main" id="{7058936D-B713-A0DE-4E69-0C96F94A3FBC}"/>
                </a:ext>
              </a:extLst>
            </p:cNvPr>
            <p:cNvSpPr txBox="1"/>
            <p:nvPr/>
          </p:nvSpPr>
          <p:spPr>
            <a:xfrm>
              <a:off x="4742119" y="2090172"/>
              <a:ext cx="2828261" cy="2677656"/>
            </a:xfrm>
            <a:prstGeom prst="rect">
              <a:avLst/>
            </a:prstGeom>
            <a:grpFill/>
          </p:spPr>
          <p:txBody>
            <a:bodyPr wrap="square" rtlCol="0">
              <a:spAutoFit/>
            </a:bodyPr>
            <a:lstStyle/>
            <a:p>
              <a:pPr algn="ctr"/>
              <a:r>
                <a:rPr lang="en-US" sz="2800" b="1" dirty="0">
                  <a:solidFill>
                    <a:schemeClr val="bg1"/>
                  </a:solidFill>
                </a:rPr>
                <a:t>Efficiency of Inventory Management service level (stock – availability).</a:t>
              </a:r>
              <a:endParaRPr lang="en-US" sz="2800" dirty="0">
                <a:solidFill>
                  <a:schemeClr val="bg1"/>
                </a:solidFill>
              </a:endParaRPr>
            </a:p>
          </p:txBody>
        </p:sp>
      </p:grpSp>
      <p:grpSp>
        <p:nvGrpSpPr>
          <p:cNvPr id="14" name="Group 13">
            <a:extLst>
              <a:ext uri="{FF2B5EF4-FFF2-40B4-BE49-F238E27FC236}">
                <a16:creationId xmlns:a16="http://schemas.microsoft.com/office/drawing/2014/main" id="{3C62C726-B948-EC97-42F4-FE0252D4BC46}"/>
              </a:ext>
            </a:extLst>
          </p:cNvPr>
          <p:cNvGrpSpPr/>
          <p:nvPr/>
        </p:nvGrpSpPr>
        <p:grpSpPr>
          <a:xfrm>
            <a:off x="4134944" y="154430"/>
            <a:ext cx="3381154" cy="5284381"/>
            <a:chOff x="3880884" y="871870"/>
            <a:chExt cx="3381154" cy="5284381"/>
          </a:xfrm>
          <a:effectLst>
            <a:outerShdw blurRad="63500" sx="102000" sy="102000" algn="ctr" rotWithShape="0">
              <a:prstClr val="black">
                <a:alpha val="40000"/>
              </a:prstClr>
            </a:outerShdw>
          </a:effectLst>
          <a:scene3d>
            <a:camera prst="perspectiveFront"/>
            <a:lightRig rig="threePt" dir="t"/>
          </a:scene3d>
        </p:grpSpPr>
        <p:sp>
          <p:nvSpPr>
            <p:cNvPr id="7" name="Rectangle: Rounded Corners 6">
              <a:extLst>
                <a:ext uri="{FF2B5EF4-FFF2-40B4-BE49-F238E27FC236}">
                  <a16:creationId xmlns:a16="http://schemas.microsoft.com/office/drawing/2014/main" id="{7BA2D0DC-3217-ADA1-9E03-0D23FE6B8F9E}"/>
                </a:ext>
              </a:extLst>
            </p:cNvPr>
            <p:cNvSpPr/>
            <p:nvPr/>
          </p:nvSpPr>
          <p:spPr>
            <a:xfrm>
              <a:off x="3880884" y="871870"/>
              <a:ext cx="3381154" cy="5284381"/>
            </a:xfrm>
            <a:prstGeom prst="roundRect">
              <a:avLst>
                <a:gd name="adj" fmla="val 7995"/>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2100DE0-F1FC-76BC-18F7-547920A7A2C4}"/>
                </a:ext>
              </a:extLst>
            </p:cNvPr>
            <p:cNvSpPr txBox="1"/>
            <p:nvPr/>
          </p:nvSpPr>
          <p:spPr>
            <a:xfrm>
              <a:off x="4359349" y="1348081"/>
              <a:ext cx="2424224" cy="1015663"/>
            </a:xfrm>
            <a:prstGeom prst="rect">
              <a:avLst/>
            </a:prstGeom>
            <a:noFill/>
          </p:spPr>
          <p:txBody>
            <a:bodyPr wrap="square" rtlCol="0">
              <a:spAutoFit/>
            </a:bodyPr>
            <a:lstStyle/>
            <a:p>
              <a:pPr algn="ctr"/>
              <a:r>
                <a:rPr lang="en-US" sz="6000" dirty="0">
                  <a:solidFill>
                    <a:schemeClr val="accent1">
                      <a:lumMod val="75000"/>
                    </a:schemeClr>
                  </a:solidFill>
                </a:rPr>
                <a:t>2</a:t>
              </a:r>
            </a:p>
          </p:txBody>
        </p:sp>
        <p:sp>
          <p:nvSpPr>
            <p:cNvPr id="9" name="TextBox 8">
              <a:extLst>
                <a:ext uri="{FF2B5EF4-FFF2-40B4-BE49-F238E27FC236}">
                  <a16:creationId xmlns:a16="http://schemas.microsoft.com/office/drawing/2014/main" id="{868C9094-4FDE-45F6-9AC5-38CC246D356F}"/>
                </a:ext>
              </a:extLst>
            </p:cNvPr>
            <p:cNvSpPr txBox="1"/>
            <p:nvPr/>
          </p:nvSpPr>
          <p:spPr>
            <a:xfrm>
              <a:off x="4265427" y="3020404"/>
              <a:ext cx="2424224" cy="2554545"/>
            </a:xfrm>
            <a:prstGeom prst="rect">
              <a:avLst/>
            </a:prstGeom>
            <a:noFill/>
          </p:spPr>
          <p:txBody>
            <a:bodyPr wrap="square" rtlCol="0">
              <a:spAutoFit/>
            </a:bodyPr>
            <a:lstStyle/>
            <a:p>
              <a:pPr algn="ctr"/>
              <a:r>
                <a:rPr lang="en-US" sz="2000" b="1" dirty="0">
                  <a:solidFill>
                    <a:schemeClr val="accent1">
                      <a:lumMod val="75000"/>
                    </a:schemeClr>
                  </a:solidFill>
                </a:rPr>
                <a:t>Evaluation of Suppling and Shipping (Time: lead Time -  Cost: Costs - Product Quality: Defect Rate, Inspection Result).</a:t>
              </a:r>
              <a:endParaRPr lang="en-US" sz="2000" dirty="0">
                <a:solidFill>
                  <a:schemeClr val="accent1">
                    <a:lumMod val="75000"/>
                  </a:schemeClr>
                </a:solidFill>
              </a:endParaRPr>
            </a:p>
          </p:txBody>
        </p:sp>
      </p:grpSp>
      <p:sp>
        <p:nvSpPr>
          <p:cNvPr id="12" name="TextBox 11">
            <a:extLst>
              <a:ext uri="{FF2B5EF4-FFF2-40B4-BE49-F238E27FC236}">
                <a16:creationId xmlns:a16="http://schemas.microsoft.com/office/drawing/2014/main" id="{CF1B2A2E-3FE4-7F47-85BF-490FAAF24519}"/>
              </a:ext>
            </a:extLst>
          </p:cNvPr>
          <p:cNvSpPr txBox="1"/>
          <p:nvPr/>
        </p:nvSpPr>
        <p:spPr>
          <a:xfrm>
            <a:off x="392046" y="220486"/>
            <a:ext cx="3742898" cy="830997"/>
          </a:xfrm>
          <a:prstGeom prst="rect">
            <a:avLst/>
          </a:prstGeom>
          <a:noFill/>
        </p:spPr>
        <p:txBody>
          <a:bodyPr wrap="square" rtlCol="0">
            <a:spAutoFit/>
          </a:bodyPr>
          <a:lstStyle/>
          <a:p>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we can achieve our main goal  By ……</a:t>
            </a:r>
          </a:p>
        </p:txBody>
      </p:sp>
      <p:pic>
        <p:nvPicPr>
          <p:cNvPr id="16" name="Graphic 15" descr="Court with solid fill">
            <a:extLst>
              <a:ext uri="{FF2B5EF4-FFF2-40B4-BE49-F238E27FC236}">
                <a16:creationId xmlns:a16="http://schemas.microsoft.com/office/drawing/2014/main" id="{DFC733B9-A666-B181-AA9A-DCFC0532E3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0188" y="1646304"/>
            <a:ext cx="914400" cy="914400"/>
          </a:xfrm>
          <a:prstGeom prst="rect">
            <a:avLst/>
          </a:prstGeom>
        </p:spPr>
      </p:pic>
      <p:pic>
        <p:nvPicPr>
          <p:cNvPr id="17" name="Graphic 16" descr="Bar graph with upward trend with solid fill">
            <a:extLst>
              <a:ext uri="{FF2B5EF4-FFF2-40B4-BE49-F238E27FC236}">
                <a16:creationId xmlns:a16="http://schemas.microsoft.com/office/drawing/2014/main" id="{1052A744-5978-5878-B346-497EA175D7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74726" y="1336734"/>
            <a:ext cx="1131607" cy="645017"/>
          </a:xfrm>
          <a:prstGeom prst="rect">
            <a:avLst/>
          </a:prstGeom>
        </p:spPr>
      </p:pic>
      <p:pic>
        <p:nvPicPr>
          <p:cNvPr id="18" name="Graphic 17" descr="Flying Money with solid fill">
            <a:extLst>
              <a:ext uri="{FF2B5EF4-FFF2-40B4-BE49-F238E27FC236}">
                <a16:creationId xmlns:a16="http://schemas.microsoft.com/office/drawing/2014/main" id="{A222CF34-F375-6094-9815-E6749BB82CF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87648" y="1476929"/>
            <a:ext cx="914400" cy="914400"/>
          </a:xfrm>
          <a:prstGeom prst="rect">
            <a:avLst/>
          </a:prstGeom>
        </p:spPr>
      </p:pic>
      <p:sp>
        <p:nvSpPr>
          <p:cNvPr id="6" name="Slide Number Placeholder 5">
            <a:extLst>
              <a:ext uri="{FF2B5EF4-FFF2-40B4-BE49-F238E27FC236}">
                <a16:creationId xmlns:a16="http://schemas.microsoft.com/office/drawing/2014/main" id="{A5EE2EA6-227A-9AB2-0F22-E3E434CDC6DA}"/>
              </a:ext>
            </a:extLst>
          </p:cNvPr>
          <p:cNvSpPr>
            <a:spLocks noGrp="1"/>
          </p:cNvSpPr>
          <p:nvPr>
            <p:ph type="sldNum" sz="quarter" idx="12"/>
          </p:nvPr>
        </p:nvSpPr>
        <p:spPr/>
        <p:txBody>
          <a:bodyPr/>
          <a:lstStyle/>
          <a:p>
            <a:fld id="{C263D6C4-4840-40CC-AC84-17E24B3B7BDE}" type="slidenum">
              <a:rPr lang="en-US" noProof="0" smtClean="0"/>
              <a:pPr/>
              <a:t>19</a:t>
            </a:fld>
            <a:endParaRPr lang="en-US" noProof="0" dirty="0"/>
          </a:p>
        </p:txBody>
      </p:sp>
    </p:spTree>
    <p:extLst>
      <p:ext uri="{BB962C8B-B14F-4D97-AF65-F5344CB8AC3E}">
        <p14:creationId xmlns:p14="http://schemas.microsoft.com/office/powerpoint/2010/main" val="949396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A6DBAB50-EABB-9C13-B353-6B2DA270C7C6}"/>
            </a:ext>
          </a:extLst>
        </p:cNvPr>
        <p:cNvGrpSpPr/>
        <p:nvPr/>
      </p:nvGrpSpPr>
      <p:grpSpPr>
        <a:xfrm>
          <a:off x="0" y="0"/>
          <a:ext cx="0" cy="0"/>
          <a:chOff x="0" y="0"/>
          <a:chExt cx="0" cy="0"/>
        </a:xfrm>
      </p:grpSpPr>
      <p:grpSp>
        <p:nvGrpSpPr>
          <p:cNvPr id="47" name="Group 46">
            <a:extLst>
              <a:ext uri="{FF2B5EF4-FFF2-40B4-BE49-F238E27FC236}">
                <a16:creationId xmlns:a16="http://schemas.microsoft.com/office/drawing/2014/main" id="{D4803022-13DA-A1E9-4F19-46F9BFD8664D}"/>
              </a:ext>
            </a:extLst>
          </p:cNvPr>
          <p:cNvGrpSpPr/>
          <p:nvPr/>
        </p:nvGrpSpPr>
        <p:grpSpPr>
          <a:xfrm>
            <a:off x="1070759" y="1941637"/>
            <a:ext cx="2854940" cy="2932733"/>
            <a:chOff x="952502" y="1298575"/>
            <a:chExt cx="4422773" cy="4489450"/>
          </a:xfrm>
        </p:grpSpPr>
        <p:grpSp>
          <p:nvGrpSpPr>
            <p:cNvPr id="46" name="Group 45">
              <a:extLst>
                <a:ext uri="{FF2B5EF4-FFF2-40B4-BE49-F238E27FC236}">
                  <a16:creationId xmlns:a16="http://schemas.microsoft.com/office/drawing/2014/main" id="{959CB3CB-FD39-6C7C-2EEF-4B5C87B1AB48}"/>
                </a:ext>
              </a:extLst>
            </p:cNvPr>
            <p:cNvGrpSpPr/>
            <p:nvPr/>
          </p:nvGrpSpPr>
          <p:grpSpPr>
            <a:xfrm>
              <a:off x="2641600" y="1298575"/>
              <a:ext cx="2733675" cy="4489450"/>
              <a:chOff x="7342188" y="1638299"/>
              <a:chExt cx="1828803" cy="3397251"/>
            </a:xfrm>
          </p:grpSpPr>
          <p:sp>
            <p:nvSpPr>
              <p:cNvPr id="44" name="Freeform: Shape 43">
                <a:extLst>
                  <a:ext uri="{FF2B5EF4-FFF2-40B4-BE49-F238E27FC236}">
                    <a16:creationId xmlns:a16="http://schemas.microsoft.com/office/drawing/2014/main" id="{5FB8E5B8-3545-E198-E68D-AFD7E5A82165}"/>
                  </a:ext>
                </a:extLst>
              </p:cNvPr>
              <p:cNvSpPr/>
              <p:nvPr/>
            </p:nvSpPr>
            <p:spPr>
              <a:xfrm rot="5400000" flipV="1">
                <a:off x="7361239" y="3225799"/>
                <a:ext cx="1790701" cy="1828802"/>
              </a:xfrm>
              <a:custGeom>
                <a:avLst/>
                <a:gdLst>
                  <a:gd name="connsiteX0" fmla="*/ 0 w 1790701"/>
                  <a:gd name="connsiteY0" fmla="*/ 1494317 h 1828802"/>
                  <a:gd name="connsiteX1" fmla="*/ 0 w 1790701"/>
                  <a:gd name="connsiteY1" fmla="*/ 1823169 h 1828802"/>
                  <a:gd name="connsiteX2" fmla="*/ 115094 w 1790701"/>
                  <a:gd name="connsiteY2" fmla="*/ 1828802 h 1828802"/>
                  <a:gd name="connsiteX3" fmla="*/ 1790701 w 1790701"/>
                  <a:gd name="connsiteY3" fmla="*/ 204789 h 1828802"/>
                  <a:gd name="connsiteX4" fmla="*/ 1782050 w 1790701"/>
                  <a:gd name="connsiteY4" fmla="*/ 38743 h 1828802"/>
                  <a:gd name="connsiteX5" fmla="*/ 1775949 w 1790701"/>
                  <a:gd name="connsiteY5" fmla="*/ 0 h 1828802"/>
                  <a:gd name="connsiteX6" fmla="*/ 1443366 w 1790701"/>
                  <a:gd name="connsiteY6" fmla="*/ 0 h 1828802"/>
                  <a:gd name="connsiteX7" fmla="*/ 1454851 w 1790701"/>
                  <a:gd name="connsiteY7" fmla="*/ 72371 h 1828802"/>
                  <a:gd name="connsiteX8" fmla="*/ 1461804 w 1790701"/>
                  <a:gd name="connsiteY8" fmla="*/ 204789 h 1828802"/>
                  <a:gd name="connsiteX9" fmla="*/ 115093 w 1790701"/>
                  <a:gd name="connsiteY9" fmla="*/ 1499906 h 1828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0701" h="1828802">
                    <a:moveTo>
                      <a:pt x="0" y="1494317"/>
                    </a:moveTo>
                    <a:lnTo>
                      <a:pt x="0" y="1823169"/>
                    </a:lnTo>
                    <a:lnTo>
                      <a:pt x="115094" y="1828802"/>
                    </a:lnTo>
                    <a:cubicBezTo>
                      <a:pt x="1040506" y="1828802"/>
                      <a:pt x="1790701" y="1101707"/>
                      <a:pt x="1790701" y="204789"/>
                    </a:cubicBezTo>
                    <a:cubicBezTo>
                      <a:pt x="1790701" y="148732"/>
                      <a:pt x="1787771" y="93338"/>
                      <a:pt x="1782050" y="38743"/>
                    </a:cubicBezTo>
                    <a:lnTo>
                      <a:pt x="1775949" y="0"/>
                    </a:lnTo>
                    <a:lnTo>
                      <a:pt x="1443366" y="0"/>
                    </a:lnTo>
                    <a:lnTo>
                      <a:pt x="1454851" y="72371"/>
                    </a:lnTo>
                    <a:cubicBezTo>
                      <a:pt x="1459449" y="115909"/>
                      <a:pt x="1461804" y="160085"/>
                      <a:pt x="1461804" y="204789"/>
                    </a:cubicBezTo>
                    <a:cubicBezTo>
                      <a:pt x="1461804" y="920062"/>
                      <a:pt x="858861" y="1499906"/>
                      <a:pt x="115093" y="1499906"/>
                    </a:cubicBezTo>
                    <a:close/>
                  </a:path>
                </a:pathLst>
              </a:cu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C08A7601-9015-B0A0-D631-47E5911CFF66}"/>
                  </a:ext>
                </a:extLst>
              </p:cNvPr>
              <p:cNvSpPr/>
              <p:nvPr/>
            </p:nvSpPr>
            <p:spPr>
              <a:xfrm rot="16200000">
                <a:off x="7361238" y="1619249"/>
                <a:ext cx="1790701" cy="1828802"/>
              </a:xfrm>
              <a:custGeom>
                <a:avLst/>
                <a:gdLst>
                  <a:gd name="connsiteX0" fmla="*/ 0 w 1790701"/>
                  <a:gd name="connsiteY0" fmla="*/ 1494317 h 1828802"/>
                  <a:gd name="connsiteX1" fmla="*/ 0 w 1790701"/>
                  <a:gd name="connsiteY1" fmla="*/ 1823169 h 1828802"/>
                  <a:gd name="connsiteX2" fmla="*/ 115094 w 1790701"/>
                  <a:gd name="connsiteY2" fmla="*/ 1828802 h 1828802"/>
                  <a:gd name="connsiteX3" fmla="*/ 1790701 w 1790701"/>
                  <a:gd name="connsiteY3" fmla="*/ 204789 h 1828802"/>
                  <a:gd name="connsiteX4" fmla="*/ 1782050 w 1790701"/>
                  <a:gd name="connsiteY4" fmla="*/ 38743 h 1828802"/>
                  <a:gd name="connsiteX5" fmla="*/ 1775949 w 1790701"/>
                  <a:gd name="connsiteY5" fmla="*/ 0 h 1828802"/>
                  <a:gd name="connsiteX6" fmla="*/ 1443366 w 1790701"/>
                  <a:gd name="connsiteY6" fmla="*/ 0 h 1828802"/>
                  <a:gd name="connsiteX7" fmla="*/ 1454851 w 1790701"/>
                  <a:gd name="connsiteY7" fmla="*/ 72371 h 1828802"/>
                  <a:gd name="connsiteX8" fmla="*/ 1461804 w 1790701"/>
                  <a:gd name="connsiteY8" fmla="*/ 204789 h 1828802"/>
                  <a:gd name="connsiteX9" fmla="*/ 115093 w 1790701"/>
                  <a:gd name="connsiteY9" fmla="*/ 1499906 h 1828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0701" h="1828802">
                    <a:moveTo>
                      <a:pt x="0" y="1494317"/>
                    </a:moveTo>
                    <a:lnTo>
                      <a:pt x="0" y="1823169"/>
                    </a:lnTo>
                    <a:lnTo>
                      <a:pt x="115094" y="1828802"/>
                    </a:lnTo>
                    <a:cubicBezTo>
                      <a:pt x="1040506" y="1828802"/>
                      <a:pt x="1790701" y="1101707"/>
                      <a:pt x="1790701" y="204789"/>
                    </a:cubicBezTo>
                    <a:cubicBezTo>
                      <a:pt x="1790701" y="148732"/>
                      <a:pt x="1787771" y="93338"/>
                      <a:pt x="1782050" y="38743"/>
                    </a:cubicBezTo>
                    <a:lnTo>
                      <a:pt x="1775949" y="0"/>
                    </a:lnTo>
                    <a:lnTo>
                      <a:pt x="1443366" y="0"/>
                    </a:lnTo>
                    <a:lnTo>
                      <a:pt x="1454851" y="72371"/>
                    </a:lnTo>
                    <a:cubicBezTo>
                      <a:pt x="1459449" y="115909"/>
                      <a:pt x="1461804" y="160085"/>
                      <a:pt x="1461804" y="204789"/>
                    </a:cubicBezTo>
                    <a:cubicBezTo>
                      <a:pt x="1461804" y="920062"/>
                      <a:pt x="858861" y="1499906"/>
                      <a:pt x="115093" y="1499906"/>
                    </a:cubicBezTo>
                    <a:close/>
                  </a:path>
                </a:pathLst>
              </a:custGeom>
              <a:solidFill>
                <a:srgbClr val="008EE6"/>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0" name="Oval 39">
              <a:extLst>
                <a:ext uri="{FF2B5EF4-FFF2-40B4-BE49-F238E27FC236}">
                  <a16:creationId xmlns:a16="http://schemas.microsoft.com/office/drawing/2014/main" id="{E713ADA8-1885-FF6A-B7FF-EB67B6698980}"/>
                </a:ext>
              </a:extLst>
            </p:cNvPr>
            <p:cNvSpPr/>
            <p:nvPr/>
          </p:nvSpPr>
          <p:spPr>
            <a:xfrm>
              <a:off x="952502" y="1625600"/>
              <a:ext cx="3990973" cy="3835400"/>
            </a:xfrm>
            <a:prstGeom prst="ellips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cap="all" dirty="0">
                  <a:solidFill>
                    <a:srgbClr val="002060"/>
                  </a:solidFill>
                  <a:effectLst>
                    <a:outerShdw blurRad="38100" dist="38100" dir="2700000" algn="tl">
                      <a:srgbClr val="000000">
                        <a:alpha val="43137"/>
                      </a:srgbClr>
                    </a:outerShdw>
                  </a:effectLst>
                  <a:latin typeface="Tw Cen MT" panose="020B0602020104020603"/>
                </a:rPr>
                <a:t>4</a:t>
              </a:r>
              <a:r>
                <a:rPr lang="en-US" sz="2400" b="1" cap="all" dirty="0">
                  <a:solidFill>
                    <a:srgbClr val="002060"/>
                  </a:solidFill>
                  <a:effectLst>
                    <a:outerShdw blurRad="38100" dist="38100" dir="2700000" algn="tl">
                      <a:srgbClr val="000000">
                        <a:alpha val="43137"/>
                      </a:srgbClr>
                    </a:outerShdw>
                  </a:effectLst>
                  <a:latin typeface="Tw Cen MT" panose="020B0602020104020603"/>
                </a:rPr>
                <a:t>   Analysis Questions</a:t>
              </a:r>
              <a:endParaRPr lang="en-US" sz="2400" dirty="0"/>
            </a:p>
          </p:txBody>
        </p:sp>
      </p:grpSp>
      <p:sp>
        <p:nvSpPr>
          <p:cNvPr id="50" name="Freeform: Shape 49">
            <a:extLst>
              <a:ext uri="{FF2B5EF4-FFF2-40B4-BE49-F238E27FC236}">
                <a16:creationId xmlns:a16="http://schemas.microsoft.com/office/drawing/2014/main" id="{65B2E71E-E55B-D25B-9417-7F8927DEBB7A}"/>
              </a:ext>
            </a:extLst>
          </p:cNvPr>
          <p:cNvSpPr/>
          <p:nvPr/>
        </p:nvSpPr>
        <p:spPr>
          <a:xfrm rot="16200000">
            <a:off x="1255708" y="1993725"/>
            <a:ext cx="4947627" cy="2680717"/>
          </a:xfrm>
          <a:custGeom>
            <a:avLst/>
            <a:gdLst>
              <a:gd name="connsiteX0" fmla="*/ 11504 w 5108052"/>
              <a:gd name="connsiteY0" fmla="*/ 0 h 2047249"/>
              <a:gd name="connsiteX1" fmla="*/ 138671 w 5108052"/>
              <a:gd name="connsiteY1" fmla="*/ 0 h 2047249"/>
              <a:gd name="connsiteX2" fmla="*/ 126948 w 5108052"/>
              <a:gd name="connsiteY2" fmla="*/ 167649 h 2047249"/>
              <a:gd name="connsiteX3" fmla="*/ 2554025 w 5108052"/>
              <a:gd name="connsiteY3" fmla="*/ 1920301 h 2047249"/>
              <a:gd name="connsiteX4" fmla="*/ 4981102 w 5108052"/>
              <a:gd name="connsiteY4" fmla="*/ 167649 h 2047249"/>
              <a:gd name="connsiteX5" fmla="*/ 4969379 w 5108052"/>
              <a:gd name="connsiteY5" fmla="*/ 0 h 2047249"/>
              <a:gd name="connsiteX6" fmla="*/ 5096549 w 5108052"/>
              <a:gd name="connsiteY6" fmla="*/ 0 h 2047249"/>
              <a:gd name="connsiteX7" fmla="*/ 5108052 w 5108052"/>
              <a:gd name="connsiteY7" fmla="*/ 167649 h 2047249"/>
              <a:gd name="connsiteX8" fmla="*/ 2554026 w 5108052"/>
              <a:gd name="connsiteY8" fmla="*/ 2047249 h 2047249"/>
              <a:gd name="connsiteX9" fmla="*/ 0 w 5108052"/>
              <a:gd name="connsiteY9" fmla="*/ 167649 h 2047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8052" h="2047249">
                <a:moveTo>
                  <a:pt x="11504" y="0"/>
                </a:moveTo>
                <a:lnTo>
                  <a:pt x="138671" y="0"/>
                </a:lnTo>
                <a:lnTo>
                  <a:pt x="126948" y="167649"/>
                </a:lnTo>
                <a:cubicBezTo>
                  <a:pt x="126948" y="1135612"/>
                  <a:pt x="1213587" y="1920301"/>
                  <a:pt x="2554025" y="1920301"/>
                </a:cubicBezTo>
                <a:cubicBezTo>
                  <a:pt x="3894463" y="1920301"/>
                  <a:pt x="4981102" y="1135612"/>
                  <a:pt x="4981102" y="167649"/>
                </a:cubicBezTo>
                <a:lnTo>
                  <a:pt x="4969379" y="0"/>
                </a:lnTo>
                <a:lnTo>
                  <a:pt x="5096549" y="0"/>
                </a:lnTo>
                <a:lnTo>
                  <a:pt x="5108052" y="167649"/>
                </a:lnTo>
                <a:cubicBezTo>
                  <a:pt x="5108052" y="1205723"/>
                  <a:pt x="3964576" y="2047249"/>
                  <a:pt x="2554026" y="2047249"/>
                </a:cubicBezTo>
                <a:cubicBezTo>
                  <a:pt x="1143476" y="2047249"/>
                  <a:pt x="0" y="1205723"/>
                  <a:pt x="0" y="167649"/>
                </a:cubicBezTo>
                <a:close/>
              </a:path>
            </a:pathLst>
          </a:custGeom>
        </p:spPr>
        <p:style>
          <a:lnRef idx="1">
            <a:schemeClr val="dk1"/>
          </a:lnRef>
          <a:fillRef idx="2">
            <a:schemeClr val="dk1"/>
          </a:fillRef>
          <a:effectRef idx="1">
            <a:schemeClr val="dk1"/>
          </a:effectRef>
          <a:fontRef idx="minor">
            <a:schemeClr val="dk1"/>
          </a:fontRef>
        </p:style>
        <p:txBody>
          <a:bodyPr wrap="square" rtlCol="0" anchor="ctr">
            <a:noAutofit/>
          </a:bodyPr>
          <a:lstStyle/>
          <a:p>
            <a:pPr algn="ctr"/>
            <a:endParaRPr lang="en-US"/>
          </a:p>
        </p:txBody>
      </p:sp>
      <p:sp>
        <p:nvSpPr>
          <p:cNvPr id="51" name="Oval 50">
            <a:extLst>
              <a:ext uri="{FF2B5EF4-FFF2-40B4-BE49-F238E27FC236}">
                <a16:creationId xmlns:a16="http://schemas.microsoft.com/office/drawing/2014/main" id="{80CBD63B-0036-7780-4420-DDBCB04CDF1F}"/>
              </a:ext>
            </a:extLst>
          </p:cNvPr>
          <p:cNvSpPr/>
          <p:nvPr/>
        </p:nvSpPr>
        <p:spPr>
          <a:xfrm>
            <a:off x="2348272" y="820264"/>
            <a:ext cx="282497" cy="229839"/>
          </a:xfrm>
          <a:prstGeom prst="ellipse">
            <a:avLst/>
          </a:prstGeom>
          <a:solidFill>
            <a:schemeClr val="tx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2" name="Oval 51">
            <a:extLst>
              <a:ext uri="{FF2B5EF4-FFF2-40B4-BE49-F238E27FC236}">
                <a16:creationId xmlns:a16="http://schemas.microsoft.com/office/drawing/2014/main" id="{3D4417E0-281F-804C-BD64-8D764E2D8866}"/>
              </a:ext>
            </a:extLst>
          </p:cNvPr>
          <p:cNvSpPr/>
          <p:nvPr/>
        </p:nvSpPr>
        <p:spPr>
          <a:xfrm>
            <a:off x="2379410" y="5613852"/>
            <a:ext cx="220223" cy="214396"/>
          </a:xfrm>
          <a:prstGeom prst="ellipse">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136" name="Group 135">
            <a:extLst>
              <a:ext uri="{FF2B5EF4-FFF2-40B4-BE49-F238E27FC236}">
                <a16:creationId xmlns:a16="http://schemas.microsoft.com/office/drawing/2014/main" id="{E4A4482A-4EC1-C59A-155B-20D704BCA8FE}"/>
              </a:ext>
            </a:extLst>
          </p:cNvPr>
          <p:cNvGrpSpPr/>
          <p:nvPr/>
        </p:nvGrpSpPr>
        <p:grpSpPr>
          <a:xfrm>
            <a:off x="3729521" y="820264"/>
            <a:ext cx="1622856" cy="594047"/>
            <a:chOff x="3729521" y="820264"/>
            <a:chExt cx="1622856" cy="594047"/>
          </a:xfrm>
        </p:grpSpPr>
        <p:cxnSp>
          <p:nvCxnSpPr>
            <p:cNvPr id="64" name="Straight Connector 63">
              <a:extLst>
                <a:ext uri="{FF2B5EF4-FFF2-40B4-BE49-F238E27FC236}">
                  <a16:creationId xmlns:a16="http://schemas.microsoft.com/office/drawing/2014/main" id="{026E04CA-18BE-4D21-BAD9-628ABFACA828}"/>
                </a:ext>
              </a:extLst>
            </p:cNvPr>
            <p:cNvCxnSpPr>
              <a:cxnSpLocks/>
              <a:stCxn id="53" idx="7"/>
            </p:cNvCxnSpPr>
            <p:nvPr/>
          </p:nvCxnSpPr>
          <p:spPr>
            <a:xfrm flipV="1">
              <a:off x="3970647" y="820264"/>
              <a:ext cx="1381730" cy="39786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FEA0D605-D246-C7C5-4B28-DDA585D71774}"/>
                </a:ext>
              </a:extLst>
            </p:cNvPr>
            <p:cNvSpPr/>
            <p:nvPr/>
          </p:nvSpPr>
          <p:spPr>
            <a:xfrm>
              <a:off x="3729521" y="1184472"/>
              <a:ext cx="282497" cy="229839"/>
            </a:xfrm>
            <a:prstGeom prst="ellipse">
              <a:avLst/>
            </a:prstGeom>
            <a:solidFill>
              <a:schemeClr val="bg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137" name="Group 136">
            <a:extLst>
              <a:ext uri="{FF2B5EF4-FFF2-40B4-BE49-F238E27FC236}">
                <a16:creationId xmlns:a16="http://schemas.microsoft.com/office/drawing/2014/main" id="{2C806D92-810A-B8DB-0A16-69755317DA2E}"/>
              </a:ext>
            </a:extLst>
          </p:cNvPr>
          <p:cNvGrpSpPr/>
          <p:nvPr/>
        </p:nvGrpSpPr>
        <p:grpSpPr>
          <a:xfrm>
            <a:off x="4460529" y="1911190"/>
            <a:ext cx="1478024" cy="229839"/>
            <a:chOff x="4460529" y="1911190"/>
            <a:chExt cx="1478024" cy="229839"/>
          </a:xfrm>
        </p:grpSpPr>
        <p:sp>
          <p:nvSpPr>
            <p:cNvPr id="54" name="Oval 53">
              <a:extLst>
                <a:ext uri="{FF2B5EF4-FFF2-40B4-BE49-F238E27FC236}">
                  <a16:creationId xmlns:a16="http://schemas.microsoft.com/office/drawing/2014/main" id="{B7B69D8F-047C-60B6-1A98-E9639E676B2B}"/>
                </a:ext>
              </a:extLst>
            </p:cNvPr>
            <p:cNvSpPr/>
            <p:nvPr/>
          </p:nvSpPr>
          <p:spPr>
            <a:xfrm>
              <a:off x="4460529" y="1911190"/>
              <a:ext cx="282497" cy="229839"/>
            </a:xfrm>
            <a:prstGeom prst="ellipse">
              <a:avLst/>
            </a:prstGeom>
            <a:solidFill>
              <a:schemeClr val="accent1">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65" name="Straight Connector 64">
              <a:extLst>
                <a:ext uri="{FF2B5EF4-FFF2-40B4-BE49-F238E27FC236}">
                  <a16:creationId xmlns:a16="http://schemas.microsoft.com/office/drawing/2014/main" id="{2D7A0608-F6FA-D1B7-B7C2-50D4CCF10164}"/>
                </a:ext>
              </a:extLst>
            </p:cNvPr>
            <p:cNvCxnSpPr>
              <a:cxnSpLocks/>
              <a:stCxn id="54" idx="6"/>
            </p:cNvCxnSpPr>
            <p:nvPr/>
          </p:nvCxnSpPr>
          <p:spPr>
            <a:xfrm flipV="1">
              <a:off x="4743026" y="2002817"/>
              <a:ext cx="1195527" cy="2329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9" name="Group 138">
            <a:extLst>
              <a:ext uri="{FF2B5EF4-FFF2-40B4-BE49-F238E27FC236}">
                <a16:creationId xmlns:a16="http://schemas.microsoft.com/office/drawing/2014/main" id="{6F61DDC6-1A78-FE00-36BF-D230E0BF2E76}"/>
              </a:ext>
            </a:extLst>
          </p:cNvPr>
          <p:cNvGrpSpPr/>
          <p:nvPr/>
        </p:nvGrpSpPr>
        <p:grpSpPr>
          <a:xfrm>
            <a:off x="4801506" y="3821804"/>
            <a:ext cx="1318984" cy="229839"/>
            <a:chOff x="4801506" y="3821804"/>
            <a:chExt cx="1318984" cy="229839"/>
          </a:xfrm>
        </p:grpSpPr>
        <p:sp>
          <p:nvSpPr>
            <p:cNvPr id="55" name="Oval 54">
              <a:extLst>
                <a:ext uri="{FF2B5EF4-FFF2-40B4-BE49-F238E27FC236}">
                  <a16:creationId xmlns:a16="http://schemas.microsoft.com/office/drawing/2014/main" id="{AF2F8620-0080-0FDA-71E5-518F6CD09183}"/>
                </a:ext>
              </a:extLst>
            </p:cNvPr>
            <p:cNvSpPr/>
            <p:nvPr/>
          </p:nvSpPr>
          <p:spPr>
            <a:xfrm>
              <a:off x="4801506" y="3821804"/>
              <a:ext cx="282497" cy="229839"/>
            </a:xfrm>
            <a:prstGeom prst="ellipse">
              <a:avLst/>
            </a:prstGeom>
            <a:solidFill>
              <a:schemeClr val="accent1">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EB0B4D9A-60CD-2C2E-CC83-3EB134DE47A3}"/>
                </a:ext>
              </a:extLst>
            </p:cNvPr>
            <p:cNvCxnSpPr>
              <a:cxnSpLocks/>
            </p:cNvCxnSpPr>
            <p:nvPr/>
          </p:nvCxnSpPr>
          <p:spPr>
            <a:xfrm>
              <a:off x="5110770" y="3951600"/>
              <a:ext cx="1009720" cy="4286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0" name="Group 139">
            <a:extLst>
              <a:ext uri="{FF2B5EF4-FFF2-40B4-BE49-F238E27FC236}">
                <a16:creationId xmlns:a16="http://schemas.microsoft.com/office/drawing/2014/main" id="{12959DA4-A822-9212-A7F4-E10856D94F58}"/>
              </a:ext>
            </a:extLst>
          </p:cNvPr>
          <p:cNvGrpSpPr/>
          <p:nvPr/>
        </p:nvGrpSpPr>
        <p:grpSpPr>
          <a:xfrm>
            <a:off x="4490519" y="4590214"/>
            <a:ext cx="1238701" cy="393075"/>
            <a:chOff x="4490519" y="4590214"/>
            <a:chExt cx="1238701" cy="393075"/>
          </a:xfrm>
        </p:grpSpPr>
        <p:sp>
          <p:nvSpPr>
            <p:cNvPr id="56" name="Oval 55">
              <a:extLst>
                <a:ext uri="{FF2B5EF4-FFF2-40B4-BE49-F238E27FC236}">
                  <a16:creationId xmlns:a16="http://schemas.microsoft.com/office/drawing/2014/main" id="{624D03A5-95BD-35A1-BDC5-41850E9809E1}"/>
                </a:ext>
              </a:extLst>
            </p:cNvPr>
            <p:cNvSpPr/>
            <p:nvPr/>
          </p:nvSpPr>
          <p:spPr>
            <a:xfrm>
              <a:off x="4490519" y="4590214"/>
              <a:ext cx="282497" cy="229839"/>
            </a:xfrm>
            <a:prstGeom prst="ellipse">
              <a:avLst/>
            </a:prstGeom>
            <a:solidFill>
              <a:schemeClr val="bg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16E2FA21-E798-0F2B-8C9C-27F817387E4E}"/>
                </a:ext>
              </a:extLst>
            </p:cNvPr>
            <p:cNvCxnSpPr>
              <a:cxnSpLocks/>
            </p:cNvCxnSpPr>
            <p:nvPr/>
          </p:nvCxnSpPr>
          <p:spPr>
            <a:xfrm>
              <a:off x="4780753" y="4780462"/>
              <a:ext cx="948467" cy="20282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8" name="Group 137">
            <a:extLst>
              <a:ext uri="{FF2B5EF4-FFF2-40B4-BE49-F238E27FC236}">
                <a16:creationId xmlns:a16="http://schemas.microsoft.com/office/drawing/2014/main" id="{D05670F9-1C3F-341E-B78E-B7A0C4A751EB}"/>
              </a:ext>
            </a:extLst>
          </p:cNvPr>
          <p:cNvGrpSpPr/>
          <p:nvPr/>
        </p:nvGrpSpPr>
        <p:grpSpPr>
          <a:xfrm>
            <a:off x="4903300" y="2790115"/>
            <a:ext cx="1733090" cy="229839"/>
            <a:chOff x="4903300" y="2790115"/>
            <a:chExt cx="1733090" cy="229839"/>
          </a:xfrm>
        </p:grpSpPr>
        <p:sp>
          <p:nvSpPr>
            <p:cNvPr id="57" name="Oval 56">
              <a:extLst>
                <a:ext uri="{FF2B5EF4-FFF2-40B4-BE49-F238E27FC236}">
                  <a16:creationId xmlns:a16="http://schemas.microsoft.com/office/drawing/2014/main" id="{85CD7A2D-F730-3768-41C0-E4306FEFFD7D}"/>
                </a:ext>
              </a:extLst>
            </p:cNvPr>
            <p:cNvSpPr/>
            <p:nvPr/>
          </p:nvSpPr>
          <p:spPr>
            <a:xfrm>
              <a:off x="4903300" y="2790115"/>
              <a:ext cx="282497" cy="229839"/>
            </a:xfrm>
            <a:prstGeom prst="ellipse">
              <a:avLst/>
            </a:prstGeom>
            <a:solidFill>
              <a:schemeClr val="bg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67" name="Straight Connector 66">
              <a:extLst>
                <a:ext uri="{FF2B5EF4-FFF2-40B4-BE49-F238E27FC236}">
                  <a16:creationId xmlns:a16="http://schemas.microsoft.com/office/drawing/2014/main" id="{2A05E31B-C680-B7F7-3ECB-3650D6EC2C85}"/>
                </a:ext>
              </a:extLst>
            </p:cNvPr>
            <p:cNvCxnSpPr>
              <a:cxnSpLocks/>
            </p:cNvCxnSpPr>
            <p:nvPr/>
          </p:nvCxnSpPr>
          <p:spPr>
            <a:xfrm flipV="1">
              <a:off x="5185797" y="2931457"/>
              <a:ext cx="1450593" cy="2127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6" name="Group 155">
            <a:extLst>
              <a:ext uri="{FF2B5EF4-FFF2-40B4-BE49-F238E27FC236}">
                <a16:creationId xmlns:a16="http://schemas.microsoft.com/office/drawing/2014/main" id="{4CF9DC0B-0571-9FAA-CB51-3EBC6690FD5A}"/>
              </a:ext>
            </a:extLst>
          </p:cNvPr>
          <p:cNvGrpSpPr/>
          <p:nvPr/>
        </p:nvGrpSpPr>
        <p:grpSpPr>
          <a:xfrm>
            <a:off x="4976173" y="131004"/>
            <a:ext cx="5801593" cy="1024772"/>
            <a:chOff x="4976173" y="131004"/>
            <a:chExt cx="5801593" cy="1024772"/>
          </a:xfrm>
        </p:grpSpPr>
        <p:sp>
          <p:nvSpPr>
            <p:cNvPr id="83" name="Rectangle: Rounded Corners 82">
              <a:extLst>
                <a:ext uri="{FF2B5EF4-FFF2-40B4-BE49-F238E27FC236}">
                  <a16:creationId xmlns:a16="http://schemas.microsoft.com/office/drawing/2014/main" id="{11586567-E7DB-C547-8732-12A6A459E641}"/>
                </a:ext>
              </a:extLst>
            </p:cNvPr>
            <p:cNvSpPr/>
            <p:nvPr/>
          </p:nvSpPr>
          <p:spPr>
            <a:xfrm>
              <a:off x="5392993" y="157874"/>
              <a:ext cx="5384773" cy="997902"/>
            </a:xfrm>
            <a:prstGeom prst="roundRect">
              <a:avLst>
                <a:gd name="adj" fmla="val 50000"/>
              </a:avLst>
            </a:prstGeom>
            <a:solidFill>
              <a:schemeClr val="bg2">
                <a:lumMod val="40000"/>
                <a:lumOff val="6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3" name="Graphic 92" descr="Alarm Ringing outline">
              <a:extLst>
                <a:ext uri="{FF2B5EF4-FFF2-40B4-BE49-F238E27FC236}">
                  <a16:creationId xmlns:a16="http://schemas.microsoft.com/office/drawing/2014/main" id="{10A304AF-12CE-DD92-E6D2-7AAFF6A74A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98972" y="131004"/>
              <a:ext cx="997902" cy="997902"/>
            </a:xfrm>
            <a:prstGeom prst="rect">
              <a:avLst/>
            </a:prstGeom>
          </p:spPr>
        </p:pic>
        <p:sp>
          <p:nvSpPr>
            <p:cNvPr id="107" name="Oval 106">
              <a:extLst>
                <a:ext uri="{FF2B5EF4-FFF2-40B4-BE49-F238E27FC236}">
                  <a16:creationId xmlns:a16="http://schemas.microsoft.com/office/drawing/2014/main" id="{D7BADB46-9465-5A82-E17C-121AB7BFE063}"/>
                </a:ext>
              </a:extLst>
            </p:cNvPr>
            <p:cNvSpPr/>
            <p:nvPr/>
          </p:nvSpPr>
          <p:spPr>
            <a:xfrm>
              <a:off x="4976173" y="464366"/>
              <a:ext cx="983225" cy="624033"/>
            </a:xfrm>
            <a:prstGeom prst="ellipse">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1</a:t>
              </a:r>
            </a:p>
          </p:txBody>
        </p:sp>
        <p:sp>
          <p:nvSpPr>
            <p:cNvPr id="111" name="TextBox 110">
              <a:extLst>
                <a:ext uri="{FF2B5EF4-FFF2-40B4-BE49-F238E27FC236}">
                  <a16:creationId xmlns:a16="http://schemas.microsoft.com/office/drawing/2014/main" id="{3B0345A2-2214-A27D-B6EA-6A38CC70816C}"/>
                </a:ext>
              </a:extLst>
            </p:cNvPr>
            <p:cNvSpPr txBox="1"/>
            <p:nvPr/>
          </p:nvSpPr>
          <p:spPr>
            <a:xfrm>
              <a:off x="6075504" y="257254"/>
              <a:ext cx="3482852" cy="738664"/>
            </a:xfrm>
            <a:prstGeom prst="rect">
              <a:avLst/>
            </a:prstGeom>
            <a:noFill/>
          </p:spPr>
          <p:txBody>
            <a:bodyPr wrap="square" rtlCol="0">
              <a:spAutoFit/>
            </a:bodyPr>
            <a:lstStyle/>
            <a:p>
              <a:r>
                <a:rPr lang="en-US" sz="1400" b="1" dirty="0"/>
                <a:t>Which product type offers the best inventory availability and the strongest financial performance?</a:t>
              </a:r>
              <a:endParaRPr lang="en-US" sz="1400" dirty="0"/>
            </a:p>
          </p:txBody>
        </p:sp>
      </p:grpSp>
      <p:grpSp>
        <p:nvGrpSpPr>
          <p:cNvPr id="150" name="Group 149">
            <a:extLst>
              <a:ext uri="{FF2B5EF4-FFF2-40B4-BE49-F238E27FC236}">
                <a16:creationId xmlns:a16="http://schemas.microsoft.com/office/drawing/2014/main" id="{5774A712-2F47-47FE-319F-0EDB4D015BF0}"/>
              </a:ext>
            </a:extLst>
          </p:cNvPr>
          <p:cNvGrpSpPr/>
          <p:nvPr/>
        </p:nvGrpSpPr>
        <p:grpSpPr>
          <a:xfrm>
            <a:off x="6023601" y="2442484"/>
            <a:ext cx="5726440" cy="1043463"/>
            <a:chOff x="6023601" y="2442484"/>
            <a:chExt cx="5726440" cy="1043463"/>
          </a:xfrm>
        </p:grpSpPr>
        <p:sp>
          <p:nvSpPr>
            <p:cNvPr id="88" name="Rectangle: Rounded Corners 87">
              <a:extLst>
                <a:ext uri="{FF2B5EF4-FFF2-40B4-BE49-F238E27FC236}">
                  <a16:creationId xmlns:a16="http://schemas.microsoft.com/office/drawing/2014/main" id="{78C4A2D6-D14B-9975-0718-7F2D5AC93AB8}"/>
                </a:ext>
              </a:extLst>
            </p:cNvPr>
            <p:cNvSpPr/>
            <p:nvPr/>
          </p:nvSpPr>
          <p:spPr>
            <a:xfrm>
              <a:off x="6674364" y="2442484"/>
              <a:ext cx="5075677" cy="997902"/>
            </a:xfrm>
            <a:prstGeom prst="roundRect">
              <a:avLst>
                <a:gd name="adj" fmla="val 50000"/>
              </a:avLst>
            </a:prstGeom>
            <a:solidFill>
              <a:schemeClr val="bg2">
                <a:lumMod val="40000"/>
                <a:lumOff val="6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7" name="Graphic 96" descr="Bar graph with upward trend outline">
              <a:extLst>
                <a:ext uri="{FF2B5EF4-FFF2-40B4-BE49-F238E27FC236}">
                  <a16:creationId xmlns:a16="http://schemas.microsoft.com/office/drawing/2014/main" id="{D1403385-9C83-5299-4ADB-8ADA7665A68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02490" y="2507636"/>
              <a:ext cx="890185" cy="890185"/>
            </a:xfrm>
            <a:prstGeom prst="rect">
              <a:avLst/>
            </a:prstGeom>
          </p:spPr>
        </p:pic>
        <p:sp>
          <p:nvSpPr>
            <p:cNvPr id="103" name="Oval 102">
              <a:extLst>
                <a:ext uri="{FF2B5EF4-FFF2-40B4-BE49-F238E27FC236}">
                  <a16:creationId xmlns:a16="http://schemas.microsoft.com/office/drawing/2014/main" id="{4FCB4DAC-051C-8574-C786-3C4BD54BBEC9}"/>
                </a:ext>
              </a:extLst>
            </p:cNvPr>
            <p:cNvSpPr/>
            <p:nvPr/>
          </p:nvSpPr>
          <p:spPr>
            <a:xfrm>
              <a:off x="6023601" y="2588467"/>
              <a:ext cx="983225" cy="624033"/>
            </a:xfrm>
            <a:prstGeom prst="ellipse">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3</a:t>
              </a:r>
            </a:p>
          </p:txBody>
        </p:sp>
        <p:sp>
          <p:nvSpPr>
            <p:cNvPr id="113" name="TextBox 112">
              <a:extLst>
                <a:ext uri="{FF2B5EF4-FFF2-40B4-BE49-F238E27FC236}">
                  <a16:creationId xmlns:a16="http://schemas.microsoft.com/office/drawing/2014/main" id="{B0393A9D-02DD-785F-0501-D60FA1084BB1}"/>
                </a:ext>
              </a:extLst>
            </p:cNvPr>
            <p:cNvSpPr txBox="1"/>
            <p:nvPr/>
          </p:nvSpPr>
          <p:spPr>
            <a:xfrm>
              <a:off x="7086359" y="2624173"/>
              <a:ext cx="3448822" cy="861774"/>
            </a:xfrm>
            <a:prstGeom prst="rect">
              <a:avLst/>
            </a:prstGeom>
            <a:noFill/>
          </p:spPr>
          <p:txBody>
            <a:bodyPr wrap="square" rtlCol="0">
              <a:spAutoFit/>
            </a:bodyPr>
            <a:lstStyle/>
            <a:p>
              <a:r>
                <a:rPr lang="en-US" altLang="en-US" sz="1600" b="1" dirty="0">
                  <a:latin typeface="Arial" panose="020B0604020202020204" pitchFamily="34" charset="0"/>
                </a:rPr>
                <a:t>Which supplier demonstrates the best overall performance?</a:t>
              </a:r>
            </a:p>
            <a:p>
              <a:endParaRPr lang="en-US" sz="1600" dirty="0"/>
            </a:p>
          </p:txBody>
        </p:sp>
      </p:grpSp>
      <p:grpSp>
        <p:nvGrpSpPr>
          <p:cNvPr id="149" name="Group 148">
            <a:extLst>
              <a:ext uri="{FF2B5EF4-FFF2-40B4-BE49-F238E27FC236}">
                <a16:creationId xmlns:a16="http://schemas.microsoft.com/office/drawing/2014/main" id="{D3B6C5AD-201F-B3C5-A49D-D0AD6A0B5F26}"/>
              </a:ext>
            </a:extLst>
          </p:cNvPr>
          <p:cNvGrpSpPr/>
          <p:nvPr/>
        </p:nvGrpSpPr>
        <p:grpSpPr>
          <a:xfrm>
            <a:off x="5739467" y="4705133"/>
            <a:ext cx="6195291" cy="1055317"/>
            <a:chOff x="5739467" y="4705133"/>
            <a:chExt cx="6195291" cy="1055317"/>
          </a:xfrm>
        </p:grpSpPr>
        <p:sp>
          <p:nvSpPr>
            <p:cNvPr id="90" name="Rectangle: Rounded Corners 89">
              <a:extLst>
                <a:ext uri="{FF2B5EF4-FFF2-40B4-BE49-F238E27FC236}">
                  <a16:creationId xmlns:a16="http://schemas.microsoft.com/office/drawing/2014/main" id="{1E2F4D6A-9777-4C01-88CF-3FF7E331DA8C}"/>
                </a:ext>
              </a:extLst>
            </p:cNvPr>
            <p:cNvSpPr/>
            <p:nvPr/>
          </p:nvSpPr>
          <p:spPr>
            <a:xfrm>
              <a:off x="6549985" y="4740262"/>
              <a:ext cx="5384773" cy="997902"/>
            </a:xfrm>
            <a:prstGeom prst="roundRect">
              <a:avLst>
                <a:gd name="adj" fmla="val 50000"/>
              </a:avLst>
            </a:prstGeom>
            <a:solidFill>
              <a:schemeClr val="bg2">
                <a:lumMod val="40000"/>
                <a:lumOff val="6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1" name="Graphic 100" descr="Books on shelf outline">
              <a:extLst>
                <a:ext uri="{FF2B5EF4-FFF2-40B4-BE49-F238E27FC236}">
                  <a16:creationId xmlns:a16="http://schemas.microsoft.com/office/drawing/2014/main" id="{50CC50A1-6799-B1E7-6F4F-FD95D283B0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714710" y="4705133"/>
              <a:ext cx="997902" cy="997902"/>
            </a:xfrm>
            <a:prstGeom prst="rect">
              <a:avLst/>
            </a:prstGeom>
          </p:spPr>
        </p:pic>
        <p:sp>
          <p:nvSpPr>
            <p:cNvPr id="105" name="Oval 104">
              <a:extLst>
                <a:ext uri="{FF2B5EF4-FFF2-40B4-BE49-F238E27FC236}">
                  <a16:creationId xmlns:a16="http://schemas.microsoft.com/office/drawing/2014/main" id="{1EE01451-D8CB-423B-F719-3558B8234AFF}"/>
                </a:ext>
              </a:extLst>
            </p:cNvPr>
            <p:cNvSpPr/>
            <p:nvPr/>
          </p:nvSpPr>
          <p:spPr>
            <a:xfrm>
              <a:off x="5739467" y="4780462"/>
              <a:ext cx="983225" cy="624033"/>
            </a:xfrm>
            <a:prstGeom prst="ellipse">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5</a:t>
              </a:r>
            </a:p>
          </p:txBody>
        </p:sp>
        <p:sp>
          <p:nvSpPr>
            <p:cNvPr id="115" name="TextBox 114">
              <a:extLst>
                <a:ext uri="{FF2B5EF4-FFF2-40B4-BE49-F238E27FC236}">
                  <a16:creationId xmlns:a16="http://schemas.microsoft.com/office/drawing/2014/main" id="{AF35649F-56E8-CFFD-182B-D67287BC10F8}"/>
                </a:ext>
              </a:extLst>
            </p:cNvPr>
            <p:cNvSpPr txBox="1"/>
            <p:nvPr/>
          </p:nvSpPr>
          <p:spPr>
            <a:xfrm>
              <a:off x="6753984" y="4898676"/>
              <a:ext cx="3558658" cy="861774"/>
            </a:xfrm>
            <a:prstGeom prst="rect">
              <a:avLst/>
            </a:prstGeom>
            <a:noFill/>
          </p:spPr>
          <p:txBody>
            <a:bodyPr wrap="square" rtlCol="0">
              <a:spAutoFit/>
            </a:bodyPr>
            <a:lstStyle/>
            <a:p>
              <a:r>
                <a:rPr lang="en-US" altLang="en-US" sz="1600" b="1" dirty="0">
                  <a:latin typeface="Arial" panose="020B0604020202020204" pitchFamily="34" charset="0"/>
                </a:rPr>
                <a:t>Which Transportation mode is the most efficient?</a:t>
              </a:r>
            </a:p>
            <a:p>
              <a:endParaRPr lang="en-US" sz="1600" dirty="0"/>
            </a:p>
          </p:txBody>
        </p:sp>
      </p:grpSp>
      <p:grpSp>
        <p:nvGrpSpPr>
          <p:cNvPr id="142" name="Group 141">
            <a:extLst>
              <a:ext uri="{FF2B5EF4-FFF2-40B4-BE49-F238E27FC236}">
                <a16:creationId xmlns:a16="http://schemas.microsoft.com/office/drawing/2014/main" id="{583B3AD7-4A2F-5E9E-B29C-514DAB1FFFB6}"/>
              </a:ext>
            </a:extLst>
          </p:cNvPr>
          <p:cNvGrpSpPr/>
          <p:nvPr/>
        </p:nvGrpSpPr>
        <p:grpSpPr>
          <a:xfrm>
            <a:off x="3760668" y="5299145"/>
            <a:ext cx="1854962" cy="807506"/>
            <a:chOff x="3760668" y="5299145"/>
            <a:chExt cx="1854962" cy="807506"/>
          </a:xfrm>
        </p:grpSpPr>
        <p:sp>
          <p:nvSpPr>
            <p:cNvPr id="117" name="Oval 116">
              <a:extLst>
                <a:ext uri="{FF2B5EF4-FFF2-40B4-BE49-F238E27FC236}">
                  <a16:creationId xmlns:a16="http://schemas.microsoft.com/office/drawing/2014/main" id="{F11C21D5-97FB-AD1D-3D4D-E325AABFCC10}"/>
                </a:ext>
              </a:extLst>
            </p:cNvPr>
            <p:cNvSpPr/>
            <p:nvPr/>
          </p:nvSpPr>
          <p:spPr>
            <a:xfrm>
              <a:off x="3760668" y="5299145"/>
              <a:ext cx="251807" cy="198068"/>
            </a:xfrm>
            <a:prstGeom prst="ellipse">
              <a:avLst/>
            </a:prstGeom>
            <a:solidFill>
              <a:schemeClr val="accent1">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22" name="Straight Connector 121">
              <a:extLst>
                <a:ext uri="{FF2B5EF4-FFF2-40B4-BE49-F238E27FC236}">
                  <a16:creationId xmlns:a16="http://schemas.microsoft.com/office/drawing/2014/main" id="{CAD63379-DD53-A13A-D9EF-B79C184CF902}"/>
                </a:ext>
              </a:extLst>
            </p:cNvPr>
            <p:cNvCxnSpPr>
              <a:cxnSpLocks/>
            </p:cNvCxnSpPr>
            <p:nvPr/>
          </p:nvCxnSpPr>
          <p:spPr>
            <a:xfrm>
              <a:off x="4012018" y="5514563"/>
              <a:ext cx="1603612" cy="59208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6" name="Group 145">
            <a:extLst>
              <a:ext uri="{FF2B5EF4-FFF2-40B4-BE49-F238E27FC236}">
                <a16:creationId xmlns:a16="http://schemas.microsoft.com/office/drawing/2014/main" id="{E1ECE944-32FE-AAE5-4BF6-7466F39A000A}"/>
              </a:ext>
            </a:extLst>
          </p:cNvPr>
          <p:cNvGrpSpPr/>
          <p:nvPr/>
        </p:nvGrpSpPr>
        <p:grpSpPr>
          <a:xfrm>
            <a:off x="5829012" y="1261802"/>
            <a:ext cx="5793833" cy="997902"/>
            <a:chOff x="5829012" y="1261802"/>
            <a:chExt cx="5793833" cy="997902"/>
          </a:xfrm>
        </p:grpSpPr>
        <p:grpSp>
          <p:nvGrpSpPr>
            <p:cNvPr id="131" name="Group 130">
              <a:extLst>
                <a:ext uri="{FF2B5EF4-FFF2-40B4-BE49-F238E27FC236}">
                  <a16:creationId xmlns:a16="http://schemas.microsoft.com/office/drawing/2014/main" id="{09FF9E48-DDD7-B873-E10D-0CCAB42B069C}"/>
                </a:ext>
              </a:extLst>
            </p:cNvPr>
            <p:cNvGrpSpPr/>
            <p:nvPr/>
          </p:nvGrpSpPr>
          <p:grpSpPr>
            <a:xfrm>
              <a:off x="6547167" y="1261802"/>
              <a:ext cx="5075678" cy="997902"/>
              <a:chOff x="6547167" y="1261802"/>
              <a:chExt cx="5075678" cy="997902"/>
            </a:xfrm>
          </p:grpSpPr>
          <p:sp>
            <p:nvSpPr>
              <p:cNvPr id="87" name="Rectangle: Rounded Corners 86">
                <a:extLst>
                  <a:ext uri="{FF2B5EF4-FFF2-40B4-BE49-F238E27FC236}">
                    <a16:creationId xmlns:a16="http://schemas.microsoft.com/office/drawing/2014/main" id="{D2A528DB-2A39-77B1-42EC-EF409CBDBB2A}"/>
                  </a:ext>
                </a:extLst>
              </p:cNvPr>
              <p:cNvSpPr/>
              <p:nvPr/>
            </p:nvSpPr>
            <p:spPr>
              <a:xfrm>
                <a:off x="6547167" y="1261802"/>
                <a:ext cx="5075678" cy="997902"/>
              </a:xfrm>
              <a:prstGeom prst="roundRect">
                <a:avLst>
                  <a:gd name="adj" fmla="val 50000"/>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5" name="Graphic 94" descr="Atom with solid fill">
                <a:extLst>
                  <a:ext uri="{FF2B5EF4-FFF2-40B4-BE49-F238E27FC236}">
                    <a16:creationId xmlns:a16="http://schemas.microsoft.com/office/drawing/2014/main" id="{D4EE3A86-C99F-A123-4A38-E0777BEE373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714710" y="1448104"/>
                <a:ext cx="746611" cy="746611"/>
              </a:xfrm>
              <a:prstGeom prst="rect">
                <a:avLst/>
              </a:prstGeom>
            </p:spPr>
          </p:pic>
          <p:sp>
            <p:nvSpPr>
              <p:cNvPr id="112" name="TextBox 111">
                <a:extLst>
                  <a:ext uri="{FF2B5EF4-FFF2-40B4-BE49-F238E27FC236}">
                    <a16:creationId xmlns:a16="http://schemas.microsoft.com/office/drawing/2014/main" id="{D7B1DFDE-4A2B-BD19-6765-F289A33322F4}"/>
                  </a:ext>
                </a:extLst>
              </p:cNvPr>
              <p:cNvSpPr txBox="1"/>
              <p:nvPr/>
            </p:nvSpPr>
            <p:spPr>
              <a:xfrm>
                <a:off x="7028280" y="1464171"/>
                <a:ext cx="3686430" cy="584775"/>
              </a:xfrm>
              <a:prstGeom prst="rect">
                <a:avLst/>
              </a:prstGeom>
              <a:noFill/>
            </p:spPr>
            <p:txBody>
              <a:bodyPr wrap="square" rtlCol="0">
                <a:spAutoFit/>
              </a:bodyPr>
              <a:lstStyle/>
              <a:p>
                <a:r>
                  <a:rPr lang="en-US" sz="1600" b="1" dirty="0"/>
                  <a:t>Who tends to purchase more: males or females?</a:t>
                </a:r>
                <a:endParaRPr lang="en-US" sz="1600" dirty="0"/>
              </a:p>
            </p:txBody>
          </p:sp>
        </p:grpSp>
        <p:sp>
          <p:nvSpPr>
            <p:cNvPr id="106" name="Oval 105">
              <a:extLst>
                <a:ext uri="{FF2B5EF4-FFF2-40B4-BE49-F238E27FC236}">
                  <a16:creationId xmlns:a16="http://schemas.microsoft.com/office/drawing/2014/main" id="{6B837A09-9FA5-E4CD-BD01-60E95F67FC53}"/>
                </a:ext>
              </a:extLst>
            </p:cNvPr>
            <p:cNvSpPr/>
            <p:nvPr/>
          </p:nvSpPr>
          <p:spPr>
            <a:xfrm>
              <a:off x="5829012" y="1591845"/>
              <a:ext cx="983225" cy="624033"/>
            </a:xfrm>
            <a:prstGeom prst="ellipse">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2</a:t>
              </a:r>
            </a:p>
          </p:txBody>
        </p:sp>
      </p:grpSp>
      <p:grpSp>
        <p:nvGrpSpPr>
          <p:cNvPr id="148" name="Group 147">
            <a:extLst>
              <a:ext uri="{FF2B5EF4-FFF2-40B4-BE49-F238E27FC236}">
                <a16:creationId xmlns:a16="http://schemas.microsoft.com/office/drawing/2014/main" id="{2066B60E-18CE-6DE4-307E-FA6615F409BA}"/>
              </a:ext>
            </a:extLst>
          </p:cNvPr>
          <p:cNvGrpSpPr/>
          <p:nvPr/>
        </p:nvGrpSpPr>
        <p:grpSpPr>
          <a:xfrm>
            <a:off x="5467785" y="5865222"/>
            <a:ext cx="5701840" cy="1025148"/>
            <a:chOff x="5467785" y="5865222"/>
            <a:chExt cx="5701840" cy="1025148"/>
          </a:xfrm>
        </p:grpSpPr>
        <p:grpSp>
          <p:nvGrpSpPr>
            <p:cNvPr id="144" name="Group 143">
              <a:extLst>
                <a:ext uri="{FF2B5EF4-FFF2-40B4-BE49-F238E27FC236}">
                  <a16:creationId xmlns:a16="http://schemas.microsoft.com/office/drawing/2014/main" id="{D571A959-AF85-0348-07A2-57CCECD4BC5C}"/>
                </a:ext>
              </a:extLst>
            </p:cNvPr>
            <p:cNvGrpSpPr/>
            <p:nvPr/>
          </p:nvGrpSpPr>
          <p:grpSpPr>
            <a:xfrm>
              <a:off x="6284188" y="5865222"/>
              <a:ext cx="4885437" cy="1025148"/>
              <a:chOff x="6284188" y="5865222"/>
              <a:chExt cx="4885437" cy="1025148"/>
            </a:xfrm>
          </p:grpSpPr>
          <p:sp>
            <p:nvSpPr>
              <p:cNvPr id="121" name="Rectangle: Rounded Corners 120">
                <a:extLst>
                  <a:ext uri="{FF2B5EF4-FFF2-40B4-BE49-F238E27FC236}">
                    <a16:creationId xmlns:a16="http://schemas.microsoft.com/office/drawing/2014/main" id="{1A12DACC-35A1-5645-282F-83AE0A90E64B}"/>
                  </a:ext>
                </a:extLst>
              </p:cNvPr>
              <p:cNvSpPr/>
              <p:nvPr/>
            </p:nvSpPr>
            <p:spPr>
              <a:xfrm>
                <a:off x="6284188" y="5865222"/>
                <a:ext cx="4885437" cy="861774"/>
              </a:xfrm>
              <a:prstGeom prst="roundRect">
                <a:avLst>
                  <a:gd name="adj" fmla="val 50000"/>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7" name="Graphic 126" descr="Lightbulb with solid fill">
                <a:extLst>
                  <a:ext uri="{FF2B5EF4-FFF2-40B4-BE49-F238E27FC236}">
                    <a16:creationId xmlns:a16="http://schemas.microsoft.com/office/drawing/2014/main" id="{BB1D61D5-625F-E7D3-801B-7B8777129AE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85906" y="5943277"/>
                <a:ext cx="783719" cy="783719"/>
              </a:xfrm>
              <a:prstGeom prst="rect">
                <a:avLst/>
              </a:prstGeom>
            </p:spPr>
          </p:pic>
          <p:sp>
            <p:nvSpPr>
              <p:cNvPr id="128" name="TextBox 127">
                <a:extLst>
                  <a:ext uri="{FF2B5EF4-FFF2-40B4-BE49-F238E27FC236}">
                    <a16:creationId xmlns:a16="http://schemas.microsoft.com/office/drawing/2014/main" id="{B0BCE80F-313E-C8B0-22D9-848AAE50F699}"/>
                  </a:ext>
                </a:extLst>
              </p:cNvPr>
              <p:cNvSpPr txBox="1"/>
              <p:nvPr/>
            </p:nvSpPr>
            <p:spPr>
              <a:xfrm>
                <a:off x="6666560" y="6028596"/>
                <a:ext cx="3719346" cy="861774"/>
              </a:xfrm>
              <a:prstGeom prst="rect">
                <a:avLst/>
              </a:prstGeom>
              <a:noFill/>
            </p:spPr>
            <p:txBody>
              <a:bodyPr wrap="square" rtlCol="0">
                <a:spAutoFit/>
              </a:bodyPr>
              <a:lstStyle/>
              <a:p>
                <a:r>
                  <a:rPr lang="en-US" sz="1600" b="1" dirty="0"/>
                  <a:t>Which route provides the best overall performance?</a:t>
                </a:r>
                <a:endParaRPr lang="en-US" altLang="en-US" sz="1600" b="1" dirty="0">
                  <a:solidFill>
                    <a:schemeClr val="bg1"/>
                  </a:solidFill>
                  <a:latin typeface="Arial" panose="020B0604020202020204" pitchFamily="34" charset="0"/>
                </a:endParaRPr>
              </a:p>
              <a:p>
                <a:endParaRPr lang="en-US" sz="1600" dirty="0"/>
              </a:p>
            </p:txBody>
          </p:sp>
        </p:grpSp>
        <p:sp>
          <p:nvSpPr>
            <p:cNvPr id="124" name="Oval 123">
              <a:extLst>
                <a:ext uri="{FF2B5EF4-FFF2-40B4-BE49-F238E27FC236}">
                  <a16:creationId xmlns:a16="http://schemas.microsoft.com/office/drawing/2014/main" id="{1C0DD19E-9DC8-4C65-9ED6-FDD764F5EB69}"/>
                </a:ext>
              </a:extLst>
            </p:cNvPr>
            <p:cNvSpPr/>
            <p:nvPr/>
          </p:nvSpPr>
          <p:spPr>
            <a:xfrm>
              <a:off x="5467785" y="5866898"/>
              <a:ext cx="983225" cy="624033"/>
            </a:xfrm>
            <a:prstGeom prst="ellipse">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6</a:t>
              </a:r>
            </a:p>
          </p:txBody>
        </p:sp>
      </p:grpSp>
      <p:grpSp>
        <p:nvGrpSpPr>
          <p:cNvPr id="155" name="Group 154">
            <a:extLst>
              <a:ext uri="{FF2B5EF4-FFF2-40B4-BE49-F238E27FC236}">
                <a16:creationId xmlns:a16="http://schemas.microsoft.com/office/drawing/2014/main" id="{2C498AE8-7AEA-C96E-B6E6-2F361E339D7A}"/>
              </a:ext>
            </a:extLst>
          </p:cNvPr>
          <p:cNvGrpSpPr/>
          <p:nvPr/>
        </p:nvGrpSpPr>
        <p:grpSpPr>
          <a:xfrm>
            <a:off x="6060043" y="3625213"/>
            <a:ext cx="5562802" cy="1061503"/>
            <a:chOff x="5922081" y="3622075"/>
            <a:chExt cx="5562802" cy="1061503"/>
          </a:xfrm>
        </p:grpSpPr>
        <p:sp>
          <p:nvSpPr>
            <p:cNvPr id="89" name="Rectangle: Rounded Corners 88">
              <a:extLst>
                <a:ext uri="{FF2B5EF4-FFF2-40B4-BE49-F238E27FC236}">
                  <a16:creationId xmlns:a16="http://schemas.microsoft.com/office/drawing/2014/main" id="{84B2F3C9-EBD6-3FD2-88F4-E0120FE73C97}"/>
                </a:ext>
              </a:extLst>
            </p:cNvPr>
            <p:cNvSpPr/>
            <p:nvPr/>
          </p:nvSpPr>
          <p:spPr>
            <a:xfrm>
              <a:off x="6704534" y="3622075"/>
              <a:ext cx="4780349" cy="997902"/>
            </a:xfrm>
            <a:prstGeom prst="roundRect">
              <a:avLst>
                <a:gd name="adj" fmla="val 50000"/>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Oval 103">
              <a:extLst>
                <a:ext uri="{FF2B5EF4-FFF2-40B4-BE49-F238E27FC236}">
                  <a16:creationId xmlns:a16="http://schemas.microsoft.com/office/drawing/2014/main" id="{4BE61DFF-8506-9D63-CDC1-77FD64B56100}"/>
                </a:ext>
              </a:extLst>
            </p:cNvPr>
            <p:cNvSpPr/>
            <p:nvPr/>
          </p:nvSpPr>
          <p:spPr>
            <a:xfrm>
              <a:off x="5922081" y="3729371"/>
              <a:ext cx="983225" cy="624033"/>
            </a:xfrm>
            <a:prstGeom prst="ellipse">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4</a:t>
              </a:r>
            </a:p>
          </p:txBody>
        </p:sp>
        <p:sp>
          <p:nvSpPr>
            <p:cNvPr id="114" name="TextBox 113">
              <a:extLst>
                <a:ext uri="{FF2B5EF4-FFF2-40B4-BE49-F238E27FC236}">
                  <a16:creationId xmlns:a16="http://schemas.microsoft.com/office/drawing/2014/main" id="{DE7499FD-7AE9-AC77-B119-8FF600625324}"/>
                </a:ext>
              </a:extLst>
            </p:cNvPr>
            <p:cNvSpPr txBox="1"/>
            <p:nvPr/>
          </p:nvSpPr>
          <p:spPr>
            <a:xfrm>
              <a:off x="6980780" y="3821804"/>
              <a:ext cx="3807512" cy="861774"/>
            </a:xfrm>
            <a:prstGeom prst="rect">
              <a:avLst/>
            </a:prstGeom>
            <a:noFill/>
          </p:spPr>
          <p:txBody>
            <a:bodyPr wrap="square" rtlCol="0">
              <a:spAutoFit/>
            </a:bodyPr>
            <a:lstStyle/>
            <a:p>
              <a:r>
                <a:rPr lang="en-US" altLang="en-US" sz="1600" b="1" dirty="0">
                  <a:latin typeface="Arial" panose="020B0604020202020204" pitchFamily="34" charset="0"/>
                </a:rPr>
                <a:t>Which Carrier provides the most reliable service?</a:t>
              </a:r>
            </a:p>
            <a:p>
              <a:endParaRPr lang="en-US" sz="1600" dirty="0"/>
            </a:p>
          </p:txBody>
        </p:sp>
        <p:pic>
          <p:nvPicPr>
            <p:cNvPr id="154" name="Graphic 153" descr="Abacus with solid fill">
              <a:extLst>
                <a:ext uri="{FF2B5EF4-FFF2-40B4-BE49-F238E27FC236}">
                  <a16:creationId xmlns:a16="http://schemas.microsoft.com/office/drawing/2014/main" id="{E7A91850-0A82-A696-D385-817C139ED82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492638" y="3708436"/>
              <a:ext cx="713227" cy="713227"/>
            </a:xfrm>
            <a:prstGeom prst="rect">
              <a:avLst/>
            </a:prstGeom>
          </p:spPr>
        </p:pic>
      </p:grpSp>
    </p:spTree>
    <p:extLst>
      <p:ext uri="{BB962C8B-B14F-4D97-AF65-F5344CB8AC3E}">
        <p14:creationId xmlns:p14="http://schemas.microsoft.com/office/powerpoint/2010/main" val="12507181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1000"/>
                                        <p:tgtEl>
                                          <p:spTgt spid="47"/>
                                        </p:tgtEl>
                                      </p:cBhvr>
                                    </p:animEffect>
                                    <p:anim calcmode="lin" valueType="num">
                                      <p:cBhvr>
                                        <p:cTn id="8" dur="1000" fill="hold"/>
                                        <p:tgtEl>
                                          <p:spTgt spid="47"/>
                                        </p:tgtEl>
                                        <p:attrNameLst>
                                          <p:attrName>ppt_x</p:attrName>
                                        </p:attrNameLst>
                                      </p:cBhvr>
                                      <p:tavLst>
                                        <p:tav tm="0">
                                          <p:val>
                                            <p:strVal val="#ppt_x"/>
                                          </p:val>
                                        </p:tav>
                                        <p:tav tm="100000">
                                          <p:val>
                                            <p:strVal val="#ppt_x"/>
                                          </p:val>
                                        </p:tav>
                                      </p:tavLst>
                                    </p:anim>
                                    <p:anim calcmode="lin" valueType="num">
                                      <p:cBhvr>
                                        <p:cTn id="9"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36"/>
                                        </p:tgtEl>
                                        <p:attrNameLst>
                                          <p:attrName>style.visibility</p:attrName>
                                        </p:attrNameLst>
                                      </p:cBhvr>
                                      <p:to>
                                        <p:strVal val="visible"/>
                                      </p:to>
                                    </p:set>
                                    <p:animEffect transition="in" filter="barn(inVertical)">
                                      <p:cBhvr>
                                        <p:cTn id="14" dur="500"/>
                                        <p:tgtEl>
                                          <p:spTgt spid="13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56"/>
                                        </p:tgtEl>
                                        <p:attrNameLst>
                                          <p:attrName>style.visibility</p:attrName>
                                        </p:attrNameLst>
                                      </p:cBhvr>
                                      <p:to>
                                        <p:strVal val="visible"/>
                                      </p:to>
                                    </p:set>
                                    <p:animEffect transition="in" filter="fade">
                                      <p:cBhvr>
                                        <p:cTn id="19" dur="1000"/>
                                        <p:tgtEl>
                                          <p:spTgt spid="156"/>
                                        </p:tgtEl>
                                      </p:cBhvr>
                                    </p:animEffect>
                                    <p:anim calcmode="lin" valueType="num">
                                      <p:cBhvr>
                                        <p:cTn id="20" dur="1000" fill="hold"/>
                                        <p:tgtEl>
                                          <p:spTgt spid="156"/>
                                        </p:tgtEl>
                                        <p:attrNameLst>
                                          <p:attrName>ppt_x</p:attrName>
                                        </p:attrNameLst>
                                      </p:cBhvr>
                                      <p:tavLst>
                                        <p:tav tm="0">
                                          <p:val>
                                            <p:strVal val="#ppt_x"/>
                                          </p:val>
                                        </p:tav>
                                        <p:tav tm="100000">
                                          <p:val>
                                            <p:strVal val="#ppt_x"/>
                                          </p:val>
                                        </p:tav>
                                      </p:tavLst>
                                    </p:anim>
                                    <p:anim calcmode="lin" valueType="num">
                                      <p:cBhvr>
                                        <p:cTn id="21" dur="1000" fill="hold"/>
                                        <p:tgtEl>
                                          <p:spTgt spid="15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barn(inVertical)">
                                      <p:cBhvr>
                                        <p:cTn id="26" dur="500"/>
                                        <p:tgtEl>
                                          <p:spTgt spid="13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46"/>
                                        </p:tgtEl>
                                        <p:attrNameLst>
                                          <p:attrName>style.visibility</p:attrName>
                                        </p:attrNameLst>
                                      </p:cBhvr>
                                      <p:to>
                                        <p:strVal val="visible"/>
                                      </p:to>
                                    </p:set>
                                    <p:animEffect transition="in" filter="fade">
                                      <p:cBhvr>
                                        <p:cTn id="31" dur="1000"/>
                                        <p:tgtEl>
                                          <p:spTgt spid="146"/>
                                        </p:tgtEl>
                                      </p:cBhvr>
                                    </p:animEffect>
                                    <p:anim calcmode="lin" valueType="num">
                                      <p:cBhvr>
                                        <p:cTn id="32" dur="1000" fill="hold"/>
                                        <p:tgtEl>
                                          <p:spTgt spid="146"/>
                                        </p:tgtEl>
                                        <p:attrNameLst>
                                          <p:attrName>ppt_x</p:attrName>
                                        </p:attrNameLst>
                                      </p:cBhvr>
                                      <p:tavLst>
                                        <p:tav tm="0">
                                          <p:val>
                                            <p:strVal val="#ppt_x"/>
                                          </p:val>
                                        </p:tav>
                                        <p:tav tm="100000">
                                          <p:val>
                                            <p:strVal val="#ppt_x"/>
                                          </p:val>
                                        </p:tav>
                                      </p:tavLst>
                                    </p:anim>
                                    <p:anim calcmode="lin" valueType="num">
                                      <p:cBhvr>
                                        <p:cTn id="33" dur="1000" fill="hold"/>
                                        <p:tgtEl>
                                          <p:spTgt spid="146"/>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138"/>
                                        </p:tgtEl>
                                        <p:attrNameLst>
                                          <p:attrName>style.visibility</p:attrName>
                                        </p:attrNameLst>
                                      </p:cBhvr>
                                      <p:to>
                                        <p:strVal val="visible"/>
                                      </p:to>
                                    </p:set>
                                    <p:animEffect transition="in" filter="barn(inVertical)">
                                      <p:cBhvr>
                                        <p:cTn id="38" dur="500"/>
                                        <p:tgtEl>
                                          <p:spTgt spid="138"/>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50"/>
                                        </p:tgtEl>
                                        <p:attrNameLst>
                                          <p:attrName>style.visibility</p:attrName>
                                        </p:attrNameLst>
                                      </p:cBhvr>
                                      <p:to>
                                        <p:strVal val="visible"/>
                                      </p:to>
                                    </p:set>
                                    <p:animEffect transition="in" filter="fade">
                                      <p:cBhvr>
                                        <p:cTn id="43" dur="1000"/>
                                        <p:tgtEl>
                                          <p:spTgt spid="150"/>
                                        </p:tgtEl>
                                      </p:cBhvr>
                                    </p:animEffect>
                                    <p:anim calcmode="lin" valueType="num">
                                      <p:cBhvr>
                                        <p:cTn id="44" dur="1000" fill="hold"/>
                                        <p:tgtEl>
                                          <p:spTgt spid="150"/>
                                        </p:tgtEl>
                                        <p:attrNameLst>
                                          <p:attrName>ppt_x</p:attrName>
                                        </p:attrNameLst>
                                      </p:cBhvr>
                                      <p:tavLst>
                                        <p:tav tm="0">
                                          <p:val>
                                            <p:strVal val="#ppt_x"/>
                                          </p:val>
                                        </p:tav>
                                        <p:tav tm="100000">
                                          <p:val>
                                            <p:strVal val="#ppt_x"/>
                                          </p:val>
                                        </p:tav>
                                      </p:tavLst>
                                    </p:anim>
                                    <p:anim calcmode="lin" valueType="num">
                                      <p:cBhvr>
                                        <p:cTn id="45" dur="1000" fill="hold"/>
                                        <p:tgtEl>
                                          <p:spTgt spid="150"/>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39"/>
                                        </p:tgtEl>
                                        <p:attrNameLst>
                                          <p:attrName>style.visibility</p:attrName>
                                        </p:attrNameLst>
                                      </p:cBhvr>
                                      <p:to>
                                        <p:strVal val="visible"/>
                                      </p:to>
                                    </p:set>
                                    <p:animEffect transition="in" filter="barn(inVertical)">
                                      <p:cBhvr>
                                        <p:cTn id="50" dur="500"/>
                                        <p:tgtEl>
                                          <p:spTgt spid="139"/>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55"/>
                                        </p:tgtEl>
                                        <p:attrNameLst>
                                          <p:attrName>style.visibility</p:attrName>
                                        </p:attrNameLst>
                                      </p:cBhvr>
                                      <p:to>
                                        <p:strVal val="visible"/>
                                      </p:to>
                                    </p:set>
                                    <p:animEffect transition="in" filter="fade">
                                      <p:cBhvr>
                                        <p:cTn id="55" dur="1000"/>
                                        <p:tgtEl>
                                          <p:spTgt spid="155"/>
                                        </p:tgtEl>
                                      </p:cBhvr>
                                    </p:animEffect>
                                    <p:anim calcmode="lin" valueType="num">
                                      <p:cBhvr>
                                        <p:cTn id="56" dur="1000" fill="hold"/>
                                        <p:tgtEl>
                                          <p:spTgt spid="155"/>
                                        </p:tgtEl>
                                        <p:attrNameLst>
                                          <p:attrName>ppt_x</p:attrName>
                                        </p:attrNameLst>
                                      </p:cBhvr>
                                      <p:tavLst>
                                        <p:tav tm="0">
                                          <p:val>
                                            <p:strVal val="#ppt_x"/>
                                          </p:val>
                                        </p:tav>
                                        <p:tav tm="100000">
                                          <p:val>
                                            <p:strVal val="#ppt_x"/>
                                          </p:val>
                                        </p:tav>
                                      </p:tavLst>
                                    </p:anim>
                                    <p:anim calcmode="lin" valueType="num">
                                      <p:cBhvr>
                                        <p:cTn id="57" dur="1000" fill="hold"/>
                                        <p:tgtEl>
                                          <p:spTgt spid="155"/>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nodeType="clickEffect">
                                  <p:stCondLst>
                                    <p:cond delay="0"/>
                                  </p:stCondLst>
                                  <p:childTnLst>
                                    <p:set>
                                      <p:cBhvr>
                                        <p:cTn id="61" dur="1" fill="hold">
                                          <p:stCondLst>
                                            <p:cond delay="0"/>
                                          </p:stCondLst>
                                        </p:cTn>
                                        <p:tgtEl>
                                          <p:spTgt spid="140"/>
                                        </p:tgtEl>
                                        <p:attrNameLst>
                                          <p:attrName>style.visibility</p:attrName>
                                        </p:attrNameLst>
                                      </p:cBhvr>
                                      <p:to>
                                        <p:strVal val="visible"/>
                                      </p:to>
                                    </p:set>
                                    <p:animEffect transition="in" filter="barn(inVertical)">
                                      <p:cBhvr>
                                        <p:cTn id="62" dur="500"/>
                                        <p:tgtEl>
                                          <p:spTgt spid="140"/>
                                        </p:tgtEl>
                                      </p:cBhvr>
                                    </p:animEffect>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149"/>
                                        </p:tgtEl>
                                        <p:attrNameLst>
                                          <p:attrName>style.visibility</p:attrName>
                                        </p:attrNameLst>
                                      </p:cBhvr>
                                      <p:to>
                                        <p:strVal val="visible"/>
                                      </p:to>
                                    </p:set>
                                    <p:animEffect transition="in" filter="fade">
                                      <p:cBhvr>
                                        <p:cTn id="67" dur="1000"/>
                                        <p:tgtEl>
                                          <p:spTgt spid="149"/>
                                        </p:tgtEl>
                                      </p:cBhvr>
                                    </p:animEffect>
                                    <p:anim calcmode="lin" valueType="num">
                                      <p:cBhvr>
                                        <p:cTn id="68" dur="1000" fill="hold"/>
                                        <p:tgtEl>
                                          <p:spTgt spid="149"/>
                                        </p:tgtEl>
                                        <p:attrNameLst>
                                          <p:attrName>ppt_x</p:attrName>
                                        </p:attrNameLst>
                                      </p:cBhvr>
                                      <p:tavLst>
                                        <p:tav tm="0">
                                          <p:val>
                                            <p:strVal val="#ppt_x"/>
                                          </p:val>
                                        </p:tav>
                                        <p:tav tm="100000">
                                          <p:val>
                                            <p:strVal val="#ppt_x"/>
                                          </p:val>
                                        </p:tav>
                                      </p:tavLst>
                                    </p:anim>
                                    <p:anim calcmode="lin" valueType="num">
                                      <p:cBhvr>
                                        <p:cTn id="69" dur="1000" fill="hold"/>
                                        <p:tgtEl>
                                          <p:spTgt spid="149"/>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16" presetClass="entr" presetSubtype="21" fill="hold" nodeType="clickEffect">
                                  <p:stCondLst>
                                    <p:cond delay="0"/>
                                  </p:stCondLst>
                                  <p:childTnLst>
                                    <p:set>
                                      <p:cBhvr>
                                        <p:cTn id="73" dur="1" fill="hold">
                                          <p:stCondLst>
                                            <p:cond delay="0"/>
                                          </p:stCondLst>
                                        </p:cTn>
                                        <p:tgtEl>
                                          <p:spTgt spid="142"/>
                                        </p:tgtEl>
                                        <p:attrNameLst>
                                          <p:attrName>style.visibility</p:attrName>
                                        </p:attrNameLst>
                                      </p:cBhvr>
                                      <p:to>
                                        <p:strVal val="visible"/>
                                      </p:to>
                                    </p:set>
                                    <p:animEffect transition="in" filter="barn(inVertical)">
                                      <p:cBhvr>
                                        <p:cTn id="74" dur="500"/>
                                        <p:tgtEl>
                                          <p:spTgt spid="142"/>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148"/>
                                        </p:tgtEl>
                                        <p:attrNameLst>
                                          <p:attrName>style.visibility</p:attrName>
                                        </p:attrNameLst>
                                      </p:cBhvr>
                                      <p:to>
                                        <p:strVal val="visible"/>
                                      </p:to>
                                    </p:set>
                                    <p:animEffect transition="in" filter="fade">
                                      <p:cBhvr>
                                        <p:cTn id="79" dur="1000"/>
                                        <p:tgtEl>
                                          <p:spTgt spid="148"/>
                                        </p:tgtEl>
                                      </p:cBhvr>
                                    </p:animEffect>
                                    <p:anim calcmode="lin" valueType="num">
                                      <p:cBhvr>
                                        <p:cTn id="80" dur="1000" fill="hold"/>
                                        <p:tgtEl>
                                          <p:spTgt spid="148"/>
                                        </p:tgtEl>
                                        <p:attrNameLst>
                                          <p:attrName>ppt_x</p:attrName>
                                        </p:attrNameLst>
                                      </p:cBhvr>
                                      <p:tavLst>
                                        <p:tav tm="0">
                                          <p:val>
                                            <p:strVal val="#ppt_x"/>
                                          </p:val>
                                        </p:tav>
                                        <p:tav tm="100000">
                                          <p:val>
                                            <p:strVal val="#ppt_x"/>
                                          </p:val>
                                        </p:tav>
                                      </p:tavLst>
                                    </p:anim>
                                    <p:anim calcmode="lin" valueType="num">
                                      <p:cBhvr>
                                        <p:cTn id="81" dur="1000" fill="hold"/>
                                        <p:tgtEl>
                                          <p:spTgt spid="1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B8EE2-AD89-37EA-237A-F6DEE92A9D94}"/>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DA74F5BD-DF54-5ED6-9936-2FAD8CFE561B}"/>
              </a:ext>
            </a:extLst>
          </p:cNvPr>
          <p:cNvGrpSpPr/>
          <p:nvPr/>
        </p:nvGrpSpPr>
        <p:grpSpPr>
          <a:xfrm rot="1541555">
            <a:off x="-2046889" y="1353483"/>
            <a:ext cx="3922301" cy="3862589"/>
            <a:chOff x="-1714500" y="1054100"/>
            <a:chExt cx="4640700" cy="4076700"/>
          </a:xfrm>
        </p:grpSpPr>
        <p:sp>
          <p:nvSpPr>
            <p:cNvPr id="13" name="Circle: Hollow 12">
              <a:extLst>
                <a:ext uri="{FF2B5EF4-FFF2-40B4-BE49-F238E27FC236}">
                  <a16:creationId xmlns:a16="http://schemas.microsoft.com/office/drawing/2014/main" id="{7ACA2881-3598-612D-B23E-5641D664B563}"/>
                </a:ext>
              </a:extLst>
            </p:cNvPr>
            <p:cNvSpPr/>
            <p:nvPr/>
          </p:nvSpPr>
          <p:spPr>
            <a:xfrm>
              <a:off x="-1714500" y="1054100"/>
              <a:ext cx="4622800" cy="4076700"/>
            </a:xfrm>
            <a:prstGeom prst="donut">
              <a:avLst>
                <a:gd name="adj" fmla="val 20328"/>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Block Arc 15">
              <a:extLst>
                <a:ext uri="{FF2B5EF4-FFF2-40B4-BE49-F238E27FC236}">
                  <a16:creationId xmlns:a16="http://schemas.microsoft.com/office/drawing/2014/main" id="{9C6F152C-9DCE-FE94-02C6-456DE6E90AA8}"/>
                </a:ext>
              </a:extLst>
            </p:cNvPr>
            <p:cNvSpPr/>
            <p:nvPr/>
          </p:nvSpPr>
          <p:spPr>
            <a:xfrm rot="11412620">
              <a:off x="-985215" y="1484633"/>
              <a:ext cx="3911415" cy="3604223"/>
            </a:xfrm>
            <a:prstGeom prst="blockArc">
              <a:avLst>
                <a:gd name="adj1" fmla="val 10800000"/>
                <a:gd name="adj2" fmla="val 14911070"/>
                <a:gd name="adj3" fmla="val 29888"/>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9" name="Rectangle: Rounded Corners 18">
            <a:extLst>
              <a:ext uri="{FF2B5EF4-FFF2-40B4-BE49-F238E27FC236}">
                <a16:creationId xmlns:a16="http://schemas.microsoft.com/office/drawing/2014/main" id="{3100B1CE-7E86-610D-E6A5-54831DC686FB}"/>
              </a:ext>
            </a:extLst>
          </p:cNvPr>
          <p:cNvSpPr/>
          <p:nvPr/>
        </p:nvSpPr>
        <p:spPr>
          <a:xfrm>
            <a:off x="2771728" y="876300"/>
            <a:ext cx="8535613" cy="1498600"/>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1" name="Oval 20">
            <a:extLst>
              <a:ext uri="{FF2B5EF4-FFF2-40B4-BE49-F238E27FC236}">
                <a16:creationId xmlns:a16="http://schemas.microsoft.com/office/drawing/2014/main" id="{4D2EC085-811B-EDAE-70B7-1A54A79C6E28}"/>
              </a:ext>
            </a:extLst>
          </p:cNvPr>
          <p:cNvSpPr/>
          <p:nvPr/>
        </p:nvSpPr>
        <p:spPr>
          <a:xfrm>
            <a:off x="2777159" y="862187"/>
            <a:ext cx="1828800" cy="1512713"/>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00000"/>
                </a:solidFill>
                <a:effectLst/>
                <a:uLnTx/>
                <a:uFillTx/>
                <a:latin typeface="Arial"/>
                <a:ea typeface="+mn-ea"/>
                <a:cs typeface="+mn-cs"/>
              </a:rPr>
              <a:t>5</a:t>
            </a: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sp>
        <p:nvSpPr>
          <p:cNvPr id="22" name="TextBox 21">
            <a:extLst>
              <a:ext uri="{FF2B5EF4-FFF2-40B4-BE49-F238E27FC236}">
                <a16:creationId xmlns:a16="http://schemas.microsoft.com/office/drawing/2014/main" id="{A5844439-6E81-CC72-3248-18C5A1E150D5}"/>
              </a:ext>
            </a:extLst>
          </p:cNvPr>
          <p:cNvSpPr txBox="1"/>
          <p:nvPr/>
        </p:nvSpPr>
        <p:spPr>
          <a:xfrm>
            <a:off x="5202928" y="1232900"/>
            <a:ext cx="68834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w="0"/>
                <a:solidFill>
                  <a:srgbClr val="FFFFFF"/>
                </a:solidFill>
                <a:effectLst>
                  <a:outerShdw blurRad="38100" dist="19050" dir="2700000" algn="tl" rotWithShape="0">
                    <a:srgbClr val="000000">
                      <a:alpha val="40000"/>
                    </a:srgbClr>
                  </a:outerShdw>
                </a:effectLst>
                <a:uLnTx/>
                <a:uFillTx/>
                <a:latin typeface="Arial"/>
                <a:ea typeface="+mn-ea"/>
                <a:cs typeface="+mn-cs"/>
              </a:rPr>
              <a:t>Analysis Questions</a:t>
            </a:r>
            <a:endParaRPr kumimoji="0" lang="en-US" sz="4800" b="0" i="0" u="none" strike="noStrike" kern="1200" cap="none" spc="0" normalizeH="0" baseline="0" noProof="0" dirty="0">
              <a:ln w="0"/>
              <a:solidFill>
                <a:srgbClr val="FFFFFF"/>
              </a:solidFill>
              <a:effectLst>
                <a:glow rad="101600">
                  <a:srgbClr val="0065A4">
                    <a:satMod val="175000"/>
                    <a:alpha val="40000"/>
                  </a:srgbClr>
                </a:glow>
                <a:outerShdw blurRad="38100" dist="19050" dir="2700000" algn="tl" rotWithShape="0">
                  <a:srgbClr val="000000">
                    <a:alpha val="40000"/>
                  </a:srgbClr>
                </a:outerShdw>
              </a:effectLst>
              <a:uLnTx/>
              <a:uFillTx/>
              <a:latin typeface="Arial"/>
              <a:ea typeface="+mn-ea"/>
              <a:cs typeface="+mn-cs"/>
            </a:endParaRPr>
          </a:p>
        </p:txBody>
      </p:sp>
      <p:pic>
        <p:nvPicPr>
          <p:cNvPr id="26" name="Graphic 25" descr="Abacus with solid fill">
            <a:extLst>
              <a:ext uri="{FF2B5EF4-FFF2-40B4-BE49-F238E27FC236}">
                <a16:creationId xmlns:a16="http://schemas.microsoft.com/office/drawing/2014/main" id="{3DBE3E66-2279-5477-7C1C-7393E6DA00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2540" y="1782938"/>
            <a:ext cx="741624" cy="741624"/>
          </a:xfrm>
          <a:prstGeom prst="rect">
            <a:avLst/>
          </a:prstGeom>
        </p:spPr>
      </p:pic>
      <p:pic>
        <p:nvPicPr>
          <p:cNvPr id="3" name="Graphic 2" descr="Circles with lines with solid fill">
            <a:extLst>
              <a:ext uri="{FF2B5EF4-FFF2-40B4-BE49-F238E27FC236}">
                <a16:creationId xmlns:a16="http://schemas.microsoft.com/office/drawing/2014/main" id="{52924313-E098-08C8-9B0A-E96878E28D8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7329" y="2463899"/>
            <a:ext cx="1016000" cy="914400"/>
          </a:xfrm>
          <a:prstGeom prst="rect">
            <a:avLst/>
          </a:prstGeom>
        </p:spPr>
      </p:pic>
      <p:pic>
        <p:nvPicPr>
          <p:cNvPr id="6" name="Graphic 5" descr="Chemicals with solid fill">
            <a:extLst>
              <a:ext uri="{FF2B5EF4-FFF2-40B4-BE49-F238E27FC236}">
                <a16:creationId xmlns:a16="http://schemas.microsoft.com/office/drawing/2014/main" id="{FD16E973-4E05-EFFD-0C3D-0271D24F5B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7329" y="3378299"/>
            <a:ext cx="914400" cy="914400"/>
          </a:xfrm>
          <a:prstGeom prst="rect">
            <a:avLst/>
          </a:prstGeom>
        </p:spPr>
      </p:pic>
      <p:pic>
        <p:nvPicPr>
          <p:cNvPr id="7" name="Graphic 6" descr="Bullseye with solid fill">
            <a:extLst>
              <a:ext uri="{FF2B5EF4-FFF2-40B4-BE49-F238E27FC236}">
                <a16:creationId xmlns:a16="http://schemas.microsoft.com/office/drawing/2014/main" id="{D24952A8-7144-87F1-76E1-662C8CAB844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340" y="4209518"/>
            <a:ext cx="914400" cy="914400"/>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F846D5DF-054B-1F1F-09A5-C866FBFC033D}"/>
              </a:ext>
            </a:extLst>
          </p:cNvPr>
          <p:cNvPicPr>
            <a:picLocks noChangeAspect="1"/>
          </p:cNvPicPr>
          <p:nvPr/>
        </p:nvPicPr>
        <p:blipFill>
          <a:blip r:embed="rId10"/>
          <a:stretch>
            <a:fillRect/>
          </a:stretch>
        </p:blipFill>
        <p:spPr>
          <a:xfrm>
            <a:off x="1938815" y="2442750"/>
            <a:ext cx="5043191" cy="3493914"/>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F38B21C2-BE9C-105C-D67F-795B71FCC7D0}"/>
              </a:ext>
            </a:extLst>
          </p:cNvPr>
          <p:cNvPicPr>
            <a:picLocks noChangeAspect="1"/>
          </p:cNvPicPr>
          <p:nvPr/>
        </p:nvPicPr>
        <p:blipFill>
          <a:blip r:embed="rId11"/>
          <a:stretch>
            <a:fillRect/>
          </a:stretch>
        </p:blipFill>
        <p:spPr>
          <a:xfrm>
            <a:off x="7014110" y="2430806"/>
            <a:ext cx="5043190" cy="3517801"/>
          </a:xfrm>
          <a:prstGeom prst="rect">
            <a:avLst/>
          </a:prstGeom>
        </p:spPr>
      </p:pic>
    </p:spTree>
    <p:extLst>
      <p:ext uri="{BB962C8B-B14F-4D97-AF65-F5344CB8AC3E}">
        <p14:creationId xmlns:p14="http://schemas.microsoft.com/office/powerpoint/2010/main" val="12874933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67A31-8B00-5489-9699-C0C7DC104A08}"/>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B53A302D-96B8-35DA-3CDA-7C6A4F0FEC28}"/>
              </a:ext>
            </a:extLst>
          </p:cNvPr>
          <p:cNvGrpSpPr/>
          <p:nvPr/>
        </p:nvGrpSpPr>
        <p:grpSpPr>
          <a:xfrm rot="1541555">
            <a:off x="-2046889" y="1353483"/>
            <a:ext cx="3922301" cy="3862589"/>
            <a:chOff x="-1714500" y="1054100"/>
            <a:chExt cx="4640700" cy="4076700"/>
          </a:xfrm>
        </p:grpSpPr>
        <p:sp>
          <p:nvSpPr>
            <p:cNvPr id="13" name="Circle: Hollow 12">
              <a:extLst>
                <a:ext uri="{FF2B5EF4-FFF2-40B4-BE49-F238E27FC236}">
                  <a16:creationId xmlns:a16="http://schemas.microsoft.com/office/drawing/2014/main" id="{3B66FED6-D20A-7E44-EAFD-4A5C8F105060}"/>
                </a:ext>
              </a:extLst>
            </p:cNvPr>
            <p:cNvSpPr/>
            <p:nvPr/>
          </p:nvSpPr>
          <p:spPr>
            <a:xfrm>
              <a:off x="-1714500" y="1054100"/>
              <a:ext cx="4622800" cy="4076700"/>
            </a:xfrm>
            <a:prstGeom prst="donut">
              <a:avLst>
                <a:gd name="adj" fmla="val 20328"/>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Block Arc 15">
              <a:extLst>
                <a:ext uri="{FF2B5EF4-FFF2-40B4-BE49-F238E27FC236}">
                  <a16:creationId xmlns:a16="http://schemas.microsoft.com/office/drawing/2014/main" id="{BF7DC93B-5A81-46D0-6834-1E03ADCA75DA}"/>
                </a:ext>
              </a:extLst>
            </p:cNvPr>
            <p:cNvSpPr/>
            <p:nvPr/>
          </p:nvSpPr>
          <p:spPr>
            <a:xfrm rot="11412620">
              <a:off x="-985215" y="1484633"/>
              <a:ext cx="3911415" cy="3604223"/>
            </a:xfrm>
            <a:prstGeom prst="blockArc">
              <a:avLst>
                <a:gd name="adj1" fmla="val 10800000"/>
                <a:gd name="adj2" fmla="val 14911070"/>
                <a:gd name="adj3" fmla="val 29888"/>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0" name="Rectangle: Rounded Corners 19">
            <a:extLst>
              <a:ext uri="{FF2B5EF4-FFF2-40B4-BE49-F238E27FC236}">
                <a16:creationId xmlns:a16="http://schemas.microsoft.com/office/drawing/2014/main" id="{68C0EB4D-AC72-BF98-AA93-8FB206C916AC}"/>
              </a:ext>
            </a:extLst>
          </p:cNvPr>
          <p:cNvSpPr/>
          <p:nvPr/>
        </p:nvSpPr>
        <p:spPr>
          <a:xfrm>
            <a:off x="3404751" y="1790699"/>
            <a:ext cx="8169134" cy="4584701"/>
          </a:xfrm>
          <a:prstGeom prst="roundRect">
            <a:avLst>
              <a:gd name="adj" fmla="val 16131"/>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9" name="Rectangle: Rounded Corners 18">
            <a:extLst>
              <a:ext uri="{FF2B5EF4-FFF2-40B4-BE49-F238E27FC236}">
                <a16:creationId xmlns:a16="http://schemas.microsoft.com/office/drawing/2014/main" id="{01112BC2-E2C3-0CAE-D05F-B1DE9D49A3E8}"/>
              </a:ext>
            </a:extLst>
          </p:cNvPr>
          <p:cNvSpPr/>
          <p:nvPr/>
        </p:nvSpPr>
        <p:spPr>
          <a:xfrm>
            <a:off x="2771728" y="876300"/>
            <a:ext cx="8535613" cy="1498600"/>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1" name="Oval 20">
            <a:extLst>
              <a:ext uri="{FF2B5EF4-FFF2-40B4-BE49-F238E27FC236}">
                <a16:creationId xmlns:a16="http://schemas.microsoft.com/office/drawing/2014/main" id="{F30F3BAD-9A60-AF1C-5669-BFE3E3F861FF}"/>
              </a:ext>
            </a:extLst>
          </p:cNvPr>
          <p:cNvSpPr/>
          <p:nvPr/>
        </p:nvSpPr>
        <p:spPr>
          <a:xfrm>
            <a:off x="2777159" y="862187"/>
            <a:ext cx="1828800" cy="1512713"/>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00000"/>
                </a:solidFill>
                <a:effectLst/>
                <a:uLnTx/>
                <a:uFillTx/>
                <a:latin typeface="Arial"/>
                <a:ea typeface="+mn-ea"/>
                <a:cs typeface="+mn-cs"/>
              </a:rPr>
              <a:t>5</a:t>
            </a: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sp>
        <p:nvSpPr>
          <p:cNvPr id="22" name="TextBox 21">
            <a:extLst>
              <a:ext uri="{FF2B5EF4-FFF2-40B4-BE49-F238E27FC236}">
                <a16:creationId xmlns:a16="http://schemas.microsoft.com/office/drawing/2014/main" id="{F077A761-B0AA-372F-C30A-0990FAAD9572}"/>
              </a:ext>
            </a:extLst>
          </p:cNvPr>
          <p:cNvSpPr txBox="1"/>
          <p:nvPr/>
        </p:nvSpPr>
        <p:spPr>
          <a:xfrm>
            <a:off x="5202928" y="1232900"/>
            <a:ext cx="6883400" cy="830997"/>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w="0"/>
                <a:solidFill>
                  <a:srgbClr val="FFFFFF"/>
                </a:solidFill>
                <a:effectLst>
                  <a:outerShdw blurRad="38100" dist="19050" dir="2700000" algn="tl" rotWithShape="0">
                    <a:srgbClr val="000000">
                      <a:alpha val="40000"/>
                    </a:srgbClr>
                  </a:outerShdw>
                </a:effectLst>
                <a:uLnTx/>
                <a:uFillTx/>
                <a:latin typeface="Arial"/>
                <a:ea typeface="+mn-ea"/>
                <a:cs typeface="+mn-cs"/>
              </a:rPr>
              <a:t>Analysis Questions</a:t>
            </a:r>
            <a:endParaRPr kumimoji="0" lang="en-US" sz="4800" b="0" i="0" u="none" strike="noStrike" kern="1200" cap="none" spc="0" normalizeH="0" baseline="0" noProof="0" dirty="0">
              <a:ln w="0"/>
              <a:solidFill>
                <a:srgbClr val="FFFFFF"/>
              </a:solidFill>
              <a:effectLst>
                <a:glow rad="101600">
                  <a:srgbClr val="0065A4">
                    <a:satMod val="175000"/>
                    <a:alpha val="40000"/>
                  </a:srgbClr>
                </a:glow>
                <a:outerShdw blurRad="38100" dist="19050" dir="2700000" algn="tl" rotWithShape="0">
                  <a:srgbClr val="000000">
                    <a:alpha val="40000"/>
                  </a:srgbClr>
                </a:outerShdw>
              </a:effectLst>
              <a:uLnTx/>
              <a:uFillTx/>
              <a:latin typeface="Arial"/>
              <a:ea typeface="+mn-ea"/>
              <a:cs typeface="+mn-cs"/>
            </a:endParaRPr>
          </a:p>
        </p:txBody>
      </p:sp>
      <p:pic>
        <p:nvPicPr>
          <p:cNvPr id="26" name="Graphic 25" descr="Abacus with solid fill">
            <a:extLst>
              <a:ext uri="{FF2B5EF4-FFF2-40B4-BE49-F238E27FC236}">
                <a16:creationId xmlns:a16="http://schemas.microsoft.com/office/drawing/2014/main" id="{F88B4D31-637C-8870-AE50-4FFD8973B9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2540" y="1782938"/>
            <a:ext cx="741624" cy="741624"/>
          </a:xfrm>
          <a:prstGeom prst="rect">
            <a:avLst/>
          </a:prstGeom>
        </p:spPr>
      </p:pic>
      <p:pic>
        <p:nvPicPr>
          <p:cNvPr id="3" name="Graphic 2" descr="Circles with lines with solid fill">
            <a:extLst>
              <a:ext uri="{FF2B5EF4-FFF2-40B4-BE49-F238E27FC236}">
                <a16:creationId xmlns:a16="http://schemas.microsoft.com/office/drawing/2014/main" id="{6989E860-6F3A-CEA3-9D69-C78AEEA8AEC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7329" y="2463899"/>
            <a:ext cx="1016000" cy="914400"/>
          </a:xfrm>
          <a:prstGeom prst="rect">
            <a:avLst/>
          </a:prstGeom>
        </p:spPr>
      </p:pic>
      <p:pic>
        <p:nvPicPr>
          <p:cNvPr id="6" name="Graphic 5" descr="Chemicals with solid fill">
            <a:extLst>
              <a:ext uri="{FF2B5EF4-FFF2-40B4-BE49-F238E27FC236}">
                <a16:creationId xmlns:a16="http://schemas.microsoft.com/office/drawing/2014/main" id="{B36FE143-D140-CFB6-887E-B0A987459C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7329" y="3378299"/>
            <a:ext cx="914400" cy="914400"/>
          </a:xfrm>
          <a:prstGeom prst="rect">
            <a:avLst/>
          </a:prstGeom>
        </p:spPr>
      </p:pic>
      <p:pic>
        <p:nvPicPr>
          <p:cNvPr id="7" name="Graphic 6" descr="Bullseye with solid fill">
            <a:extLst>
              <a:ext uri="{FF2B5EF4-FFF2-40B4-BE49-F238E27FC236}">
                <a16:creationId xmlns:a16="http://schemas.microsoft.com/office/drawing/2014/main" id="{93819D51-EF69-C489-964A-055CC195D85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340" y="4209518"/>
            <a:ext cx="914400" cy="914400"/>
          </a:xfrm>
          <a:prstGeom prst="rect">
            <a:avLst/>
          </a:prstGeom>
        </p:spPr>
      </p:pic>
      <p:sp>
        <p:nvSpPr>
          <p:cNvPr id="8" name="TextBox 7">
            <a:extLst>
              <a:ext uri="{FF2B5EF4-FFF2-40B4-BE49-F238E27FC236}">
                <a16:creationId xmlns:a16="http://schemas.microsoft.com/office/drawing/2014/main" id="{9608A736-D91E-FBEE-21D9-CCB7ED73ABEF}"/>
              </a:ext>
            </a:extLst>
          </p:cNvPr>
          <p:cNvSpPr txBox="1"/>
          <p:nvPr/>
        </p:nvSpPr>
        <p:spPr>
          <a:xfrm>
            <a:off x="4605959" y="2583890"/>
            <a:ext cx="6146800" cy="3644075"/>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Further analysis:</a:t>
            </a:r>
            <a:endParaRPr lang="en-US" sz="2800" b="1" dirty="0">
              <a:solidFill>
                <a:srgbClr val="FF0000"/>
              </a:solidFill>
              <a:effectLst>
                <a:outerShdw blurRad="38100" dist="38100" dir="2700000" algn="tl">
                  <a:srgbClr val="000000">
                    <a:alpha val="43137"/>
                  </a:srgbClr>
                </a:outerShdw>
              </a:effectLst>
              <a:latin typeface="Aptos" panose="020B0004020202020204" pitchFamily="34" charset="0"/>
              <a:cs typeface="Angsana New" panose="02020603050405020304" pitchFamily="18" charset="-34"/>
            </a:endParaRPr>
          </a:p>
          <a:p>
            <a:pPr marL="0" marR="0" lvl="0" indent="0" defTabSz="914400" rtl="0" eaLnBrk="1" fontAlgn="auto" latinLnBrk="0" hangingPunct="1">
              <a:lnSpc>
                <a:spcPct val="11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We wanted to calculate normal KPI, such as:</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1- Cash to Cash Cycle Time</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2- Perfect Order Rate</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3- Fill Rate</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4- Inventory Turnover Rate</a:t>
            </a:r>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No data on: </a:t>
            </a:r>
            <a:r>
              <a:rPr kumimoji="0" lang="en-US" sz="2000" b="1" i="0" u="sng"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Order Date</a:t>
            </a: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 </a:t>
            </a:r>
            <a:r>
              <a:rPr kumimoji="0" lang="en-US" sz="2000" b="1" i="0" u="sng"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Period of data</a:t>
            </a: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 </a:t>
            </a:r>
            <a:r>
              <a:rPr kumimoji="0" lang="en-US" sz="2000" b="1" i="0" u="sng"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completed orders</a:t>
            </a: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 </a:t>
            </a:r>
            <a:r>
              <a:rPr kumimoji="0" lang="en-US" sz="2000" b="1" i="0" u="sng"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returns</a:t>
            </a: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 </a:t>
            </a:r>
            <a:r>
              <a:rPr kumimoji="0" lang="en-US" sz="2000" b="1" i="0" u="sng"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errors</a:t>
            </a: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 </a:t>
            </a:r>
            <a:r>
              <a:rPr kumimoji="0" lang="en-US" sz="2000" b="1" i="0" u="sng"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beginning inventory</a:t>
            </a: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 </a:t>
            </a:r>
            <a:r>
              <a:rPr kumimoji="0" lang="en-US" sz="2000" b="1" i="0" u="sng"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ending inventory </a:t>
            </a: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rgbClr val="FF0000"/>
                </a:solidFill>
                <a:effectLst>
                  <a:outerShdw blurRad="38100" dist="38100" dir="2700000" algn="tl">
                    <a:srgbClr val="000000">
                      <a:alpha val="43137"/>
                    </a:srgbClr>
                  </a:outerShdw>
                </a:effectLst>
                <a:latin typeface="Aptos" panose="020B0004020202020204" pitchFamily="34" charset="0"/>
                <a:cs typeface="Angsana New" panose="02020603050405020304" pitchFamily="18" charset="-34"/>
              </a:rPr>
              <a:t>Forecasting</a:t>
            </a:r>
          </a:p>
        </p:txBody>
      </p:sp>
    </p:spTree>
    <p:extLst>
      <p:ext uri="{BB962C8B-B14F-4D97-AF65-F5344CB8AC3E}">
        <p14:creationId xmlns:p14="http://schemas.microsoft.com/office/powerpoint/2010/main" val="35322662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DF3C8AB-FC78-2C08-5AD3-87169ED46909}"/>
              </a:ext>
            </a:extLst>
          </p:cNvPr>
          <p:cNvSpPr txBox="1"/>
          <p:nvPr/>
        </p:nvSpPr>
        <p:spPr>
          <a:xfrm>
            <a:off x="2713953" y="2092914"/>
            <a:ext cx="6209414" cy="1446550"/>
          </a:xfrm>
          <a:prstGeom prst="rect">
            <a:avLst/>
          </a:prstGeom>
          <a:noFill/>
        </p:spPr>
        <p:txBody>
          <a:bodyPr wrap="square" rtlCol="0">
            <a:spAutoFit/>
          </a:bodyPr>
          <a:lstStyle/>
          <a:p>
            <a:pPr algn="ctr"/>
            <a:r>
              <a:rPr lang="en-US" sz="4400" b="1" i="1" dirty="0">
                <a:ln w="22225">
                  <a:solidFill>
                    <a:schemeClr val="accent2"/>
                  </a:solidFill>
                  <a:prstDash val="solid"/>
                </a:ln>
                <a:solidFill>
                  <a:schemeClr val="accent2">
                    <a:lumMod val="40000"/>
                    <a:lumOff val="60000"/>
                  </a:schemeClr>
                </a:solidFill>
              </a:rPr>
              <a:t>6-Visualization</a:t>
            </a:r>
            <a:r>
              <a:rPr lang="en-US" sz="4400" dirty="0">
                <a:solidFill>
                  <a:schemeClr val="bg1"/>
                </a:solidFill>
              </a:rPr>
              <a:t> </a:t>
            </a:r>
          </a:p>
          <a:p>
            <a:pPr algn="ctr"/>
            <a:endParaRPr lang="en-US" sz="4400" dirty="0"/>
          </a:p>
        </p:txBody>
      </p:sp>
      <p:sp>
        <p:nvSpPr>
          <p:cNvPr id="2" name="Slide Number Placeholder 1">
            <a:extLst>
              <a:ext uri="{FF2B5EF4-FFF2-40B4-BE49-F238E27FC236}">
                <a16:creationId xmlns:a16="http://schemas.microsoft.com/office/drawing/2014/main" id="{26076E97-1749-E3DF-8919-A6CE68CB41DF}"/>
              </a:ext>
            </a:extLst>
          </p:cNvPr>
          <p:cNvSpPr>
            <a:spLocks noGrp="1"/>
          </p:cNvSpPr>
          <p:nvPr>
            <p:ph type="sldNum" sz="quarter" idx="12"/>
          </p:nvPr>
        </p:nvSpPr>
        <p:spPr/>
        <p:txBody>
          <a:bodyPr/>
          <a:lstStyle/>
          <a:p>
            <a:fld id="{C263D6C4-4840-40CC-AC84-17E24B3B7BDE}" type="slidenum">
              <a:rPr lang="en-US" noProof="0" smtClean="0"/>
              <a:pPr/>
              <a:t>23</a:t>
            </a:fld>
            <a:endParaRPr lang="en-US" noProof="0" dirty="0"/>
          </a:p>
        </p:txBody>
      </p:sp>
      <p:pic>
        <p:nvPicPr>
          <p:cNvPr id="5" name="Picture 4" descr="A screenshot of a computer&#10;&#10;AI-generated content may be incorrect.">
            <a:extLst>
              <a:ext uri="{FF2B5EF4-FFF2-40B4-BE49-F238E27FC236}">
                <a16:creationId xmlns:a16="http://schemas.microsoft.com/office/drawing/2014/main" id="{D941255B-A28A-6A42-0E0C-CC5B5CDEC87B}"/>
              </a:ext>
            </a:extLst>
          </p:cNvPr>
          <p:cNvPicPr>
            <a:picLocks noChangeAspect="1"/>
          </p:cNvPicPr>
          <p:nvPr/>
        </p:nvPicPr>
        <p:blipFill>
          <a:blip r:embed="rId2"/>
          <a:stretch>
            <a:fillRect/>
          </a:stretch>
        </p:blipFill>
        <p:spPr>
          <a:xfrm>
            <a:off x="126140" y="1765645"/>
            <a:ext cx="2742441" cy="27353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descr="A screenshot of a computer&#10;&#10;AI-generated content may be incorrect.">
            <a:extLst>
              <a:ext uri="{FF2B5EF4-FFF2-40B4-BE49-F238E27FC236}">
                <a16:creationId xmlns:a16="http://schemas.microsoft.com/office/drawing/2014/main" id="{06A22179-1402-E0A9-E1A7-4B91D6EB0891}"/>
              </a:ext>
            </a:extLst>
          </p:cNvPr>
          <p:cNvPicPr>
            <a:picLocks noChangeAspect="1"/>
          </p:cNvPicPr>
          <p:nvPr/>
        </p:nvPicPr>
        <p:blipFill>
          <a:blip r:embed="rId3"/>
          <a:stretch>
            <a:fillRect/>
          </a:stretch>
        </p:blipFill>
        <p:spPr>
          <a:xfrm>
            <a:off x="3003398" y="3294743"/>
            <a:ext cx="2892575" cy="25458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descr="A screenshot of a computer&#10;&#10;AI-generated content may be incorrect.">
            <a:extLst>
              <a:ext uri="{FF2B5EF4-FFF2-40B4-BE49-F238E27FC236}">
                <a16:creationId xmlns:a16="http://schemas.microsoft.com/office/drawing/2014/main" id="{C2DA729F-4074-67A7-F72C-E827BD9619C5}"/>
              </a:ext>
            </a:extLst>
          </p:cNvPr>
          <p:cNvPicPr>
            <a:picLocks noChangeAspect="1"/>
          </p:cNvPicPr>
          <p:nvPr/>
        </p:nvPicPr>
        <p:blipFill>
          <a:blip r:embed="rId4"/>
          <a:stretch>
            <a:fillRect/>
          </a:stretch>
        </p:blipFill>
        <p:spPr>
          <a:xfrm>
            <a:off x="6030792" y="3294742"/>
            <a:ext cx="2892575" cy="25458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Picture 14" descr="A screenshot of a computer&#10;&#10;AI-generated content may be incorrect.">
            <a:extLst>
              <a:ext uri="{FF2B5EF4-FFF2-40B4-BE49-F238E27FC236}">
                <a16:creationId xmlns:a16="http://schemas.microsoft.com/office/drawing/2014/main" id="{0177BCB7-F615-C785-7806-DF09EE2B1EF0}"/>
              </a:ext>
            </a:extLst>
          </p:cNvPr>
          <p:cNvPicPr>
            <a:picLocks noChangeAspect="1"/>
          </p:cNvPicPr>
          <p:nvPr/>
        </p:nvPicPr>
        <p:blipFill>
          <a:blip r:embed="rId5"/>
          <a:stretch>
            <a:fillRect/>
          </a:stretch>
        </p:blipFill>
        <p:spPr>
          <a:xfrm>
            <a:off x="9058184" y="1974360"/>
            <a:ext cx="3007676" cy="29492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47385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3AA28-4693-5EC8-247F-8ECB2E34DA49}"/>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F3E02B1-DD6E-BC9E-CA43-6DE9CB9251E7}"/>
              </a:ext>
            </a:extLst>
          </p:cNvPr>
          <p:cNvSpPr/>
          <p:nvPr/>
        </p:nvSpPr>
        <p:spPr>
          <a:xfrm>
            <a:off x="4502521" y="3451285"/>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5" name="Rectangle: Rounded Corners 4">
            <a:extLst>
              <a:ext uri="{FF2B5EF4-FFF2-40B4-BE49-F238E27FC236}">
                <a16:creationId xmlns:a16="http://schemas.microsoft.com/office/drawing/2014/main" id="{B4331882-43E6-C60A-DAD1-63C437FD125F}"/>
              </a:ext>
            </a:extLst>
          </p:cNvPr>
          <p:cNvSpPr/>
          <p:nvPr/>
        </p:nvSpPr>
        <p:spPr>
          <a:xfrm>
            <a:off x="627321" y="5651204"/>
            <a:ext cx="11369040" cy="1015410"/>
          </a:xfrm>
          <a:prstGeom prst="roundRect">
            <a:avLst>
              <a:gd name="adj" fmla="val 50000"/>
            </a:avLst>
          </a:prstGeom>
          <a:solidFill>
            <a:srgbClr val="00206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2D26860-38DD-1055-BA1F-891F72A80A17}"/>
              </a:ext>
            </a:extLst>
          </p:cNvPr>
          <p:cNvSpPr/>
          <p:nvPr/>
        </p:nvSpPr>
        <p:spPr>
          <a:xfrm>
            <a:off x="627321" y="5651204"/>
            <a:ext cx="1031358" cy="101541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23EAA8F-CA6F-379D-0851-6EAB2E972EA8}"/>
              </a:ext>
            </a:extLst>
          </p:cNvPr>
          <p:cNvSpPr txBox="1"/>
          <p:nvPr/>
        </p:nvSpPr>
        <p:spPr>
          <a:xfrm>
            <a:off x="4270151" y="3950261"/>
            <a:ext cx="2594344" cy="769441"/>
          </a:xfrm>
          <a:prstGeom prst="rect">
            <a:avLst/>
          </a:prstGeom>
          <a:noFill/>
        </p:spPr>
        <p:txBody>
          <a:bodyPr wrap="square" rtlCol="0">
            <a:spAutoFit/>
          </a:bodyPr>
          <a:lstStyle/>
          <a:p>
            <a:pPr algn="ctr"/>
            <a:r>
              <a:rPr lang="en-US" sz="4400" dirty="0">
                <a:ln>
                  <a:solidFill>
                    <a:sysClr val="windowText" lastClr="000000"/>
                  </a:solidFill>
                </a:ln>
                <a:solidFill>
                  <a:schemeClr val="bg1"/>
                </a:solidFill>
                <a:latin typeface="Abadi" panose="020B0604020104020204" pitchFamily="34" charset="0"/>
              </a:rPr>
              <a:t>2</a:t>
            </a:r>
          </a:p>
        </p:txBody>
      </p:sp>
      <p:grpSp>
        <p:nvGrpSpPr>
          <p:cNvPr id="17" name="Group 16">
            <a:extLst>
              <a:ext uri="{FF2B5EF4-FFF2-40B4-BE49-F238E27FC236}">
                <a16:creationId xmlns:a16="http://schemas.microsoft.com/office/drawing/2014/main" id="{AC483E80-BCBB-E385-AC33-0D442FAD8469}"/>
              </a:ext>
            </a:extLst>
          </p:cNvPr>
          <p:cNvGrpSpPr/>
          <p:nvPr/>
        </p:nvGrpSpPr>
        <p:grpSpPr>
          <a:xfrm>
            <a:off x="184289" y="1022672"/>
            <a:ext cx="3807506" cy="4398264"/>
            <a:chOff x="184289" y="1022672"/>
            <a:chExt cx="3807506" cy="4398264"/>
          </a:xfrm>
          <a:solidFill>
            <a:schemeClr val="accent5">
              <a:lumMod val="20000"/>
              <a:lumOff val="80000"/>
            </a:schemeClr>
          </a:solidFill>
        </p:grpSpPr>
        <p:sp>
          <p:nvSpPr>
            <p:cNvPr id="2" name="Rectangle: Rounded Corners 1">
              <a:extLst>
                <a:ext uri="{FF2B5EF4-FFF2-40B4-BE49-F238E27FC236}">
                  <a16:creationId xmlns:a16="http://schemas.microsoft.com/office/drawing/2014/main" id="{E20C6B59-6D6F-06C1-0497-3545D279516B}"/>
                </a:ext>
              </a:extLst>
            </p:cNvPr>
            <p:cNvSpPr/>
            <p:nvPr/>
          </p:nvSpPr>
          <p:spPr>
            <a:xfrm>
              <a:off x="204970" y="1022672"/>
              <a:ext cx="3786825" cy="4398264"/>
            </a:xfrm>
            <a:prstGeom prst="roundRect">
              <a:avLst/>
            </a:prstGeom>
            <a:grp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7" name="TextBox 6">
              <a:extLst>
                <a:ext uri="{FF2B5EF4-FFF2-40B4-BE49-F238E27FC236}">
                  <a16:creationId xmlns:a16="http://schemas.microsoft.com/office/drawing/2014/main" id="{F87A2F39-BD1C-459E-3973-7128F871B914}"/>
                </a:ext>
              </a:extLst>
            </p:cNvPr>
            <p:cNvSpPr txBox="1"/>
            <p:nvPr/>
          </p:nvSpPr>
          <p:spPr>
            <a:xfrm>
              <a:off x="769897" y="1418025"/>
              <a:ext cx="2615610" cy="769441"/>
            </a:xfrm>
            <a:prstGeom prst="rect">
              <a:avLst/>
            </a:prstGeom>
            <a:grpFill/>
          </p:spPr>
          <p:txBody>
            <a:bodyPr wrap="square" rtlCol="0">
              <a:spAutoFit/>
            </a:bodyPr>
            <a:lstStyle/>
            <a:p>
              <a:pPr algn="ctr"/>
              <a:r>
                <a:rPr lang="en-US" sz="4400" dirty="0">
                  <a:ln>
                    <a:solidFill>
                      <a:sysClr val="windowText" lastClr="000000"/>
                    </a:solidFill>
                  </a:ln>
                  <a:solidFill>
                    <a:srgbClr val="103350"/>
                  </a:solidFill>
                  <a:latin typeface="Abadi" panose="020B0604020104020204" pitchFamily="34" charset="0"/>
                </a:rPr>
                <a:t>1</a:t>
              </a:r>
              <a:endParaRPr lang="en-US" dirty="0">
                <a:ln>
                  <a:solidFill>
                    <a:sysClr val="windowText" lastClr="000000"/>
                  </a:solidFill>
                </a:ln>
                <a:solidFill>
                  <a:srgbClr val="103350"/>
                </a:solidFill>
                <a:latin typeface="Abadi" panose="020B0604020104020204" pitchFamily="34" charset="0"/>
              </a:endParaRPr>
            </a:p>
          </p:txBody>
        </p:sp>
        <p:sp>
          <p:nvSpPr>
            <p:cNvPr id="8" name="TextBox 7">
              <a:extLst>
                <a:ext uri="{FF2B5EF4-FFF2-40B4-BE49-F238E27FC236}">
                  <a16:creationId xmlns:a16="http://schemas.microsoft.com/office/drawing/2014/main" id="{A2B268B8-5D36-C563-7EC2-43A1CE0BC63A}"/>
                </a:ext>
              </a:extLst>
            </p:cNvPr>
            <p:cNvSpPr txBox="1"/>
            <p:nvPr/>
          </p:nvSpPr>
          <p:spPr>
            <a:xfrm>
              <a:off x="184289" y="2400336"/>
              <a:ext cx="3786825" cy="2585323"/>
            </a:xfrm>
            <a:prstGeom prst="rect">
              <a:avLst/>
            </a:prstGeom>
            <a:grpFill/>
          </p:spPr>
          <p:txBody>
            <a:bodyPr wrap="square" rtlCol="0">
              <a:spAutoFit/>
            </a:bodyPr>
            <a:lstStyle/>
            <a:p>
              <a:r>
                <a:rPr lang="en-US" b="1" dirty="0">
                  <a:solidFill>
                    <a:srgbClr val="FF0000"/>
                  </a:solidFill>
                  <a:effectLst>
                    <a:outerShdw blurRad="38100" dist="38100" dir="2700000" algn="tl">
                      <a:srgbClr val="000000">
                        <a:alpha val="43137"/>
                      </a:srgbClr>
                    </a:outerShdw>
                  </a:effectLst>
                </a:rPr>
                <a:t>Average defect rate</a:t>
              </a:r>
            </a:p>
            <a:p>
              <a:pPr algn="just"/>
              <a:r>
                <a:rPr lang="en-US" b="1" dirty="0">
                  <a:effectLst>
                    <a:outerShdw blurRad="38100" dist="38100" dir="2700000" algn="tl">
                      <a:srgbClr val="000000">
                        <a:alpha val="43137"/>
                      </a:srgbClr>
                    </a:outerShdw>
                  </a:effectLst>
                </a:rPr>
                <a:t>(</a:t>
              </a:r>
              <a:r>
                <a:rPr lang="en-US" b="1" dirty="0">
                  <a:effectLst>
                    <a:outerShdw blurRad="38100" dist="38100" dir="2700000" algn="tl">
                      <a:srgbClr val="000000">
                        <a:alpha val="43137"/>
                      </a:srgbClr>
                    </a:outerShdw>
                  </a:effectLst>
                  <a:latin typeface="Abadi" panose="020F0502020204030204" pitchFamily="34" charset="0"/>
                </a:rPr>
                <a:t>cosmetics 1.9 – haircare 2.5 – skincare 2.3</a:t>
              </a:r>
              <a:r>
                <a:rPr lang="en-US" b="1" dirty="0">
                  <a:effectLst>
                    <a:outerShdw blurRad="38100" dist="38100" dir="2700000" algn="tl">
                      <a:srgbClr val="000000">
                        <a:alpha val="43137"/>
                      </a:srgbClr>
                    </a:outerShdw>
                  </a:effectLst>
                </a:rPr>
                <a:t>). (medical/personal care products=health and safety risks) Acceptable Quality Limit (AQL) standard (&lt;1 excellent – 1-2 acceptable - &gt;2 actions required). </a:t>
              </a:r>
              <a:r>
                <a:rPr lang="en-US" b="1" dirty="0">
                  <a:effectLst>
                    <a:outerShdw blurRad="38100" dist="38100" dir="2700000" algn="tl">
                      <a:srgbClr val="000000">
                        <a:alpha val="43137"/>
                      </a:srgbClr>
                    </a:outerShdw>
                  </a:effectLst>
                  <a:latin typeface="Aptos" panose="02110004020202020204"/>
                </a:rPr>
                <a:t>Pass percent 23%</a:t>
              </a:r>
            </a:p>
            <a:p>
              <a:endParaRPr lang="en-US" dirty="0"/>
            </a:p>
          </p:txBody>
        </p:sp>
      </p:grpSp>
      <p:sp>
        <p:nvSpPr>
          <p:cNvPr id="12" name="Rectangle: Rounded Corners 11">
            <a:extLst>
              <a:ext uri="{FF2B5EF4-FFF2-40B4-BE49-F238E27FC236}">
                <a16:creationId xmlns:a16="http://schemas.microsoft.com/office/drawing/2014/main" id="{CF2E7314-775A-567A-3877-78578478B885}"/>
              </a:ext>
            </a:extLst>
          </p:cNvPr>
          <p:cNvSpPr/>
          <p:nvPr/>
        </p:nvSpPr>
        <p:spPr>
          <a:xfrm>
            <a:off x="6864495" y="3451285"/>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13" name="Rectangle: Rounded Corners 12">
            <a:extLst>
              <a:ext uri="{FF2B5EF4-FFF2-40B4-BE49-F238E27FC236}">
                <a16:creationId xmlns:a16="http://schemas.microsoft.com/office/drawing/2014/main" id="{A788C249-0A58-D892-D4D6-643E10C1EAC4}"/>
              </a:ext>
            </a:extLst>
          </p:cNvPr>
          <p:cNvSpPr/>
          <p:nvPr/>
        </p:nvSpPr>
        <p:spPr>
          <a:xfrm>
            <a:off x="9442821" y="3429000"/>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15" name="TextBox 14">
            <a:extLst>
              <a:ext uri="{FF2B5EF4-FFF2-40B4-BE49-F238E27FC236}">
                <a16:creationId xmlns:a16="http://schemas.microsoft.com/office/drawing/2014/main" id="{A465DA3A-F25D-0A93-2AB4-EDCB774F669E}"/>
              </a:ext>
            </a:extLst>
          </p:cNvPr>
          <p:cNvSpPr txBox="1"/>
          <p:nvPr/>
        </p:nvSpPr>
        <p:spPr>
          <a:xfrm>
            <a:off x="7072047" y="3950261"/>
            <a:ext cx="1714500" cy="769441"/>
          </a:xfrm>
          <a:prstGeom prst="rect">
            <a:avLst/>
          </a:prstGeom>
          <a:noFill/>
        </p:spPr>
        <p:txBody>
          <a:bodyPr wrap="square" rtlCol="0">
            <a:spAutoFit/>
          </a:bodyPr>
          <a:lstStyle/>
          <a:p>
            <a:pPr algn="ctr"/>
            <a:r>
              <a:rPr lang="en-US" sz="4400" dirty="0">
                <a:solidFill>
                  <a:schemeClr val="bg1"/>
                </a:solidFill>
              </a:rPr>
              <a:t>3</a:t>
            </a:r>
          </a:p>
        </p:txBody>
      </p:sp>
      <p:sp>
        <p:nvSpPr>
          <p:cNvPr id="16" name="TextBox 15">
            <a:extLst>
              <a:ext uri="{FF2B5EF4-FFF2-40B4-BE49-F238E27FC236}">
                <a16:creationId xmlns:a16="http://schemas.microsoft.com/office/drawing/2014/main" id="{5E7BD04C-07C6-C971-6B93-472A337A7EDF}"/>
              </a:ext>
            </a:extLst>
          </p:cNvPr>
          <p:cNvSpPr txBox="1"/>
          <p:nvPr/>
        </p:nvSpPr>
        <p:spPr>
          <a:xfrm>
            <a:off x="10058400" y="3950261"/>
            <a:ext cx="1003300" cy="769441"/>
          </a:xfrm>
          <a:prstGeom prst="rect">
            <a:avLst/>
          </a:prstGeom>
          <a:noFill/>
        </p:spPr>
        <p:txBody>
          <a:bodyPr wrap="square" rtlCol="0">
            <a:spAutoFit/>
          </a:bodyPr>
          <a:lstStyle/>
          <a:p>
            <a:pPr algn="ctr"/>
            <a:r>
              <a:rPr lang="en-US" sz="4400" dirty="0">
                <a:solidFill>
                  <a:schemeClr val="bg1"/>
                </a:solidFill>
              </a:rPr>
              <a:t>4</a:t>
            </a:r>
          </a:p>
        </p:txBody>
      </p:sp>
      <p:sp>
        <p:nvSpPr>
          <p:cNvPr id="18" name="TextBox 17">
            <a:extLst>
              <a:ext uri="{FF2B5EF4-FFF2-40B4-BE49-F238E27FC236}">
                <a16:creationId xmlns:a16="http://schemas.microsoft.com/office/drawing/2014/main" id="{D9C4B90B-6815-151B-670C-FBDF09D24531}"/>
              </a:ext>
            </a:extLst>
          </p:cNvPr>
          <p:cNvSpPr txBox="1"/>
          <p:nvPr/>
        </p:nvSpPr>
        <p:spPr>
          <a:xfrm>
            <a:off x="3408995" y="1344128"/>
            <a:ext cx="5397500" cy="1446550"/>
          </a:xfrm>
          <a:prstGeom prst="rect">
            <a:avLst/>
          </a:prstGeom>
          <a:noFill/>
        </p:spPr>
        <p:txBody>
          <a:bodyPr wrap="square" rtlCol="0">
            <a:spAutoFit/>
          </a:bodyPr>
          <a:lstStyle/>
          <a:p>
            <a:pPr algn="ctr"/>
            <a:r>
              <a:rPr lang="en-US" sz="4400" b="1" dirty="0">
                <a:ln w="22225">
                  <a:solidFill>
                    <a:schemeClr val="accent2"/>
                  </a:solidFill>
                  <a:prstDash val="solid"/>
                </a:ln>
                <a:solidFill>
                  <a:schemeClr val="accent2">
                    <a:lumMod val="40000"/>
                    <a:lumOff val="60000"/>
                  </a:schemeClr>
                </a:solidFill>
                <a:latin typeface="Andalus" panose="02020603050405020304" pitchFamily="18" charset="-78"/>
                <a:cs typeface="Andalus" panose="02020603050405020304" pitchFamily="18" charset="-78"/>
              </a:rPr>
              <a:t>Conclusions</a:t>
            </a:r>
            <a:endParaRPr lang="en-US" sz="3200" b="1" spc="50" dirty="0">
              <a:ln w="0"/>
              <a:solidFill>
                <a:srgbClr val="E8E8E8"/>
              </a:solidFill>
              <a:effectLst>
                <a:innerShdw blurRad="63500" dist="50800" dir="13500000">
                  <a:srgbClr val="000000">
                    <a:alpha val="50000"/>
                  </a:srgbClr>
                </a:innerShdw>
              </a:effectLst>
              <a:latin typeface="Andalus" panose="02020603050405020304" pitchFamily="18" charset="-78"/>
              <a:cs typeface="Andalus" panose="02020603050405020304" pitchFamily="18" charset="-78"/>
            </a:endParaRPr>
          </a:p>
          <a:p>
            <a:pPr algn="ctr"/>
            <a:endParaRPr lang="en-US" sz="4400" dirty="0"/>
          </a:p>
        </p:txBody>
      </p:sp>
      <p:sp>
        <p:nvSpPr>
          <p:cNvPr id="4" name="Slide Number Placeholder 3">
            <a:extLst>
              <a:ext uri="{FF2B5EF4-FFF2-40B4-BE49-F238E27FC236}">
                <a16:creationId xmlns:a16="http://schemas.microsoft.com/office/drawing/2014/main" id="{4E5A80B7-3D5D-212B-F272-9BFC8D990CD5}"/>
              </a:ext>
            </a:extLst>
          </p:cNvPr>
          <p:cNvSpPr>
            <a:spLocks noGrp="1"/>
          </p:cNvSpPr>
          <p:nvPr>
            <p:ph type="sldNum" sz="quarter" idx="12"/>
          </p:nvPr>
        </p:nvSpPr>
        <p:spPr/>
        <p:txBody>
          <a:bodyPr/>
          <a:lstStyle/>
          <a:p>
            <a:fld id="{C263D6C4-4840-40CC-AC84-17E24B3B7BDE}" type="slidenum">
              <a:rPr lang="en-US" noProof="0" smtClean="0"/>
              <a:pPr/>
              <a:t>24</a:t>
            </a:fld>
            <a:endParaRPr lang="en-US" noProof="0" dirty="0"/>
          </a:p>
        </p:txBody>
      </p:sp>
    </p:spTree>
    <p:extLst>
      <p:ext uri="{BB962C8B-B14F-4D97-AF65-F5344CB8AC3E}">
        <p14:creationId xmlns:p14="http://schemas.microsoft.com/office/powerpoint/2010/main" val="1491541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52C80-047A-569F-F21D-5029A4D81BD9}"/>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7B0E38DF-0C2D-0A58-CE42-D1DFA5BB2E1C}"/>
              </a:ext>
            </a:extLst>
          </p:cNvPr>
          <p:cNvSpPr/>
          <p:nvPr/>
        </p:nvSpPr>
        <p:spPr>
          <a:xfrm>
            <a:off x="627321" y="5651204"/>
            <a:ext cx="11369040" cy="1015410"/>
          </a:xfrm>
          <a:prstGeom prst="roundRect">
            <a:avLst>
              <a:gd name="adj" fmla="val 50000"/>
            </a:avLst>
          </a:prstGeom>
          <a:solidFill>
            <a:srgbClr val="00206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193F661B-089B-93EB-997F-4A63711C442F}"/>
              </a:ext>
            </a:extLst>
          </p:cNvPr>
          <p:cNvGrpSpPr/>
          <p:nvPr/>
        </p:nvGrpSpPr>
        <p:grpSpPr>
          <a:xfrm>
            <a:off x="99947" y="3428999"/>
            <a:ext cx="2594344" cy="1969651"/>
            <a:chOff x="4270151" y="3451285"/>
            <a:chExt cx="2594344" cy="1969651"/>
          </a:xfrm>
        </p:grpSpPr>
        <p:sp>
          <p:nvSpPr>
            <p:cNvPr id="3" name="Rectangle: Rounded Corners 2">
              <a:extLst>
                <a:ext uri="{FF2B5EF4-FFF2-40B4-BE49-F238E27FC236}">
                  <a16:creationId xmlns:a16="http://schemas.microsoft.com/office/drawing/2014/main" id="{D7B37129-91C4-0508-5A16-63F23374C67D}"/>
                </a:ext>
              </a:extLst>
            </p:cNvPr>
            <p:cNvSpPr/>
            <p:nvPr/>
          </p:nvSpPr>
          <p:spPr>
            <a:xfrm>
              <a:off x="4502521" y="3451285"/>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9" name="TextBox 8">
              <a:extLst>
                <a:ext uri="{FF2B5EF4-FFF2-40B4-BE49-F238E27FC236}">
                  <a16:creationId xmlns:a16="http://schemas.microsoft.com/office/drawing/2014/main" id="{DAE0D58E-6C5D-0601-72FC-49908C8B206F}"/>
                </a:ext>
              </a:extLst>
            </p:cNvPr>
            <p:cNvSpPr txBox="1"/>
            <p:nvPr/>
          </p:nvSpPr>
          <p:spPr>
            <a:xfrm>
              <a:off x="4270151" y="3759761"/>
              <a:ext cx="2594344" cy="769441"/>
            </a:xfrm>
            <a:prstGeom prst="rect">
              <a:avLst/>
            </a:prstGeom>
            <a:noFill/>
          </p:spPr>
          <p:txBody>
            <a:bodyPr wrap="square" rtlCol="0">
              <a:spAutoFit/>
            </a:bodyPr>
            <a:lstStyle/>
            <a:p>
              <a:pPr algn="ctr"/>
              <a:r>
                <a:rPr lang="en-US" sz="4400" dirty="0">
                  <a:ln>
                    <a:solidFill>
                      <a:sysClr val="windowText" lastClr="000000"/>
                    </a:solidFill>
                  </a:ln>
                  <a:solidFill>
                    <a:schemeClr val="bg1"/>
                  </a:solidFill>
                  <a:latin typeface="Abadi" panose="020B0604020104020204" pitchFamily="34" charset="0"/>
                </a:rPr>
                <a:t>1</a:t>
              </a:r>
            </a:p>
          </p:txBody>
        </p:sp>
      </p:grpSp>
      <p:sp>
        <p:nvSpPr>
          <p:cNvPr id="12" name="Rectangle: Rounded Corners 11">
            <a:extLst>
              <a:ext uri="{FF2B5EF4-FFF2-40B4-BE49-F238E27FC236}">
                <a16:creationId xmlns:a16="http://schemas.microsoft.com/office/drawing/2014/main" id="{C9989916-46D1-FA07-0E81-5EF704199B17}"/>
              </a:ext>
            </a:extLst>
          </p:cNvPr>
          <p:cNvSpPr/>
          <p:nvPr/>
        </p:nvSpPr>
        <p:spPr>
          <a:xfrm>
            <a:off x="6864495" y="3451285"/>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13" name="Rectangle: Rounded Corners 12">
            <a:extLst>
              <a:ext uri="{FF2B5EF4-FFF2-40B4-BE49-F238E27FC236}">
                <a16:creationId xmlns:a16="http://schemas.microsoft.com/office/drawing/2014/main" id="{7BFDECF6-C508-FEC1-C945-5C8E70DFAD0F}"/>
              </a:ext>
            </a:extLst>
          </p:cNvPr>
          <p:cNvSpPr/>
          <p:nvPr/>
        </p:nvSpPr>
        <p:spPr>
          <a:xfrm>
            <a:off x="9442821" y="3429000"/>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15" name="TextBox 14">
            <a:extLst>
              <a:ext uri="{FF2B5EF4-FFF2-40B4-BE49-F238E27FC236}">
                <a16:creationId xmlns:a16="http://schemas.microsoft.com/office/drawing/2014/main" id="{769DA792-F72E-3E4D-6599-3F8F21C11330}"/>
              </a:ext>
            </a:extLst>
          </p:cNvPr>
          <p:cNvSpPr txBox="1"/>
          <p:nvPr/>
        </p:nvSpPr>
        <p:spPr>
          <a:xfrm>
            <a:off x="7072047" y="3950261"/>
            <a:ext cx="1714500" cy="769441"/>
          </a:xfrm>
          <a:prstGeom prst="rect">
            <a:avLst/>
          </a:prstGeom>
          <a:noFill/>
        </p:spPr>
        <p:txBody>
          <a:bodyPr wrap="square" rtlCol="0">
            <a:spAutoFit/>
          </a:bodyPr>
          <a:lstStyle/>
          <a:p>
            <a:pPr algn="ctr"/>
            <a:r>
              <a:rPr lang="en-US" sz="4400" dirty="0">
                <a:solidFill>
                  <a:schemeClr val="bg1"/>
                </a:solidFill>
              </a:rPr>
              <a:t>3</a:t>
            </a:r>
          </a:p>
        </p:txBody>
      </p:sp>
      <p:sp>
        <p:nvSpPr>
          <p:cNvPr id="16" name="TextBox 15">
            <a:extLst>
              <a:ext uri="{FF2B5EF4-FFF2-40B4-BE49-F238E27FC236}">
                <a16:creationId xmlns:a16="http://schemas.microsoft.com/office/drawing/2014/main" id="{C695307D-2809-CB1D-90A9-9123DD5D0A66}"/>
              </a:ext>
            </a:extLst>
          </p:cNvPr>
          <p:cNvSpPr txBox="1"/>
          <p:nvPr/>
        </p:nvSpPr>
        <p:spPr>
          <a:xfrm>
            <a:off x="10058400" y="3950261"/>
            <a:ext cx="1003300" cy="769441"/>
          </a:xfrm>
          <a:prstGeom prst="rect">
            <a:avLst/>
          </a:prstGeom>
          <a:noFill/>
        </p:spPr>
        <p:txBody>
          <a:bodyPr wrap="square" rtlCol="0">
            <a:spAutoFit/>
          </a:bodyPr>
          <a:lstStyle/>
          <a:p>
            <a:pPr algn="ctr"/>
            <a:r>
              <a:rPr lang="en-US" sz="4400" dirty="0">
                <a:solidFill>
                  <a:schemeClr val="bg1"/>
                </a:solidFill>
              </a:rPr>
              <a:t>4</a:t>
            </a:r>
          </a:p>
        </p:txBody>
      </p:sp>
      <p:grpSp>
        <p:nvGrpSpPr>
          <p:cNvPr id="10" name="Group 9">
            <a:extLst>
              <a:ext uri="{FF2B5EF4-FFF2-40B4-BE49-F238E27FC236}">
                <a16:creationId xmlns:a16="http://schemas.microsoft.com/office/drawing/2014/main" id="{47E6B0A5-D8C3-74F2-A3E8-C50FC3C1B188}"/>
              </a:ext>
            </a:extLst>
          </p:cNvPr>
          <p:cNvGrpSpPr/>
          <p:nvPr/>
        </p:nvGrpSpPr>
        <p:grpSpPr>
          <a:xfrm>
            <a:off x="2690998" y="844658"/>
            <a:ext cx="3941127" cy="4398264"/>
            <a:chOff x="204970" y="1022672"/>
            <a:chExt cx="3786825" cy="4398264"/>
          </a:xfrm>
          <a:solidFill>
            <a:schemeClr val="accent5">
              <a:lumMod val="40000"/>
              <a:lumOff val="60000"/>
            </a:schemeClr>
          </a:solidFill>
        </p:grpSpPr>
        <p:sp>
          <p:nvSpPr>
            <p:cNvPr id="11" name="Rectangle: Rounded Corners 10">
              <a:extLst>
                <a:ext uri="{FF2B5EF4-FFF2-40B4-BE49-F238E27FC236}">
                  <a16:creationId xmlns:a16="http://schemas.microsoft.com/office/drawing/2014/main" id="{688D31AA-2C1F-48A0-2BE9-8672EC09B4C3}"/>
                </a:ext>
              </a:extLst>
            </p:cNvPr>
            <p:cNvSpPr/>
            <p:nvPr/>
          </p:nvSpPr>
          <p:spPr>
            <a:xfrm>
              <a:off x="204970" y="1022672"/>
              <a:ext cx="3786825" cy="4398264"/>
            </a:xfrm>
            <a:prstGeom prst="roundRect">
              <a:avLst/>
            </a:prstGeom>
            <a:grp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14" name="TextBox 13">
              <a:extLst>
                <a:ext uri="{FF2B5EF4-FFF2-40B4-BE49-F238E27FC236}">
                  <a16:creationId xmlns:a16="http://schemas.microsoft.com/office/drawing/2014/main" id="{BC43AE44-08C5-4684-45EA-9DD4DC6360E1}"/>
                </a:ext>
              </a:extLst>
            </p:cNvPr>
            <p:cNvSpPr txBox="1"/>
            <p:nvPr/>
          </p:nvSpPr>
          <p:spPr>
            <a:xfrm>
              <a:off x="769896" y="1793092"/>
              <a:ext cx="2615610" cy="769441"/>
            </a:xfrm>
            <a:prstGeom prst="rect">
              <a:avLst/>
            </a:prstGeom>
            <a:grpFill/>
          </p:spPr>
          <p:txBody>
            <a:bodyPr wrap="square" rtlCol="0">
              <a:spAutoFit/>
            </a:bodyPr>
            <a:lstStyle/>
            <a:p>
              <a:pPr algn="ctr"/>
              <a:r>
                <a:rPr lang="en-US" sz="4400" dirty="0">
                  <a:ln>
                    <a:solidFill>
                      <a:sysClr val="windowText" lastClr="000000"/>
                    </a:solidFill>
                  </a:ln>
                  <a:solidFill>
                    <a:srgbClr val="103350"/>
                  </a:solidFill>
                  <a:latin typeface="Abadi" panose="020B0604020104020204" pitchFamily="34" charset="0"/>
                </a:rPr>
                <a:t>2</a:t>
              </a:r>
              <a:endParaRPr lang="en-US" dirty="0">
                <a:ln>
                  <a:solidFill>
                    <a:sysClr val="windowText" lastClr="000000"/>
                  </a:solidFill>
                </a:ln>
                <a:solidFill>
                  <a:srgbClr val="103350"/>
                </a:solidFill>
                <a:latin typeface="Abadi" panose="020B0604020104020204" pitchFamily="34" charset="0"/>
              </a:endParaRPr>
            </a:p>
          </p:txBody>
        </p:sp>
        <p:sp>
          <p:nvSpPr>
            <p:cNvPr id="17" name="TextBox 16">
              <a:extLst>
                <a:ext uri="{FF2B5EF4-FFF2-40B4-BE49-F238E27FC236}">
                  <a16:creationId xmlns:a16="http://schemas.microsoft.com/office/drawing/2014/main" id="{5B93BF9A-9D69-B8A1-FA6E-AA96C44DFB1C}"/>
                </a:ext>
              </a:extLst>
            </p:cNvPr>
            <p:cNvSpPr txBox="1"/>
            <p:nvPr/>
          </p:nvSpPr>
          <p:spPr>
            <a:xfrm>
              <a:off x="204971" y="2866391"/>
              <a:ext cx="3766145" cy="2031325"/>
            </a:xfrm>
            <a:prstGeom prst="rect">
              <a:avLst/>
            </a:prstGeom>
            <a:grpFill/>
          </p:spPr>
          <p:txBody>
            <a:bodyPr wrap="square" rtlCol="0">
              <a:spAutoFit/>
            </a:bodyPr>
            <a:lstStyle/>
            <a:p>
              <a:pPr lvl="0" algn="just">
                <a:defRPr/>
              </a:pPr>
              <a:r>
                <a:rPr lang="en-US" b="1" dirty="0">
                  <a:solidFill>
                    <a:srgbClr val="FF0000"/>
                  </a:solidFill>
                  <a:effectLst>
                    <a:outerShdw blurRad="38100" dist="38100" dir="2700000" algn="tl">
                      <a:srgbClr val="000000">
                        <a:alpha val="43137"/>
                      </a:srgbClr>
                    </a:outerShdw>
                  </a:effectLst>
                  <a:latin typeface="Aptos" panose="02110004020202020204"/>
                </a:rPr>
                <a:t>Suppliers-Carriers-Transport-Route</a:t>
              </a:r>
            </a:p>
            <a:p>
              <a:pPr lvl="0" algn="just">
                <a:defRPr/>
              </a:pPr>
              <a:r>
                <a:rPr lang="en-US" b="1" dirty="0">
                  <a:effectLst>
                    <a:outerShdw blurRad="38100" dist="38100" dir="2700000" algn="tl">
                      <a:srgbClr val="000000">
                        <a:alpha val="43137"/>
                      </a:srgbClr>
                    </a:outerShdw>
                  </a:effectLst>
                  <a:latin typeface="Aptos" panose="02110004020202020204"/>
                </a:rPr>
                <a:t>Cosmetics: best (Supplier 1 -Carrier B – Transportation Air – Route C) - Skincare: best (Supplier 1 -Carrier B – Transportation Air – Route B) - Haircare: best (Supplier 3 -Carrier B – Transportation Rail – Route C)</a:t>
              </a:r>
            </a:p>
          </p:txBody>
        </p:sp>
      </p:grpSp>
      <p:sp>
        <p:nvSpPr>
          <p:cNvPr id="18" name="TextBox 17">
            <a:extLst>
              <a:ext uri="{FF2B5EF4-FFF2-40B4-BE49-F238E27FC236}">
                <a16:creationId xmlns:a16="http://schemas.microsoft.com/office/drawing/2014/main" id="{21848FA4-F2E3-FF4B-7BD0-F3A706702FDE}"/>
              </a:ext>
            </a:extLst>
          </p:cNvPr>
          <p:cNvSpPr txBox="1"/>
          <p:nvPr/>
        </p:nvSpPr>
        <p:spPr>
          <a:xfrm>
            <a:off x="7072047" y="709316"/>
            <a:ext cx="5397500" cy="1446550"/>
          </a:xfrm>
          <a:prstGeom prst="rect">
            <a:avLst/>
          </a:prstGeom>
          <a:noFill/>
        </p:spPr>
        <p:txBody>
          <a:bodyPr wrap="square" rtlCol="0">
            <a:spAutoFit/>
          </a:bodyPr>
          <a:lstStyle/>
          <a:p>
            <a:pPr algn="ctr"/>
            <a:r>
              <a:rPr lang="en-US" sz="4400" dirty="0">
                <a:ln w="0"/>
                <a:effectLst>
                  <a:outerShdw blurRad="38100" dist="19050" dir="2700000" algn="tl" rotWithShape="0">
                    <a:schemeClr val="dk1">
                      <a:alpha val="40000"/>
                    </a:schemeClr>
                  </a:outerShdw>
                </a:effectLst>
                <a:latin typeface="Andalus" panose="02020603050405020304" pitchFamily="18" charset="-78"/>
                <a:cs typeface="Andalus" panose="02020603050405020304" pitchFamily="18" charset="-78"/>
              </a:rPr>
              <a:t>Conclusions</a:t>
            </a:r>
            <a:endParaRPr lang="en-US" sz="3200" b="1" spc="50" dirty="0">
              <a:ln w="0"/>
              <a:solidFill>
                <a:srgbClr val="E8E8E8"/>
              </a:solidFill>
              <a:effectLst>
                <a:innerShdw blurRad="63500" dist="50800" dir="13500000">
                  <a:srgbClr val="000000">
                    <a:alpha val="50000"/>
                  </a:srgbClr>
                </a:innerShdw>
              </a:effectLst>
              <a:latin typeface="Andalus" panose="02020603050405020304" pitchFamily="18" charset="-78"/>
              <a:cs typeface="Andalus" panose="02020603050405020304" pitchFamily="18" charset="-78"/>
            </a:endParaRPr>
          </a:p>
          <a:p>
            <a:pPr algn="ctr"/>
            <a:endParaRPr lang="en-US" sz="4400" dirty="0"/>
          </a:p>
        </p:txBody>
      </p:sp>
      <p:sp>
        <p:nvSpPr>
          <p:cNvPr id="21" name="Oval 20">
            <a:extLst>
              <a:ext uri="{FF2B5EF4-FFF2-40B4-BE49-F238E27FC236}">
                <a16:creationId xmlns:a16="http://schemas.microsoft.com/office/drawing/2014/main" id="{DE191917-499C-4F93-AD53-51D906A2456B}"/>
              </a:ext>
            </a:extLst>
          </p:cNvPr>
          <p:cNvSpPr/>
          <p:nvPr/>
        </p:nvSpPr>
        <p:spPr>
          <a:xfrm>
            <a:off x="4145882" y="5651204"/>
            <a:ext cx="1031358" cy="1015410"/>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6BA190B8-2BAA-3B52-1A07-3EAF89782514}"/>
              </a:ext>
            </a:extLst>
          </p:cNvPr>
          <p:cNvSpPr>
            <a:spLocks noGrp="1"/>
          </p:cNvSpPr>
          <p:nvPr>
            <p:ph type="sldNum" sz="quarter" idx="12"/>
          </p:nvPr>
        </p:nvSpPr>
        <p:spPr/>
        <p:txBody>
          <a:bodyPr/>
          <a:lstStyle/>
          <a:p>
            <a:fld id="{C263D6C4-4840-40CC-AC84-17E24B3B7BDE}" type="slidenum">
              <a:rPr lang="en-US" noProof="0" smtClean="0"/>
              <a:pPr/>
              <a:t>25</a:t>
            </a:fld>
            <a:endParaRPr lang="en-US" noProof="0" dirty="0"/>
          </a:p>
        </p:txBody>
      </p:sp>
    </p:spTree>
    <p:extLst>
      <p:ext uri="{BB962C8B-B14F-4D97-AF65-F5344CB8AC3E}">
        <p14:creationId xmlns:p14="http://schemas.microsoft.com/office/powerpoint/2010/main" val="1429114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10DC3-636D-163D-C82B-38BCF5781559}"/>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1C4A7B1-20CF-AB67-C9BE-0FFAC1A7DFC3}"/>
              </a:ext>
            </a:extLst>
          </p:cNvPr>
          <p:cNvSpPr/>
          <p:nvPr/>
        </p:nvSpPr>
        <p:spPr>
          <a:xfrm>
            <a:off x="627321" y="5651204"/>
            <a:ext cx="11369040" cy="1015410"/>
          </a:xfrm>
          <a:prstGeom prst="roundRect">
            <a:avLst>
              <a:gd name="adj" fmla="val 50000"/>
            </a:avLst>
          </a:prstGeom>
          <a:solidFill>
            <a:srgbClr val="00206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40F58ABC-AEEC-4ED9-F84E-4C1FF0371D7A}"/>
              </a:ext>
            </a:extLst>
          </p:cNvPr>
          <p:cNvGrpSpPr/>
          <p:nvPr/>
        </p:nvGrpSpPr>
        <p:grpSpPr>
          <a:xfrm>
            <a:off x="99947" y="3428999"/>
            <a:ext cx="2594344" cy="1969651"/>
            <a:chOff x="4270151" y="3451285"/>
            <a:chExt cx="2594344" cy="1969651"/>
          </a:xfrm>
        </p:grpSpPr>
        <p:sp>
          <p:nvSpPr>
            <p:cNvPr id="3" name="Rectangle: Rounded Corners 2">
              <a:extLst>
                <a:ext uri="{FF2B5EF4-FFF2-40B4-BE49-F238E27FC236}">
                  <a16:creationId xmlns:a16="http://schemas.microsoft.com/office/drawing/2014/main" id="{A22A3016-DCDA-F563-4393-A892D4B98655}"/>
                </a:ext>
              </a:extLst>
            </p:cNvPr>
            <p:cNvSpPr/>
            <p:nvPr/>
          </p:nvSpPr>
          <p:spPr>
            <a:xfrm>
              <a:off x="4502521" y="3451285"/>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9" name="TextBox 8">
              <a:extLst>
                <a:ext uri="{FF2B5EF4-FFF2-40B4-BE49-F238E27FC236}">
                  <a16:creationId xmlns:a16="http://schemas.microsoft.com/office/drawing/2014/main" id="{164E7A10-810C-85D5-8038-07AB924E0A03}"/>
                </a:ext>
              </a:extLst>
            </p:cNvPr>
            <p:cNvSpPr txBox="1"/>
            <p:nvPr/>
          </p:nvSpPr>
          <p:spPr>
            <a:xfrm>
              <a:off x="4270151" y="3759761"/>
              <a:ext cx="2594344" cy="769441"/>
            </a:xfrm>
            <a:prstGeom prst="rect">
              <a:avLst/>
            </a:prstGeom>
            <a:noFill/>
          </p:spPr>
          <p:txBody>
            <a:bodyPr wrap="square" rtlCol="0">
              <a:spAutoFit/>
            </a:bodyPr>
            <a:lstStyle/>
            <a:p>
              <a:pPr algn="ctr"/>
              <a:r>
                <a:rPr lang="en-US" sz="4400" dirty="0">
                  <a:ln>
                    <a:solidFill>
                      <a:sysClr val="windowText" lastClr="000000"/>
                    </a:solidFill>
                  </a:ln>
                  <a:solidFill>
                    <a:schemeClr val="bg1"/>
                  </a:solidFill>
                  <a:latin typeface="Abadi" panose="020B0604020104020204" pitchFamily="34" charset="0"/>
                </a:rPr>
                <a:t>1</a:t>
              </a:r>
            </a:p>
          </p:txBody>
        </p:sp>
      </p:grpSp>
      <p:sp>
        <p:nvSpPr>
          <p:cNvPr id="13" name="Rectangle: Rounded Corners 12">
            <a:extLst>
              <a:ext uri="{FF2B5EF4-FFF2-40B4-BE49-F238E27FC236}">
                <a16:creationId xmlns:a16="http://schemas.microsoft.com/office/drawing/2014/main" id="{AD1CEB8F-FB71-C9C5-A5E8-D963B122FFE3}"/>
              </a:ext>
            </a:extLst>
          </p:cNvPr>
          <p:cNvSpPr/>
          <p:nvPr/>
        </p:nvSpPr>
        <p:spPr>
          <a:xfrm>
            <a:off x="9442821" y="3429000"/>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grpSp>
        <p:nvGrpSpPr>
          <p:cNvPr id="2" name="Group 1">
            <a:extLst>
              <a:ext uri="{FF2B5EF4-FFF2-40B4-BE49-F238E27FC236}">
                <a16:creationId xmlns:a16="http://schemas.microsoft.com/office/drawing/2014/main" id="{0E228E31-32C1-3F37-453B-AC73A73C0EC4}"/>
              </a:ext>
            </a:extLst>
          </p:cNvPr>
          <p:cNvGrpSpPr/>
          <p:nvPr/>
        </p:nvGrpSpPr>
        <p:grpSpPr>
          <a:xfrm>
            <a:off x="2860364" y="3350155"/>
            <a:ext cx="2129605" cy="1969651"/>
            <a:chOff x="6864495" y="3451285"/>
            <a:chExt cx="2129605" cy="1969651"/>
          </a:xfrm>
        </p:grpSpPr>
        <p:sp>
          <p:nvSpPr>
            <p:cNvPr id="12" name="Rectangle: Rounded Corners 11">
              <a:extLst>
                <a:ext uri="{FF2B5EF4-FFF2-40B4-BE49-F238E27FC236}">
                  <a16:creationId xmlns:a16="http://schemas.microsoft.com/office/drawing/2014/main" id="{5DB0CF87-9F98-3B5D-4872-0AADF8D6E1C0}"/>
                </a:ext>
              </a:extLst>
            </p:cNvPr>
            <p:cNvSpPr/>
            <p:nvPr/>
          </p:nvSpPr>
          <p:spPr>
            <a:xfrm>
              <a:off x="6864495" y="3451285"/>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15" name="TextBox 14">
              <a:extLst>
                <a:ext uri="{FF2B5EF4-FFF2-40B4-BE49-F238E27FC236}">
                  <a16:creationId xmlns:a16="http://schemas.microsoft.com/office/drawing/2014/main" id="{04A5A32A-D61B-6759-DCB3-95D5A532C1C4}"/>
                </a:ext>
              </a:extLst>
            </p:cNvPr>
            <p:cNvSpPr txBox="1"/>
            <p:nvPr/>
          </p:nvSpPr>
          <p:spPr>
            <a:xfrm>
              <a:off x="7072047" y="3950261"/>
              <a:ext cx="1714500" cy="769441"/>
            </a:xfrm>
            <a:prstGeom prst="rect">
              <a:avLst/>
            </a:prstGeom>
            <a:noFill/>
          </p:spPr>
          <p:txBody>
            <a:bodyPr wrap="square" rtlCol="0">
              <a:spAutoFit/>
            </a:bodyPr>
            <a:lstStyle/>
            <a:p>
              <a:pPr algn="ctr"/>
              <a:r>
                <a:rPr lang="en-US" sz="4400" dirty="0">
                  <a:solidFill>
                    <a:schemeClr val="bg1"/>
                  </a:solidFill>
                </a:rPr>
                <a:t>2</a:t>
              </a:r>
            </a:p>
          </p:txBody>
        </p:sp>
      </p:grpSp>
      <p:sp>
        <p:nvSpPr>
          <p:cNvPr id="16" name="TextBox 15">
            <a:extLst>
              <a:ext uri="{FF2B5EF4-FFF2-40B4-BE49-F238E27FC236}">
                <a16:creationId xmlns:a16="http://schemas.microsoft.com/office/drawing/2014/main" id="{3D43ABB6-3937-BC61-5ACB-2D006429FC8A}"/>
              </a:ext>
            </a:extLst>
          </p:cNvPr>
          <p:cNvSpPr txBox="1"/>
          <p:nvPr/>
        </p:nvSpPr>
        <p:spPr>
          <a:xfrm>
            <a:off x="10058400" y="3950261"/>
            <a:ext cx="1003300" cy="769441"/>
          </a:xfrm>
          <a:prstGeom prst="rect">
            <a:avLst/>
          </a:prstGeom>
          <a:noFill/>
        </p:spPr>
        <p:txBody>
          <a:bodyPr wrap="square" rtlCol="0">
            <a:spAutoFit/>
          </a:bodyPr>
          <a:lstStyle/>
          <a:p>
            <a:pPr algn="ctr"/>
            <a:r>
              <a:rPr lang="en-US" sz="4400" dirty="0">
                <a:solidFill>
                  <a:schemeClr val="bg1"/>
                </a:solidFill>
              </a:rPr>
              <a:t>4</a:t>
            </a:r>
          </a:p>
        </p:txBody>
      </p:sp>
      <p:grpSp>
        <p:nvGrpSpPr>
          <p:cNvPr id="10" name="Group 9">
            <a:extLst>
              <a:ext uri="{FF2B5EF4-FFF2-40B4-BE49-F238E27FC236}">
                <a16:creationId xmlns:a16="http://schemas.microsoft.com/office/drawing/2014/main" id="{0BBE616A-2BFF-C65A-4F57-5FCC17C9D56B}"/>
              </a:ext>
            </a:extLst>
          </p:cNvPr>
          <p:cNvGrpSpPr/>
          <p:nvPr/>
        </p:nvGrpSpPr>
        <p:grpSpPr>
          <a:xfrm>
            <a:off x="5388411" y="1796643"/>
            <a:ext cx="3909013" cy="3645478"/>
            <a:chOff x="204970" y="1022672"/>
            <a:chExt cx="3786825" cy="4398264"/>
          </a:xfrm>
          <a:solidFill>
            <a:schemeClr val="accent5">
              <a:lumMod val="60000"/>
              <a:lumOff val="40000"/>
            </a:schemeClr>
          </a:solidFill>
        </p:grpSpPr>
        <p:sp>
          <p:nvSpPr>
            <p:cNvPr id="11" name="Rectangle: Rounded Corners 10">
              <a:extLst>
                <a:ext uri="{FF2B5EF4-FFF2-40B4-BE49-F238E27FC236}">
                  <a16:creationId xmlns:a16="http://schemas.microsoft.com/office/drawing/2014/main" id="{3484758C-0CC5-55D6-F4BD-97D3208AF798}"/>
                </a:ext>
              </a:extLst>
            </p:cNvPr>
            <p:cNvSpPr/>
            <p:nvPr/>
          </p:nvSpPr>
          <p:spPr>
            <a:xfrm>
              <a:off x="204970" y="1022672"/>
              <a:ext cx="3786825" cy="4398264"/>
            </a:xfrm>
            <a:prstGeom prst="roundRect">
              <a:avLst/>
            </a:prstGeom>
            <a:grp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14" name="TextBox 13">
              <a:extLst>
                <a:ext uri="{FF2B5EF4-FFF2-40B4-BE49-F238E27FC236}">
                  <a16:creationId xmlns:a16="http://schemas.microsoft.com/office/drawing/2014/main" id="{BE9ACE41-FB9D-E849-3C32-E422A3954E94}"/>
                </a:ext>
              </a:extLst>
            </p:cNvPr>
            <p:cNvSpPr txBox="1"/>
            <p:nvPr/>
          </p:nvSpPr>
          <p:spPr>
            <a:xfrm>
              <a:off x="769896" y="1793092"/>
              <a:ext cx="2615610" cy="769441"/>
            </a:xfrm>
            <a:prstGeom prst="rect">
              <a:avLst/>
            </a:prstGeom>
            <a:grpFill/>
          </p:spPr>
          <p:txBody>
            <a:bodyPr wrap="square" rtlCol="0">
              <a:spAutoFit/>
            </a:bodyPr>
            <a:lstStyle/>
            <a:p>
              <a:pPr algn="ctr"/>
              <a:r>
                <a:rPr lang="en-US" sz="4400" dirty="0">
                  <a:ln>
                    <a:solidFill>
                      <a:sysClr val="windowText" lastClr="000000"/>
                    </a:solidFill>
                  </a:ln>
                  <a:solidFill>
                    <a:srgbClr val="103350"/>
                  </a:solidFill>
                  <a:latin typeface="Abadi" panose="020B0604020104020204" pitchFamily="34" charset="0"/>
                </a:rPr>
                <a:t>3</a:t>
              </a:r>
              <a:endParaRPr lang="en-US" dirty="0">
                <a:ln>
                  <a:solidFill>
                    <a:sysClr val="windowText" lastClr="000000"/>
                  </a:solidFill>
                </a:ln>
                <a:solidFill>
                  <a:srgbClr val="103350"/>
                </a:solidFill>
                <a:latin typeface="Abadi" panose="020B0604020104020204" pitchFamily="34" charset="0"/>
              </a:endParaRPr>
            </a:p>
          </p:txBody>
        </p:sp>
        <p:sp>
          <p:nvSpPr>
            <p:cNvPr id="17" name="TextBox 16">
              <a:extLst>
                <a:ext uri="{FF2B5EF4-FFF2-40B4-BE49-F238E27FC236}">
                  <a16:creationId xmlns:a16="http://schemas.microsoft.com/office/drawing/2014/main" id="{FB9F21C6-7740-07CF-3E7A-4E85A4DFE2B8}"/>
                </a:ext>
              </a:extLst>
            </p:cNvPr>
            <p:cNvSpPr txBox="1"/>
            <p:nvPr/>
          </p:nvSpPr>
          <p:spPr>
            <a:xfrm>
              <a:off x="332550" y="2866391"/>
              <a:ext cx="3638564" cy="1448195"/>
            </a:xfrm>
            <a:prstGeom prst="rect">
              <a:avLst/>
            </a:prstGeom>
            <a:grpFill/>
          </p:spPr>
          <p:txBody>
            <a:bodyPr wrap="square" rtlCol="0">
              <a:spAutoFit/>
            </a:bodyPr>
            <a:lstStyle/>
            <a:p>
              <a:pPr lvl="0" algn="just">
                <a:defRPr/>
              </a:pPr>
              <a:r>
                <a:rPr lang="en-US" b="1" dirty="0">
                  <a:solidFill>
                    <a:srgbClr val="FF0000"/>
                  </a:solidFill>
                  <a:effectLst>
                    <a:outerShdw blurRad="38100" dist="38100" dir="2700000" algn="tl">
                      <a:srgbClr val="000000">
                        <a:alpha val="43137"/>
                      </a:srgbClr>
                    </a:outerShdw>
                  </a:effectLst>
                  <a:latin typeface="Aptos" panose="02110004020202020204"/>
                </a:rPr>
                <a:t>Skincare best product type</a:t>
              </a:r>
              <a:r>
                <a:rPr lang="en-US" b="1" dirty="0">
                  <a:effectLst>
                    <a:outerShdw blurRad="38100" dist="38100" dir="2700000" algn="tl">
                      <a:srgbClr val="000000">
                        <a:alpha val="43137"/>
                      </a:srgbClr>
                    </a:outerShdw>
                  </a:effectLst>
                  <a:latin typeface="Aptos" panose="02110004020202020204"/>
                </a:rPr>
                <a:t>. </a:t>
              </a:r>
              <a:r>
                <a:rPr lang="en-US" b="1" dirty="0">
                  <a:effectLst>
                    <a:outerShdw blurRad="38100" dist="38100" dir="2700000" algn="tl">
                      <a:srgbClr val="000000">
                        <a:alpha val="43137"/>
                      </a:srgbClr>
                    </a:outerShdw>
                  </a:effectLst>
                  <a:latin typeface="Abadi" panose="020B0604020104020204" pitchFamily="34" charset="0"/>
                </a:rPr>
                <a:t>Although lowest stock level, highest Pass 28%, highest orders, highest revenue </a:t>
              </a:r>
            </a:p>
          </p:txBody>
        </p:sp>
      </p:grpSp>
      <p:sp>
        <p:nvSpPr>
          <p:cNvPr id="18" name="TextBox 17">
            <a:extLst>
              <a:ext uri="{FF2B5EF4-FFF2-40B4-BE49-F238E27FC236}">
                <a16:creationId xmlns:a16="http://schemas.microsoft.com/office/drawing/2014/main" id="{FE862525-5003-C73E-B656-9153767DF9C2}"/>
              </a:ext>
            </a:extLst>
          </p:cNvPr>
          <p:cNvSpPr txBox="1"/>
          <p:nvPr/>
        </p:nvSpPr>
        <p:spPr>
          <a:xfrm>
            <a:off x="-594027" y="350093"/>
            <a:ext cx="5397500" cy="1446550"/>
          </a:xfrm>
          <a:prstGeom prst="rect">
            <a:avLst/>
          </a:prstGeom>
          <a:noFill/>
        </p:spPr>
        <p:txBody>
          <a:bodyPr wrap="square" rtlCol="0">
            <a:spAutoFit/>
          </a:bodyPr>
          <a:lstStyle/>
          <a:p>
            <a:pPr algn="ctr"/>
            <a:r>
              <a:rPr lang="en-US" sz="4400" dirty="0">
                <a:ln w="0"/>
                <a:solidFill>
                  <a:schemeClr val="bg1"/>
                </a:solidFill>
                <a:effectLst>
                  <a:outerShdw blurRad="38100" dist="19050" dir="2700000" algn="tl" rotWithShape="0">
                    <a:schemeClr val="dk1">
                      <a:alpha val="40000"/>
                    </a:schemeClr>
                  </a:outerShdw>
                </a:effectLst>
                <a:latin typeface="Andalus" panose="02020603050405020304" pitchFamily="18" charset="-78"/>
                <a:cs typeface="Andalus" panose="02020603050405020304" pitchFamily="18" charset="-78"/>
              </a:rPr>
              <a:t>Conclusions</a:t>
            </a:r>
            <a:endParaRPr lang="en-US" sz="3200" b="1" spc="50" dirty="0">
              <a:ln w="0"/>
              <a:solidFill>
                <a:schemeClr val="bg1"/>
              </a:solidFill>
              <a:effectLst>
                <a:innerShdw blurRad="63500" dist="50800" dir="13500000">
                  <a:srgbClr val="000000">
                    <a:alpha val="50000"/>
                  </a:srgbClr>
                </a:innerShdw>
              </a:effectLst>
              <a:latin typeface="Andalus" panose="02020603050405020304" pitchFamily="18" charset="-78"/>
              <a:cs typeface="Andalus" panose="02020603050405020304" pitchFamily="18" charset="-78"/>
            </a:endParaRPr>
          </a:p>
          <a:p>
            <a:pPr algn="ctr"/>
            <a:endParaRPr lang="en-US" sz="4400" dirty="0">
              <a:solidFill>
                <a:schemeClr val="bg1"/>
              </a:solidFill>
            </a:endParaRPr>
          </a:p>
        </p:txBody>
      </p:sp>
      <p:sp>
        <p:nvSpPr>
          <p:cNvPr id="7" name="Oval 6">
            <a:extLst>
              <a:ext uri="{FF2B5EF4-FFF2-40B4-BE49-F238E27FC236}">
                <a16:creationId xmlns:a16="http://schemas.microsoft.com/office/drawing/2014/main" id="{339DF934-EE2C-38B0-7C5F-62A246115892}"/>
              </a:ext>
            </a:extLst>
          </p:cNvPr>
          <p:cNvSpPr/>
          <p:nvPr/>
        </p:nvSpPr>
        <p:spPr>
          <a:xfrm>
            <a:off x="6811181" y="5651204"/>
            <a:ext cx="1031358" cy="101541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05316C63-38A3-F67C-A4F2-9604D956DE12}"/>
              </a:ext>
            </a:extLst>
          </p:cNvPr>
          <p:cNvSpPr>
            <a:spLocks noGrp="1"/>
          </p:cNvSpPr>
          <p:nvPr>
            <p:ph type="sldNum" sz="quarter" idx="12"/>
          </p:nvPr>
        </p:nvSpPr>
        <p:spPr/>
        <p:txBody>
          <a:bodyPr/>
          <a:lstStyle/>
          <a:p>
            <a:fld id="{C263D6C4-4840-40CC-AC84-17E24B3B7BDE}" type="slidenum">
              <a:rPr lang="en-US" noProof="0" smtClean="0"/>
              <a:pPr/>
              <a:t>26</a:t>
            </a:fld>
            <a:endParaRPr lang="en-US" noProof="0" dirty="0"/>
          </a:p>
        </p:txBody>
      </p:sp>
    </p:spTree>
    <p:extLst>
      <p:ext uri="{BB962C8B-B14F-4D97-AF65-F5344CB8AC3E}">
        <p14:creationId xmlns:p14="http://schemas.microsoft.com/office/powerpoint/2010/main" val="17152313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9E1BA-1356-ABA9-C698-9B6BCD01D810}"/>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8D03289-3689-0C96-20E4-4285FF509D2D}"/>
              </a:ext>
            </a:extLst>
          </p:cNvPr>
          <p:cNvSpPr/>
          <p:nvPr/>
        </p:nvSpPr>
        <p:spPr>
          <a:xfrm>
            <a:off x="627321" y="5651204"/>
            <a:ext cx="11369040" cy="1015410"/>
          </a:xfrm>
          <a:prstGeom prst="roundRect">
            <a:avLst>
              <a:gd name="adj" fmla="val 50000"/>
            </a:avLst>
          </a:prstGeom>
          <a:solidFill>
            <a:srgbClr val="00206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D2D2D835-4646-1707-592E-2F417702CA7F}"/>
              </a:ext>
            </a:extLst>
          </p:cNvPr>
          <p:cNvGrpSpPr/>
          <p:nvPr/>
        </p:nvGrpSpPr>
        <p:grpSpPr>
          <a:xfrm>
            <a:off x="99947" y="3428999"/>
            <a:ext cx="2594344" cy="1969651"/>
            <a:chOff x="4270151" y="3451285"/>
            <a:chExt cx="2594344" cy="1969651"/>
          </a:xfrm>
        </p:grpSpPr>
        <p:sp>
          <p:nvSpPr>
            <p:cNvPr id="3" name="Rectangle: Rounded Corners 2">
              <a:extLst>
                <a:ext uri="{FF2B5EF4-FFF2-40B4-BE49-F238E27FC236}">
                  <a16:creationId xmlns:a16="http://schemas.microsoft.com/office/drawing/2014/main" id="{E513AD0F-865E-6397-F5FE-1CB67235D17B}"/>
                </a:ext>
              </a:extLst>
            </p:cNvPr>
            <p:cNvSpPr/>
            <p:nvPr/>
          </p:nvSpPr>
          <p:spPr>
            <a:xfrm>
              <a:off x="4502521" y="3451285"/>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9" name="TextBox 8">
              <a:extLst>
                <a:ext uri="{FF2B5EF4-FFF2-40B4-BE49-F238E27FC236}">
                  <a16:creationId xmlns:a16="http://schemas.microsoft.com/office/drawing/2014/main" id="{818CF488-C06E-2603-64D1-4346B04BFB36}"/>
                </a:ext>
              </a:extLst>
            </p:cNvPr>
            <p:cNvSpPr txBox="1"/>
            <p:nvPr/>
          </p:nvSpPr>
          <p:spPr>
            <a:xfrm>
              <a:off x="4270151" y="3759761"/>
              <a:ext cx="2594344" cy="769441"/>
            </a:xfrm>
            <a:prstGeom prst="rect">
              <a:avLst/>
            </a:prstGeom>
            <a:noFill/>
          </p:spPr>
          <p:txBody>
            <a:bodyPr wrap="square" rtlCol="0">
              <a:spAutoFit/>
            </a:bodyPr>
            <a:lstStyle/>
            <a:p>
              <a:pPr algn="ctr"/>
              <a:r>
                <a:rPr lang="en-US" sz="4400" dirty="0">
                  <a:ln>
                    <a:solidFill>
                      <a:sysClr val="windowText" lastClr="000000"/>
                    </a:solidFill>
                  </a:ln>
                  <a:solidFill>
                    <a:schemeClr val="bg1"/>
                  </a:solidFill>
                  <a:latin typeface="Abadi" panose="020B0604020104020204" pitchFamily="34" charset="0"/>
                </a:rPr>
                <a:t>1</a:t>
              </a:r>
            </a:p>
          </p:txBody>
        </p:sp>
      </p:grpSp>
      <p:grpSp>
        <p:nvGrpSpPr>
          <p:cNvPr id="20" name="Group 19">
            <a:extLst>
              <a:ext uri="{FF2B5EF4-FFF2-40B4-BE49-F238E27FC236}">
                <a16:creationId xmlns:a16="http://schemas.microsoft.com/office/drawing/2014/main" id="{41C48B82-483B-1CE4-51CC-5851E2D2684E}"/>
              </a:ext>
            </a:extLst>
          </p:cNvPr>
          <p:cNvGrpSpPr/>
          <p:nvPr/>
        </p:nvGrpSpPr>
        <p:grpSpPr>
          <a:xfrm>
            <a:off x="5256446" y="3385593"/>
            <a:ext cx="2129605" cy="1969651"/>
            <a:chOff x="9866756" y="3428999"/>
            <a:chExt cx="2129605" cy="1969651"/>
          </a:xfrm>
        </p:grpSpPr>
        <p:sp>
          <p:nvSpPr>
            <p:cNvPr id="13" name="Rectangle: Rounded Corners 12">
              <a:extLst>
                <a:ext uri="{FF2B5EF4-FFF2-40B4-BE49-F238E27FC236}">
                  <a16:creationId xmlns:a16="http://schemas.microsoft.com/office/drawing/2014/main" id="{D518C63A-217E-8951-9081-EB9E9CFC416D}"/>
                </a:ext>
              </a:extLst>
            </p:cNvPr>
            <p:cNvSpPr/>
            <p:nvPr/>
          </p:nvSpPr>
          <p:spPr>
            <a:xfrm>
              <a:off x="9866756" y="3428999"/>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16" name="TextBox 15">
              <a:extLst>
                <a:ext uri="{FF2B5EF4-FFF2-40B4-BE49-F238E27FC236}">
                  <a16:creationId xmlns:a16="http://schemas.microsoft.com/office/drawing/2014/main" id="{D69AD031-F898-8D01-397B-6A9C2CA9BC39}"/>
                </a:ext>
              </a:extLst>
            </p:cNvPr>
            <p:cNvSpPr txBox="1"/>
            <p:nvPr/>
          </p:nvSpPr>
          <p:spPr>
            <a:xfrm>
              <a:off x="10429908" y="3591999"/>
              <a:ext cx="1003300" cy="769441"/>
            </a:xfrm>
            <a:prstGeom prst="rect">
              <a:avLst/>
            </a:prstGeom>
            <a:noFill/>
          </p:spPr>
          <p:txBody>
            <a:bodyPr wrap="square" rtlCol="0">
              <a:spAutoFit/>
            </a:bodyPr>
            <a:lstStyle/>
            <a:p>
              <a:pPr algn="ctr"/>
              <a:r>
                <a:rPr lang="en-US" sz="4400" dirty="0">
                  <a:solidFill>
                    <a:schemeClr val="bg1"/>
                  </a:solidFill>
                </a:rPr>
                <a:t>3</a:t>
              </a:r>
            </a:p>
          </p:txBody>
        </p:sp>
      </p:grpSp>
      <p:grpSp>
        <p:nvGrpSpPr>
          <p:cNvPr id="10" name="Group 9">
            <a:extLst>
              <a:ext uri="{FF2B5EF4-FFF2-40B4-BE49-F238E27FC236}">
                <a16:creationId xmlns:a16="http://schemas.microsoft.com/office/drawing/2014/main" id="{9904F657-0F19-1AF4-DAFA-5753A2DD84B6}"/>
              </a:ext>
            </a:extLst>
          </p:cNvPr>
          <p:cNvGrpSpPr/>
          <p:nvPr/>
        </p:nvGrpSpPr>
        <p:grpSpPr>
          <a:xfrm>
            <a:off x="7949203" y="1956390"/>
            <a:ext cx="3821209" cy="3345205"/>
            <a:chOff x="204970" y="1022672"/>
            <a:chExt cx="3786825" cy="4398264"/>
          </a:xfrm>
          <a:solidFill>
            <a:srgbClr val="0070C0"/>
          </a:solidFill>
        </p:grpSpPr>
        <p:sp>
          <p:nvSpPr>
            <p:cNvPr id="11" name="Rectangle: Rounded Corners 10">
              <a:extLst>
                <a:ext uri="{FF2B5EF4-FFF2-40B4-BE49-F238E27FC236}">
                  <a16:creationId xmlns:a16="http://schemas.microsoft.com/office/drawing/2014/main" id="{3562AE5D-DB25-F3A2-BEE1-A1A1D1030FC9}"/>
                </a:ext>
              </a:extLst>
            </p:cNvPr>
            <p:cNvSpPr/>
            <p:nvPr/>
          </p:nvSpPr>
          <p:spPr>
            <a:xfrm>
              <a:off x="204970" y="1022672"/>
              <a:ext cx="3786825" cy="4398264"/>
            </a:xfrm>
            <a:prstGeom prst="roundRect">
              <a:avLst/>
            </a:prstGeom>
            <a:grp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14" name="TextBox 13">
              <a:extLst>
                <a:ext uri="{FF2B5EF4-FFF2-40B4-BE49-F238E27FC236}">
                  <a16:creationId xmlns:a16="http://schemas.microsoft.com/office/drawing/2014/main" id="{B6363005-B883-625B-55A5-ED7262621DA5}"/>
                </a:ext>
              </a:extLst>
            </p:cNvPr>
            <p:cNvSpPr txBox="1"/>
            <p:nvPr/>
          </p:nvSpPr>
          <p:spPr>
            <a:xfrm>
              <a:off x="611260" y="2007498"/>
              <a:ext cx="2615610" cy="769441"/>
            </a:xfrm>
            <a:prstGeom prst="rect">
              <a:avLst/>
            </a:prstGeom>
            <a:grpFill/>
          </p:spPr>
          <p:txBody>
            <a:bodyPr wrap="square" rtlCol="0">
              <a:spAutoFit/>
            </a:bodyPr>
            <a:lstStyle/>
            <a:p>
              <a:pPr algn="ctr"/>
              <a:r>
                <a:rPr lang="en-US" sz="4400" dirty="0">
                  <a:ln>
                    <a:solidFill>
                      <a:sysClr val="windowText" lastClr="000000"/>
                    </a:solidFill>
                  </a:ln>
                  <a:solidFill>
                    <a:srgbClr val="103350"/>
                  </a:solidFill>
                  <a:latin typeface="Abadi" panose="020B0604020104020204" pitchFamily="34" charset="0"/>
                </a:rPr>
                <a:t>4</a:t>
              </a:r>
              <a:endParaRPr lang="en-US" dirty="0">
                <a:ln>
                  <a:solidFill>
                    <a:sysClr val="windowText" lastClr="000000"/>
                  </a:solidFill>
                </a:ln>
                <a:solidFill>
                  <a:srgbClr val="103350"/>
                </a:solidFill>
                <a:latin typeface="Abadi" panose="020B0604020104020204" pitchFamily="34" charset="0"/>
              </a:endParaRPr>
            </a:p>
          </p:txBody>
        </p:sp>
        <p:sp>
          <p:nvSpPr>
            <p:cNvPr id="17" name="TextBox 16">
              <a:extLst>
                <a:ext uri="{FF2B5EF4-FFF2-40B4-BE49-F238E27FC236}">
                  <a16:creationId xmlns:a16="http://schemas.microsoft.com/office/drawing/2014/main" id="{D06F185B-D2DC-CF81-222C-58145565E17E}"/>
                </a:ext>
              </a:extLst>
            </p:cNvPr>
            <p:cNvSpPr txBox="1"/>
            <p:nvPr/>
          </p:nvSpPr>
          <p:spPr>
            <a:xfrm>
              <a:off x="320193" y="3514044"/>
              <a:ext cx="3638564" cy="1578188"/>
            </a:xfrm>
            <a:prstGeom prst="rect">
              <a:avLst/>
            </a:prstGeom>
            <a:grpFill/>
          </p:spPr>
          <p:txBody>
            <a:bodyPr wrap="square" rtlCol="0">
              <a:spAutoFit/>
            </a:bodyPr>
            <a:lstStyle/>
            <a:p>
              <a:pPr lvl="0" algn="just">
                <a:defRPr/>
              </a:pPr>
              <a:r>
                <a:rPr lang="en-US" b="1" dirty="0">
                  <a:solidFill>
                    <a:srgbClr val="FF0000"/>
                  </a:solidFill>
                  <a:effectLst>
                    <a:outerShdw blurRad="38100" dist="38100" dir="2700000" algn="tl">
                      <a:srgbClr val="000000">
                        <a:alpha val="43137"/>
                      </a:srgbClr>
                    </a:outerShdw>
                  </a:effectLst>
                  <a:latin typeface="Aptos" panose="02110004020202020204"/>
                </a:rPr>
                <a:t>Highest demand  Locations</a:t>
              </a:r>
            </a:p>
            <a:p>
              <a:pPr lvl="0" algn="just">
                <a:defRPr/>
              </a:pPr>
              <a:r>
                <a:rPr lang="en-US" b="1" dirty="0">
                  <a:effectLst>
                    <a:outerShdw blurRad="38100" dist="38100" dir="2700000" algn="tl">
                      <a:srgbClr val="000000">
                        <a:alpha val="43137"/>
                      </a:srgbClr>
                    </a:outerShdw>
                  </a:effectLst>
                  <a:latin typeface="Aptos" panose="02110004020202020204"/>
                </a:rPr>
                <a:t>Kolkata highest demand for skincare and haircare, while Delhi for cosmetic.</a:t>
              </a:r>
            </a:p>
          </p:txBody>
        </p:sp>
      </p:grpSp>
      <p:grpSp>
        <p:nvGrpSpPr>
          <p:cNvPr id="7" name="Group 6">
            <a:extLst>
              <a:ext uri="{FF2B5EF4-FFF2-40B4-BE49-F238E27FC236}">
                <a16:creationId xmlns:a16="http://schemas.microsoft.com/office/drawing/2014/main" id="{3144CE92-96B3-9FA5-AC5C-80CCBCA25457}"/>
              </a:ext>
            </a:extLst>
          </p:cNvPr>
          <p:cNvGrpSpPr/>
          <p:nvPr/>
        </p:nvGrpSpPr>
        <p:grpSpPr>
          <a:xfrm>
            <a:off x="2529323" y="3385594"/>
            <a:ext cx="2594344" cy="1969651"/>
            <a:chOff x="4270151" y="3451285"/>
            <a:chExt cx="2594344" cy="1969651"/>
          </a:xfrm>
        </p:grpSpPr>
        <p:sp>
          <p:nvSpPr>
            <p:cNvPr id="18" name="Rectangle: Rounded Corners 17">
              <a:extLst>
                <a:ext uri="{FF2B5EF4-FFF2-40B4-BE49-F238E27FC236}">
                  <a16:creationId xmlns:a16="http://schemas.microsoft.com/office/drawing/2014/main" id="{96F3112D-7B4B-7ABF-09CD-78218ABA3E2D}"/>
                </a:ext>
              </a:extLst>
            </p:cNvPr>
            <p:cNvSpPr/>
            <p:nvPr/>
          </p:nvSpPr>
          <p:spPr>
            <a:xfrm>
              <a:off x="4502521" y="3451285"/>
              <a:ext cx="2129605" cy="1969651"/>
            </a:xfrm>
            <a:prstGeom prst="round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rgbClr val="103350"/>
                </a:solidFill>
              </a:endParaRPr>
            </a:p>
          </p:txBody>
        </p:sp>
        <p:sp>
          <p:nvSpPr>
            <p:cNvPr id="19" name="TextBox 18">
              <a:extLst>
                <a:ext uri="{FF2B5EF4-FFF2-40B4-BE49-F238E27FC236}">
                  <a16:creationId xmlns:a16="http://schemas.microsoft.com/office/drawing/2014/main" id="{BAC6DEEA-B9FE-1C2E-F56B-6D2294EC549D}"/>
                </a:ext>
              </a:extLst>
            </p:cNvPr>
            <p:cNvSpPr txBox="1"/>
            <p:nvPr/>
          </p:nvSpPr>
          <p:spPr>
            <a:xfrm>
              <a:off x="4270151" y="3759761"/>
              <a:ext cx="2594344" cy="769441"/>
            </a:xfrm>
            <a:prstGeom prst="rect">
              <a:avLst/>
            </a:prstGeom>
            <a:noFill/>
          </p:spPr>
          <p:txBody>
            <a:bodyPr wrap="square" rtlCol="0">
              <a:spAutoFit/>
            </a:bodyPr>
            <a:lstStyle/>
            <a:p>
              <a:pPr algn="ctr"/>
              <a:r>
                <a:rPr lang="en-US" sz="4400" dirty="0">
                  <a:ln>
                    <a:solidFill>
                      <a:sysClr val="windowText" lastClr="000000"/>
                    </a:solidFill>
                  </a:ln>
                  <a:solidFill>
                    <a:schemeClr val="bg1"/>
                  </a:solidFill>
                  <a:latin typeface="Abadi" panose="020B0604020104020204" pitchFamily="34" charset="0"/>
                </a:rPr>
                <a:t>2</a:t>
              </a:r>
            </a:p>
          </p:txBody>
        </p:sp>
      </p:grpSp>
      <p:sp>
        <p:nvSpPr>
          <p:cNvPr id="21" name="TextBox 20">
            <a:extLst>
              <a:ext uri="{FF2B5EF4-FFF2-40B4-BE49-F238E27FC236}">
                <a16:creationId xmlns:a16="http://schemas.microsoft.com/office/drawing/2014/main" id="{3E1F16B0-11FE-2A05-D40D-43FC2DDBD38E}"/>
              </a:ext>
            </a:extLst>
          </p:cNvPr>
          <p:cNvSpPr txBox="1"/>
          <p:nvPr/>
        </p:nvSpPr>
        <p:spPr>
          <a:xfrm>
            <a:off x="1217682" y="1357066"/>
            <a:ext cx="5397500" cy="1446550"/>
          </a:xfrm>
          <a:prstGeom prst="rect">
            <a:avLst/>
          </a:prstGeom>
          <a:noFill/>
        </p:spPr>
        <p:txBody>
          <a:bodyPr wrap="square" rtlCol="0">
            <a:spAutoFit/>
          </a:bodyPr>
          <a:lstStyle/>
          <a:p>
            <a:pPr algn="ctr"/>
            <a:r>
              <a:rPr lang="en-US" sz="4400" b="1" dirty="0">
                <a:ln w="22225">
                  <a:solidFill>
                    <a:schemeClr val="accent2"/>
                  </a:solidFill>
                  <a:prstDash val="solid"/>
                </a:ln>
                <a:solidFill>
                  <a:schemeClr val="accent2">
                    <a:lumMod val="40000"/>
                    <a:lumOff val="60000"/>
                  </a:schemeClr>
                </a:solidFill>
                <a:latin typeface="Andalus" panose="02020603050405020304" pitchFamily="18" charset="-78"/>
                <a:cs typeface="Andalus" panose="02020603050405020304" pitchFamily="18" charset="-78"/>
              </a:rPr>
              <a:t>Conclusions</a:t>
            </a:r>
            <a:endParaRPr lang="en-US" sz="3200" b="1" spc="50" dirty="0">
              <a:ln w="0"/>
              <a:solidFill>
                <a:srgbClr val="E8E8E8"/>
              </a:solidFill>
              <a:effectLst>
                <a:innerShdw blurRad="63500" dist="50800" dir="13500000">
                  <a:srgbClr val="000000">
                    <a:alpha val="50000"/>
                  </a:srgbClr>
                </a:innerShdw>
              </a:effectLst>
              <a:latin typeface="Andalus" panose="02020603050405020304" pitchFamily="18" charset="-78"/>
              <a:cs typeface="Andalus" panose="02020603050405020304" pitchFamily="18" charset="-78"/>
            </a:endParaRPr>
          </a:p>
          <a:p>
            <a:pPr algn="ctr"/>
            <a:endParaRPr lang="en-US" sz="4400" dirty="0"/>
          </a:p>
        </p:txBody>
      </p:sp>
      <p:sp>
        <p:nvSpPr>
          <p:cNvPr id="24" name="Oval 23">
            <a:extLst>
              <a:ext uri="{FF2B5EF4-FFF2-40B4-BE49-F238E27FC236}">
                <a16:creationId xmlns:a16="http://schemas.microsoft.com/office/drawing/2014/main" id="{8E0EFA4F-7529-476A-3364-6F3B7201B6CE}"/>
              </a:ext>
            </a:extLst>
          </p:cNvPr>
          <p:cNvSpPr/>
          <p:nvPr/>
        </p:nvSpPr>
        <p:spPr>
          <a:xfrm>
            <a:off x="9842615" y="5651204"/>
            <a:ext cx="1031358" cy="1015410"/>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C694C1B3-4C0A-FF70-13F4-5BDB735CA427}"/>
              </a:ext>
            </a:extLst>
          </p:cNvPr>
          <p:cNvSpPr>
            <a:spLocks noGrp="1"/>
          </p:cNvSpPr>
          <p:nvPr>
            <p:ph type="sldNum" sz="quarter" idx="12"/>
          </p:nvPr>
        </p:nvSpPr>
        <p:spPr/>
        <p:txBody>
          <a:bodyPr/>
          <a:lstStyle/>
          <a:p>
            <a:fld id="{C263D6C4-4840-40CC-AC84-17E24B3B7BDE}" type="slidenum">
              <a:rPr lang="en-US" noProof="0" smtClean="0"/>
              <a:pPr/>
              <a:t>27</a:t>
            </a:fld>
            <a:endParaRPr lang="en-US" noProof="0" dirty="0"/>
          </a:p>
        </p:txBody>
      </p:sp>
    </p:spTree>
    <p:extLst>
      <p:ext uri="{BB962C8B-B14F-4D97-AF65-F5344CB8AC3E}">
        <p14:creationId xmlns:p14="http://schemas.microsoft.com/office/powerpoint/2010/main" val="26284146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65C00CFC-93A3-EA44-6FC4-82644DBA0753}"/>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47548234-D001-D4D6-7758-8B9333E68374}"/>
              </a:ext>
            </a:extLst>
          </p:cNvPr>
          <p:cNvGrpSpPr/>
          <p:nvPr/>
        </p:nvGrpSpPr>
        <p:grpSpPr>
          <a:xfrm>
            <a:off x="258875" y="2230477"/>
            <a:ext cx="2158409" cy="2254102"/>
            <a:chOff x="838789" y="541671"/>
            <a:chExt cx="2158409" cy="2254102"/>
          </a:xfrm>
        </p:grpSpPr>
        <p:sp>
          <p:nvSpPr>
            <p:cNvPr id="8" name="Rectangle: Rounded Corners 7">
              <a:extLst>
                <a:ext uri="{FF2B5EF4-FFF2-40B4-BE49-F238E27FC236}">
                  <a16:creationId xmlns:a16="http://schemas.microsoft.com/office/drawing/2014/main" id="{B9B5CE19-006D-4789-CEE8-11EF429774A1}"/>
                </a:ext>
              </a:extLst>
            </p:cNvPr>
            <p:cNvSpPr/>
            <p:nvPr/>
          </p:nvSpPr>
          <p:spPr>
            <a:xfrm>
              <a:off x="838789" y="541671"/>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1" name="Graphic 30" descr="Alarm clock with solid fill">
              <a:extLst>
                <a:ext uri="{FF2B5EF4-FFF2-40B4-BE49-F238E27FC236}">
                  <a16:creationId xmlns:a16="http://schemas.microsoft.com/office/drawing/2014/main" id="{67EA76FB-F659-DA51-9C3F-763246DB93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3973" y="826091"/>
              <a:ext cx="1828800" cy="1828800"/>
            </a:xfrm>
            <a:prstGeom prst="rect">
              <a:avLst/>
            </a:prstGeom>
          </p:spPr>
        </p:pic>
      </p:grpSp>
      <p:grpSp>
        <p:nvGrpSpPr>
          <p:cNvPr id="41" name="Group 40">
            <a:extLst>
              <a:ext uri="{FF2B5EF4-FFF2-40B4-BE49-F238E27FC236}">
                <a16:creationId xmlns:a16="http://schemas.microsoft.com/office/drawing/2014/main" id="{4A18C7D7-8FE5-6103-661A-62F7695B0F74}"/>
              </a:ext>
            </a:extLst>
          </p:cNvPr>
          <p:cNvGrpSpPr/>
          <p:nvPr/>
        </p:nvGrpSpPr>
        <p:grpSpPr>
          <a:xfrm>
            <a:off x="2641010" y="2191786"/>
            <a:ext cx="2158409" cy="2254102"/>
            <a:chOff x="7276213" y="4255091"/>
            <a:chExt cx="2158409" cy="2254102"/>
          </a:xfrm>
        </p:grpSpPr>
        <p:sp>
          <p:nvSpPr>
            <p:cNvPr id="13" name="Rectangle: Rounded Corners 12">
              <a:extLst>
                <a:ext uri="{FF2B5EF4-FFF2-40B4-BE49-F238E27FC236}">
                  <a16:creationId xmlns:a16="http://schemas.microsoft.com/office/drawing/2014/main" id="{B5194A12-5801-82E1-51D0-4890BF2F5F15}"/>
                </a:ext>
              </a:extLst>
            </p:cNvPr>
            <p:cNvSpPr/>
            <p:nvPr/>
          </p:nvSpPr>
          <p:spPr>
            <a:xfrm>
              <a:off x="7276213" y="4255091"/>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3" name="Graphic 32" descr="Bar chart with solid fill">
              <a:extLst>
                <a:ext uri="{FF2B5EF4-FFF2-40B4-BE49-F238E27FC236}">
                  <a16:creationId xmlns:a16="http://schemas.microsoft.com/office/drawing/2014/main" id="{CDBD7B29-3EAF-C30C-FF76-23852EAA6C7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78994" y="4506433"/>
              <a:ext cx="1828800" cy="1828800"/>
            </a:xfrm>
            <a:prstGeom prst="rect">
              <a:avLst/>
            </a:prstGeom>
          </p:spPr>
        </p:pic>
      </p:grpSp>
      <p:grpSp>
        <p:nvGrpSpPr>
          <p:cNvPr id="42" name="Group 41">
            <a:extLst>
              <a:ext uri="{FF2B5EF4-FFF2-40B4-BE49-F238E27FC236}">
                <a16:creationId xmlns:a16="http://schemas.microsoft.com/office/drawing/2014/main" id="{E7CAC254-B463-1476-C4F8-1B33A9DBF7EC}"/>
              </a:ext>
            </a:extLst>
          </p:cNvPr>
          <p:cNvGrpSpPr/>
          <p:nvPr/>
        </p:nvGrpSpPr>
        <p:grpSpPr>
          <a:xfrm>
            <a:off x="4943844" y="2212164"/>
            <a:ext cx="2158409" cy="2254102"/>
            <a:chOff x="3449676" y="489689"/>
            <a:chExt cx="2158409" cy="2254102"/>
          </a:xfrm>
        </p:grpSpPr>
        <p:sp>
          <p:nvSpPr>
            <p:cNvPr id="12" name="Rectangle: Rounded Corners 11">
              <a:extLst>
                <a:ext uri="{FF2B5EF4-FFF2-40B4-BE49-F238E27FC236}">
                  <a16:creationId xmlns:a16="http://schemas.microsoft.com/office/drawing/2014/main" id="{3B2BA3D3-43F7-5838-1A3C-C4E5E470DCEB}"/>
                </a:ext>
              </a:extLst>
            </p:cNvPr>
            <p:cNvSpPr/>
            <p:nvPr/>
          </p:nvSpPr>
          <p:spPr>
            <a:xfrm>
              <a:off x="3449676" y="489689"/>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5" name="Graphic 34" descr="Blockchain with solid fill">
              <a:extLst>
                <a:ext uri="{FF2B5EF4-FFF2-40B4-BE49-F238E27FC236}">
                  <a16:creationId xmlns:a16="http://schemas.microsoft.com/office/drawing/2014/main" id="{A39A7CD2-CA02-367C-2C1C-6C060832EF6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14480" y="629389"/>
              <a:ext cx="1828800" cy="1828800"/>
            </a:xfrm>
            <a:prstGeom prst="rect">
              <a:avLst/>
            </a:prstGeom>
          </p:spPr>
        </p:pic>
      </p:grpSp>
      <p:grpSp>
        <p:nvGrpSpPr>
          <p:cNvPr id="44" name="Group 43">
            <a:extLst>
              <a:ext uri="{FF2B5EF4-FFF2-40B4-BE49-F238E27FC236}">
                <a16:creationId xmlns:a16="http://schemas.microsoft.com/office/drawing/2014/main" id="{F245DBA7-4F39-9922-026C-A6FEAFF1DE92}"/>
              </a:ext>
            </a:extLst>
          </p:cNvPr>
          <p:cNvGrpSpPr/>
          <p:nvPr/>
        </p:nvGrpSpPr>
        <p:grpSpPr>
          <a:xfrm>
            <a:off x="9708115" y="2191786"/>
            <a:ext cx="2158409" cy="2254102"/>
            <a:chOff x="9042990" y="629389"/>
            <a:chExt cx="2158409" cy="2254102"/>
          </a:xfrm>
        </p:grpSpPr>
        <p:sp>
          <p:nvSpPr>
            <p:cNvPr id="15" name="Rectangle: Rounded Corners 14">
              <a:extLst>
                <a:ext uri="{FF2B5EF4-FFF2-40B4-BE49-F238E27FC236}">
                  <a16:creationId xmlns:a16="http://schemas.microsoft.com/office/drawing/2014/main" id="{38864432-0BC5-E61C-21B1-7145679C9996}"/>
                </a:ext>
              </a:extLst>
            </p:cNvPr>
            <p:cNvSpPr/>
            <p:nvPr/>
          </p:nvSpPr>
          <p:spPr>
            <a:xfrm>
              <a:off x="9042990" y="629389"/>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7" name="Graphic 36" descr="Chemicals with solid fill">
              <a:extLst>
                <a:ext uri="{FF2B5EF4-FFF2-40B4-BE49-F238E27FC236}">
                  <a16:creationId xmlns:a16="http://schemas.microsoft.com/office/drawing/2014/main" id="{C8B0B1C6-7A28-401A-2BAB-6199DA862B1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07794" y="826091"/>
              <a:ext cx="1828800" cy="1828800"/>
            </a:xfrm>
            <a:prstGeom prst="rect">
              <a:avLst/>
            </a:prstGeom>
          </p:spPr>
        </p:pic>
      </p:grpSp>
      <p:grpSp>
        <p:nvGrpSpPr>
          <p:cNvPr id="43" name="Group 42">
            <a:extLst>
              <a:ext uri="{FF2B5EF4-FFF2-40B4-BE49-F238E27FC236}">
                <a16:creationId xmlns:a16="http://schemas.microsoft.com/office/drawing/2014/main" id="{68824900-6036-8E9A-FB8E-F308D58A138D}"/>
              </a:ext>
            </a:extLst>
          </p:cNvPr>
          <p:cNvGrpSpPr/>
          <p:nvPr/>
        </p:nvGrpSpPr>
        <p:grpSpPr>
          <a:xfrm>
            <a:off x="7384901" y="2212164"/>
            <a:ext cx="2158409" cy="2254102"/>
            <a:chOff x="6363585" y="629980"/>
            <a:chExt cx="2158409" cy="2254102"/>
          </a:xfrm>
        </p:grpSpPr>
        <p:sp>
          <p:nvSpPr>
            <p:cNvPr id="14" name="Rectangle: Rounded Corners 13">
              <a:extLst>
                <a:ext uri="{FF2B5EF4-FFF2-40B4-BE49-F238E27FC236}">
                  <a16:creationId xmlns:a16="http://schemas.microsoft.com/office/drawing/2014/main" id="{08C6BC53-E7D4-C9C8-42B4-5E4D6E1AA345}"/>
                </a:ext>
              </a:extLst>
            </p:cNvPr>
            <p:cNvSpPr/>
            <p:nvPr/>
          </p:nvSpPr>
          <p:spPr>
            <a:xfrm>
              <a:off x="6363585" y="629980"/>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9" name="Graphic 38" descr="Bullseye with solid fill">
              <a:extLst>
                <a:ext uri="{FF2B5EF4-FFF2-40B4-BE49-F238E27FC236}">
                  <a16:creationId xmlns:a16="http://schemas.microsoft.com/office/drawing/2014/main" id="{AC2ED72B-E60F-AE05-DFCE-7AFFEDAEE3F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26617" y="966973"/>
              <a:ext cx="1828800" cy="1828800"/>
            </a:xfrm>
            <a:prstGeom prst="rect">
              <a:avLst/>
            </a:prstGeom>
          </p:spPr>
        </p:pic>
      </p:grpSp>
      <p:sp>
        <p:nvSpPr>
          <p:cNvPr id="45" name="TextBox 44">
            <a:extLst>
              <a:ext uri="{FF2B5EF4-FFF2-40B4-BE49-F238E27FC236}">
                <a16:creationId xmlns:a16="http://schemas.microsoft.com/office/drawing/2014/main" id="{3A20D5B2-6B39-56B5-27F6-2F57BCABCEF2}"/>
              </a:ext>
            </a:extLst>
          </p:cNvPr>
          <p:cNvSpPr txBox="1"/>
          <p:nvPr/>
        </p:nvSpPr>
        <p:spPr>
          <a:xfrm>
            <a:off x="3987800" y="495300"/>
            <a:ext cx="6096000" cy="1938992"/>
          </a:xfrm>
          <a:prstGeom prst="rect">
            <a:avLst/>
          </a:prstGeom>
          <a:noFill/>
        </p:spPr>
        <p:txBody>
          <a:bodyPr wrap="square" rtlCol="0">
            <a:spAutoFit/>
          </a:bodyPr>
          <a:lstStyle/>
          <a:p>
            <a:pPr algn="ctr"/>
            <a:r>
              <a:rPr lang="en-US" sz="6000" b="1" dirty="0">
                <a:ln w="22225">
                  <a:solidFill>
                    <a:schemeClr val="accent2"/>
                  </a:solidFill>
                  <a:prstDash val="solid"/>
                </a:ln>
                <a:solidFill>
                  <a:schemeClr val="accent2">
                    <a:lumMod val="40000"/>
                    <a:lumOff val="60000"/>
                  </a:schemeClr>
                </a:solidFill>
                <a:latin typeface="Andalus" panose="02020603050405020304" pitchFamily="18" charset="-78"/>
                <a:cs typeface="Andalus" panose="02020603050405020304" pitchFamily="18" charset="-78"/>
              </a:rPr>
              <a:t>Recommendations</a:t>
            </a:r>
            <a:endParaRPr lang="en-US" sz="4400" b="1" dirty="0">
              <a:ln w="22225">
                <a:solidFill>
                  <a:schemeClr val="accent2"/>
                </a:solidFill>
                <a:prstDash val="solid"/>
              </a:ln>
              <a:solidFill>
                <a:schemeClr val="accent2">
                  <a:lumMod val="40000"/>
                  <a:lumOff val="60000"/>
                </a:schemeClr>
              </a:solidFill>
              <a:latin typeface="Andalus" panose="02020603050405020304" pitchFamily="18" charset="-78"/>
              <a:cs typeface="Andalus" panose="02020603050405020304" pitchFamily="18" charset="-78"/>
            </a:endParaRPr>
          </a:p>
          <a:p>
            <a:pPr algn="ctr"/>
            <a:endParaRPr lang="en-US" sz="60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734090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1000"/>
                                        <p:tgtEl>
                                          <p:spTgt spid="45"/>
                                        </p:tgtEl>
                                      </p:cBhvr>
                                    </p:animEffect>
                                    <p:anim calcmode="lin" valueType="num">
                                      <p:cBhvr>
                                        <p:cTn id="8" dur="1000" fill="hold"/>
                                        <p:tgtEl>
                                          <p:spTgt spid="45"/>
                                        </p:tgtEl>
                                        <p:attrNameLst>
                                          <p:attrName>ppt_x</p:attrName>
                                        </p:attrNameLst>
                                      </p:cBhvr>
                                      <p:tavLst>
                                        <p:tav tm="0">
                                          <p:val>
                                            <p:strVal val="#ppt_x"/>
                                          </p:val>
                                        </p:tav>
                                        <p:tav tm="100000">
                                          <p:val>
                                            <p:strVal val="#ppt_x"/>
                                          </p:val>
                                        </p:tav>
                                      </p:tavLst>
                                    </p:anim>
                                    <p:anim calcmode="lin" valueType="num">
                                      <p:cBhvr>
                                        <p:cTn id="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A67B0-A049-5AA1-8489-C7B158EB9275}"/>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F718994D-2BDA-4898-7358-6F9574281A69}"/>
              </a:ext>
            </a:extLst>
          </p:cNvPr>
          <p:cNvGrpSpPr/>
          <p:nvPr/>
        </p:nvGrpSpPr>
        <p:grpSpPr>
          <a:xfrm>
            <a:off x="814350" y="720231"/>
            <a:ext cx="5281650" cy="5417538"/>
            <a:chOff x="795041" y="244080"/>
            <a:chExt cx="2202157" cy="2705757"/>
          </a:xfrm>
        </p:grpSpPr>
        <p:sp>
          <p:nvSpPr>
            <p:cNvPr id="8" name="Rectangle: Rounded Corners 7">
              <a:extLst>
                <a:ext uri="{FF2B5EF4-FFF2-40B4-BE49-F238E27FC236}">
                  <a16:creationId xmlns:a16="http://schemas.microsoft.com/office/drawing/2014/main" id="{A03C264B-8858-E645-0804-0790EDD4E121}"/>
                </a:ext>
              </a:extLst>
            </p:cNvPr>
            <p:cNvSpPr/>
            <p:nvPr/>
          </p:nvSpPr>
          <p:spPr>
            <a:xfrm>
              <a:off x="795041" y="269452"/>
              <a:ext cx="2202157" cy="2680385"/>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1" name="Graphic 30" descr="Alarm clock with solid fill">
              <a:extLst>
                <a:ext uri="{FF2B5EF4-FFF2-40B4-BE49-F238E27FC236}">
                  <a16:creationId xmlns:a16="http://schemas.microsoft.com/office/drawing/2014/main" id="{69BD089A-10DF-891C-6DF0-04B0AD86B8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2448" y="244080"/>
              <a:ext cx="1140824" cy="1140824"/>
            </a:xfrm>
            <a:prstGeom prst="rect">
              <a:avLst/>
            </a:prstGeom>
          </p:spPr>
        </p:pic>
      </p:grpSp>
      <p:grpSp>
        <p:nvGrpSpPr>
          <p:cNvPr id="41" name="Group 40">
            <a:extLst>
              <a:ext uri="{FF2B5EF4-FFF2-40B4-BE49-F238E27FC236}">
                <a16:creationId xmlns:a16="http://schemas.microsoft.com/office/drawing/2014/main" id="{233A40E8-FAC1-A7D5-4E49-7C71B50293FD}"/>
              </a:ext>
            </a:extLst>
          </p:cNvPr>
          <p:cNvGrpSpPr/>
          <p:nvPr/>
        </p:nvGrpSpPr>
        <p:grpSpPr>
          <a:xfrm>
            <a:off x="7695610" y="2089595"/>
            <a:ext cx="2158409" cy="2254102"/>
            <a:chOff x="7276213" y="4255091"/>
            <a:chExt cx="2158409" cy="2254102"/>
          </a:xfrm>
        </p:grpSpPr>
        <p:sp>
          <p:nvSpPr>
            <p:cNvPr id="13" name="Rectangle: Rounded Corners 12">
              <a:extLst>
                <a:ext uri="{FF2B5EF4-FFF2-40B4-BE49-F238E27FC236}">
                  <a16:creationId xmlns:a16="http://schemas.microsoft.com/office/drawing/2014/main" id="{55946A7F-DC84-F4A9-E1C4-91CAC60C01B4}"/>
                </a:ext>
              </a:extLst>
            </p:cNvPr>
            <p:cNvSpPr/>
            <p:nvPr/>
          </p:nvSpPr>
          <p:spPr>
            <a:xfrm>
              <a:off x="7276213" y="4255091"/>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3" name="Graphic 32" descr="Bar chart with solid fill">
              <a:extLst>
                <a:ext uri="{FF2B5EF4-FFF2-40B4-BE49-F238E27FC236}">
                  <a16:creationId xmlns:a16="http://schemas.microsoft.com/office/drawing/2014/main" id="{FE2B0017-D81C-EA8F-CB6E-9C492C73454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78994" y="4506433"/>
              <a:ext cx="1828800" cy="1828800"/>
            </a:xfrm>
            <a:prstGeom prst="rect">
              <a:avLst/>
            </a:prstGeom>
          </p:spPr>
        </p:pic>
      </p:grpSp>
      <p:grpSp>
        <p:nvGrpSpPr>
          <p:cNvPr id="42" name="Group 41">
            <a:extLst>
              <a:ext uri="{FF2B5EF4-FFF2-40B4-BE49-F238E27FC236}">
                <a16:creationId xmlns:a16="http://schemas.microsoft.com/office/drawing/2014/main" id="{A13813DD-97AE-A724-A799-4BB1FCEB7EE8}"/>
              </a:ext>
            </a:extLst>
          </p:cNvPr>
          <p:cNvGrpSpPr/>
          <p:nvPr/>
        </p:nvGrpSpPr>
        <p:grpSpPr>
          <a:xfrm>
            <a:off x="9998444" y="2109973"/>
            <a:ext cx="2158409" cy="2254102"/>
            <a:chOff x="3449676" y="489689"/>
            <a:chExt cx="2158409" cy="2254102"/>
          </a:xfrm>
        </p:grpSpPr>
        <p:sp>
          <p:nvSpPr>
            <p:cNvPr id="12" name="Rectangle: Rounded Corners 11">
              <a:extLst>
                <a:ext uri="{FF2B5EF4-FFF2-40B4-BE49-F238E27FC236}">
                  <a16:creationId xmlns:a16="http://schemas.microsoft.com/office/drawing/2014/main" id="{6D154FC6-6099-F703-7C8E-3B51D4AA4EAB}"/>
                </a:ext>
              </a:extLst>
            </p:cNvPr>
            <p:cNvSpPr/>
            <p:nvPr/>
          </p:nvSpPr>
          <p:spPr>
            <a:xfrm>
              <a:off x="3449676" y="489689"/>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5" name="Graphic 34" descr="Blockchain with solid fill">
              <a:extLst>
                <a:ext uri="{FF2B5EF4-FFF2-40B4-BE49-F238E27FC236}">
                  <a16:creationId xmlns:a16="http://schemas.microsoft.com/office/drawing/2014/main" id="{7B36E638-F03B-6C2B-44AB-A9B6062894C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14480" y="629389"/>
              <a:ext cx="1828800" cy="1828800"/>
            </a:xfrm>
            <a:prstGeom prst="rect">
              <a:avLst/>
            </a:prstGeom>
          </p:spPr>
        </p:pic>
      </p:grpSp>
      <p:grpSp>
        <p:nvGrpSpPr>
          <p:cNvPr id="44" name="Group 43">
            <a:extLst>
              <a:ext uri="{FF2B5EF4-FFF2-40B4-BE49-F238E27FC236}">
                <a16:creationId xmlns:a16="http://schemas.microsoft.com/office/drawing/2014/main" id="{C5DDBC83-8EB7-2BB4-8BBE-97CEBCA9B24B}"/>
              </a:ext>
            </a:extLst>
          </p:cNvPr>
          <p:cNvGrpSpPr/>
          <p:nvPr/>
        </p:nvGrpSpPr>
        <p:grpSpPr>
          <a:xfrm>
            <a:off x="14762715" y="2089595"/>
            <a:ext cx="2158409" cy="2254102"/>
            <a:chOff x="9042990" y="629389"/>
            <a:chExt cx="2158409" cy="2254102"/>
          </a:xfrm>
        </p:grpSpPr>
        <p:sp>
          <p:nvSpPr>
            <p:cNvPr id="15" name="Rectangle: Rounded Corners 14">
              <a:extLst>
                <a:ext uri="{FF2B5EF4-FFF2-40B4-BE49-F238E27FC236}">
                  <a16:creationId xmlns:a16="http://schemas.microsoft.com/office/drawing/2014/main" id="{C6E50062-E37B-F3F4-4D96-E94A46EC2FE4}"/>
                </a:ext>
              </a:extLst>
            </p:cNvPr>
            <p:cNvSpPr/>
            <p:nvPr/>
          </p:nvSpPr>
          <p:spPr>
            <a:xfrm>
              <a:off x="9042990" y="629389"/>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7" name="Graphic 36" descr="Chemicals with solid fill">
              <a:extLst>
                <a:ext uri="{FF2B5EF4-FFF2-40B4-BE49-F238E27FC236}">
                  <a16:creationId xmlns:a16="http://schemas.microsoft.com/office/drawing/2014/main" id="{489CABA8-5E9C-1DB2-9E2B-410ACCB8A55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07794" y="826091"/>
              <a:ext cx="1828800" cy="1828800"/>
            </a:xfrm>
            <a:prstGeom prst="rect">
              <a:avLst/>
            </a:prstGeom>
          </p:spPr>
        </p:pic>
      </p:grpSp>
      <p:grpSp>
        <p:nvGrpSpPr>
          <p:cNvPr id="43" name="Group 42">
            <a:extLst>
              <a:ext uri="{FF2B5EF4-FFF2-40B4-BE49-F238E27FC236}">
                <a16:creationId xmlns:a16="http://schemas.microsoft.com/office/drawing/2014/main" id="{F34A5030-7CAF-43E8-3A3D-2F569126B3BF}"/>
              </a:ext>
            </a:extLst>
          </p:cNvPr>
          <p:cNvGrpSpPr/>
          <p:nvPr/>
        </p:nvGrpSpPr>
        <p:grpSpPr>
          <a:xfrm>
            <a:off x="12439501" y="2109973"/>
            <a:ext cx="2158409" cy="2254102"/>
            <a:chOff x="6363585" y="629980"/>
            <a:chExt cx="2158409" cy="2254102"/>
          </a:xfrm>
        </p:grpSpPr>
        <p:sp>
          <p:nvSpPr>
            <p:cNvPr id="14" name="Rectangle: Rounded Corners 13">
              <a:extLst>
                <a:ext uri="{FF2B5EF4-FFF2-40B4-BE49-F238E27FC236}">
                  <a16:creationId xmlns:a16="http://schemas.microsoft.com/office/drawing/2014/main" id="{E5B1F09E-0568-CBAF-E937-A2C469B41287}"/>
                </a:ext>
              </a:extLst>
            </p:cNvPr>
            <p:cNvSpPr/>
            <p:nvPr/>
          </p:nvSpPr>
          <p:spPr>
            <a:xfrm>
              <a:off x="6363585" y="629980"/>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9" name="Graphic 38" descr="Bullseye with solid fill">
              <a:extLst>
                <a:ext uri="{FF2B5EF4-FFF2-40B4-BE49-F238E27FC236}">
                  <a16:creationId xmlns:a16="http://schemas.microsoft.com/office/drawing/2014/main" id="{0E2CA338-A07B-EDA7-DAF3-25E98F3C48C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26617" y="966973"/>
              <a:ext cx="1828800" cy="1828800"/>
            </a:xfrm>
            <a:prstGeom prst="rect">
              <a:avLst/>
            </a:prstGeom>
          </p:spPr>
        </p:pic>
      </p:grpSp>
      <p:sp>
        <p:nvSpPr>
          <p:cNvPr id="2" name="TextBox 1">
            <a:extLst>
              <a:ext uri="{FF2B5EF4-FFF2-40B4-BE49-F238E27FC236}">
                <a16:creationId xmlns:a16="http://schemas.microsoft.com/office/drawing/2014/main" id="{DCCC49A2-927A-84A5-0D38-4C615317B716}"/>
              </a:ext>
            </a:extLst>
          </p:cNvPr>
          <p:cNvSpPr txBox="1"/>
          <p:nvPr/>
        </p:nvSpPr>
        <p:spPr>
          <a:xfrm>
            <a:off x="1638300" y="2794000"/>
            <a:ext cx="4140200" cy="3508653"/>
          </a:xfrm>
          <a:prstGeom prst="rect">
            <a:avLst/>
          </a:prstGeom>
          <a:noFill/>
        </p:spPr>
        <p:txBody>
          <a:bodyPr wrap="square" rtlCol="0">
            <a:spAutoFit/>
          </a:bodyPr>
          <a:lstStyle/>
          <a:p>
            <a:r>
              <a:rPr lang="en-US" sz="4400" b="1" dirty="0">
                <a:effectLst>
                  <a:outerShdw blurRad="38100" dist="38100" dir="2700000" algn="tl">
                    <a:srgbClr val="000000">
                      <a:alpha val="43137"/>
                    </a:srgbClr>
                  </a:outerShdw>
                </a:effectLst>
                <a:latin typeface="Aptos" panose="02110004020202020204"/>
              </a:rPr>
              <a:t>1-</a:t>
            </a:r>
            <a:r>
              <a:rPr lang="en-US" sz="2000" b="1" dirty="0">
                <a:solidFill>
                  <a:srgbClr val="002060"/>
                </a:solidFill>
                <a:effectLst>
                  <a:outerShdw blurRad="38100" dist="38100" dir="2700000" algn="tl">
                    <a:srgbClr val="000000">
                      <a:alpha val="43137"/>
                    </a:srgbClr>
                  </a:outerShdw>
                </a:effectLst>
                <a:latin typeface="Aptos" panose="02110004020202020204"/>
              </a:rPr>
              <a:t>  </a:t>
            </a:r>
            <a:r>
              <a:rPr lang="en-US" sz="2000" b="1" dirty="0">
                <a:solidFill>
                  <a:srgbClr val="FF0000"/>
                </a:solidFill>
                <a:effectLst>
                  <a:outerShdw blurRad="38100" dist="38100" dir="2700000" algn="tl">
                    <a:srgbClr val="000000">
                      <a:alpha val="43137"/>
                    </a:srgbClr>
                  </a:outerShdw>
                </a:effectLst>
                <a:latin typeface="Aptos" panose="02110004020202020204"/>
              </a:rPr>
              <a:t>Reduce defect rate:</a:t>
            </a:r>
            <a:r>
              <a:rPr lang="en-US" sz="2000" b="1" dirty="0">
                <a:solidFill>
                  <a:srgbClr val="002060"/>
                </a:solidFill>
                <a:effectLst>
                  <a:outerShdw blurRad="38100" dist="38100" dir="2700000" algn="tl">
                    <a:srgbClr val="000000">
                      <a:alpha val="43137"/>
                    </a:srgbClr>
                  </a:outerShdw>
                </a:effectLst>
                <a:latin typeface="Aptos" panose="02110004020202020204"/>
              </a:rPr>
              <a:t> </a:t>
            </a:r>
          </a:p>
          <a:p>
            <a:r>
              <a:rPr lang="en-US" sz="2000" b="1" dirty="0">
                <a:solidFill>
                  <a:srgbClr val="002060"/>
                </a:solidFill>
                <a:effectLst>
                  <a:outerShdw blurRad="38100" dist="38100" dir="2700000" algn="tl">
                    <a:srgbClr val="000000">
                      <a:alpha val="43137"/>
                    </a:srgbClr>
                  </a:outerShdw>
                </a:effectLst>
                <a:latin typeface="Aptos" panose="02110004020202020204"/>
              </a:rPr>
              <a:t>increase </a:t>
            </a:r>
            <a:r>
              <a:rPr lang="en-US" sz="2000" b="1" dirty="0">
                <a:solidFill>
                  <a:srgbClr val="002060"/>
                </a:solidFill>
                <a:effectLst>
                  <a:outerShdw blurRad="38100" dist="38100" dir="2700000" algn="tl">
                    <a:srgbClr val="000000">
                      <a:alpha val="43137"/>
                    </a:srgbClr>
                  </a:outerShdw>
                </a:effectLst>
              </a:rPr>
              <a:t>quality (row materials </a:t>
            </a:r>
            <a:r>
              <a:rPr lang="en-US" sz="2000" b="1" dirty="0">
                <a:solidFill>
                  <a:srgbClr val="002060"/>
                </a:solidFill>
                <a:effectLst>
                  <a:outerShdw blurRad="38100" dist="38100" dir="2700000" algn="tl">
                    <a:srgbClr val="000000">
                      <a:alpha val="43137"/>
                    </a:srgbClr>
                  </a:outerShdw>
                </a:effectLst>
                <a:latin typeface="Aptos" panose="02110004020202020204"/>
              </a:rPr>
              <a:t>– manufacturing) – environment standards manufacturing, warehousing, shipping (temperature - lighting) – reduce lead times (warehousing  closer to markets) – Tracking system (audit/monitoring)</a:t>
            </a:r>
          </a:p>
          <a:p>
            <a:endParaRPr lang="en-US" sz="2000" dirty="0">
              <a:solidFill>
                <a:srgbClr val="002060"/>
              </a:solidFill>
            </a:endParaRPr>
          </a:p>
        </p:txBody>
      </p:sp>
      <p:sp>
        <p:nvSpPr>
          <p:cNvPr id="3" name="TextBox 2">
            <a:extLst>
              <a:ext uri="{FF2B5EF4-FFF2-40B4-BE49-F238E27FC236}">
                <a16:creationId xmlns:a16="http://schemas.microsoft.com/office/drawing/2014/main" id="{0131FB5A-EA78-B259-097E-77DE42FF45E7}"/>
              </a:ext>
            </a:extLst>
          </p:cNvPr>
          <p:cNvSpPr txBox="1"/>
          <p:nvPr/>
        </p:nvSpPr>
        <p:spPr>
          <a:xfrm>
            <a:off x="5896048" y="507974"/>
            <a:ext cx="6096000" cy="1938992"/>
          </a:xfrm>
          <a:prstGeom prst="rect">
            <a:avLst/>
          </a:prstGeom>
          <a:noFill/>
        </p:spPr>
        <p:txBody>
          <a:bodyPr wrap="square" rtlCol="0">
            <a:spAutoFit/>
          </a:bodyPr>
          <a:lstStyle/>
          <a:p>
            <a:pPr algn="ctr"/>
            <a:r>
              <a:rPr lang="en-US" sz="6000" b="1" dirty="0">
                <a:ln w="22225">
                  <a:solidFill>
                    <a:schemeClr val="accent2"/>
                  </a:solidFill>
                  <a:prstDash val="solid"/>
                </a:ln>
                <a:solidFill>
                  <a:schemeClr val="accent2">
                    <a:lumMod val="40000"/>
                    <a:lumOff val="60000"/>
                  </a:schemeClr>
                </a:solidFill>
                <a:latin typeface="Andalus" panose="02020603050405020304" pitchFamily="18" charset="-78"/>
                <a:cs typeface="Andalus" panose="02020603050405020304" pitchFamily="18" charset="-78"/>
              </a:rPr>
              <a:t>Recommendations</a:t>
            </a:r>
            <a:endParaRPr lang="en-US" sz="4400" b="1" dirty="0">
              <a:ln w="22225">
                <a:solidFill>
                  <a:schemeClr val="accent2"/>
                </a:solidFill>
                <a:prstDash val="solid"/>
              </a:ln>
              <a:solidFill>
                <a:schemeClr val="accent2">
                  <a:lumMod val="40000"/>
                  <a:lumOff val="60000"/>
                </a:schemeClr>
              </a:solidFill>
              <a:latin typeface="Andalus" panose="02020603050405020304" pitchFamily="18" charset="-78"/>
              <a:cs typeface="Andalus" panose="02020603050405020304" pitchFamily="18" charset="-78"/>
            </a:endParaRPr>
          </a:p>
          <a:p>
            <a:pPr algn="ctr"/>
            <a:endParaRPr lang="en-US" sz="60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932679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6AC50-2597-BA61-95F9-60EB2BBF3B4A}"/>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D884676B-613A-9EFD-0F85-5F85DC49E91E}"/>
              </a:ext>
            </a:extLst>
          </p:cNvPr>
          <p:cNvGrpSpPr/>
          <p:nvPr/>
        </p:nvGrpSpPr>
        <p:grpSpPr>
          <a:xfrm>
            <a:off x="258875" y="2230477"/>
            <a:ext cx="2158409" cy="2254102"/>
            <a:chOff x="838789" y="541671"/>
            <a:chExt cx="2158409" cy="2254102"/>
          </a:xfrm>
        </p:grpSpPr>
        <p:sp>
          <p:nvSpPr>
            <p:cNvPr id="8" name="Rectangle: Rounded Corners 7">
              <a:extLst>
                <a:ext uri="{FF2B5EF4-FFF2-40B4-BE49-F238E27FC236}">
                  <a16:creationId xmlns:a16="http://schemas.microsoft.com/office/drawing/2014/main" id="{0A46D003-DB83-D81A-D897-BA3CDC29A135}"/>
                </a:ext>
              </a:extLst>
            </p:cNvPr>
            <p:cNvSpPr/>
            <p:nvPr/>
          </p:nvSpPr>
          <p:spPr>
            <a:xfrm>
              <a:off x="838789" y="541671"/>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1" name="Graphic 30" descr="Alarm clock with solid fill">
              <a:extLst>
                <a:ext uri="{FF2B5EF4-FFF2-40B4-BE49-F238E27FC236}">
                  <a16:creationId xmlns:a16="http://schemas.microsoft.com/office/drawing/2014/main" id="{E8FB7169-D7C9-B19E-2970-6F505F9850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3973" y="826091"/>
              <a:ext cx="1828800" cy="1828800"/>
            </a:xfrm>
            <a:prstGeom prst="rect">
              <a:avLst/>
            </a:prstGeom>
          </p:spPr>
        </p:pic>
      </p:grpSp>
      <p:grpSp>
        <p:nvGrpSpPr>
          <p:cNvPr id="41" name="Group 40">
            <a:extLst>
              <a:ext uri="{FF2B5EF4-FFF2-40B4-BE49-F238E27FC236}">
                <a16:creationId xmlns:a16="http://schemas.microsoft.com/office/drawing/2014/main" id="{5660900F-9EFB-F4AE-472F-B70204F2670C}"/>
              </a:ext>
            </a:extLst>
          </p:cNvPr>
          <p:cNvGrpSpPr/>
          <p:nvPr/>
        </p:nvGrpSpPr>
        <p:grpSpPr>
          <a:xfrm>
            <a:off x="2901655" y="901849"/>
            <a:ext cx="6388690" cy="5626100"/>
            <a:chOff x="7276213" y="4285680"/>
            <a:chExt cx="2158409" cy="2254102"/>
          </a:xfrm>
        </p:grpSpPr>
        <p:sp>
          <p:nvSpPr>
            <p:cNvPr id="13" name="Rectangle: Rounded Corners 12">
              <a:extLst>
                <a:ext uri="{FF2B5EF4-FFF2-40B4-BE49-F238E27FC236}">
                  <a16:creationId xmlns:a16="http://schemas.microsoft.com/office/drawing/2014/main" id="{7111E86F-380F-27FB-EEA2-9CBF0CC10524}"/>
                </a:ext>
              </a:extLst>
            </p:cNvPr>
            <p:cNvSpPr/>
            <p:nvPr/>
          </p:nvSpPr>
          <p:spPr>
            <a:xfrm>
              <a:off x="7276213" y="4285680"/>
              <a:ext cx="2158409" cy="2254102"/>
            </a:xfrm>
            <a:prstGeom prst="roundRect">
              <a:avLst/>
            </a:prstGeom>
            <a:ln>
              <a:solidFill>
                <a:srgbClr val="33CCFF"/>
              </a:solidFill>
            </a:ln>
            <a:scene3d>
              <a:camera prst="perspectiveFront"/>
              <a:lightRig rig="threePt" dir="t"/>
            </a:scene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3" name="Graphic 32" descr="Bar chart with solid fill">
              <a:extLst>
                <a:ext uri="{FF2B5EF4-FFF2-40B4-BE49-F238E27FC236}">
                  <a16:creationId xmlns:a16="http://schemas.microsoft.com/office/drawing/2014/main" id="{CF15DB21-FECD-B588-19A2-73D869C6AED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08476" y="4324232"/>
              <a:ext cx="841658" cy="841658"/>
            </a:xfrm>
            <a:prstGeom prst="rect">
              <a:avLst/>
            </a:prstGeom>
          </p:spPr>
        </p:pic>
      </p:grpSp>
      <p:grpSp>
        <p:nvGrpSpPr>
          <p:cNvPr id="42" name="Group 41">
            <a:extLst>
              <a:ext uri="{FF2B5EF4-FFF2-40B4-BE49-F238E27FC236}">
                <a16:creationId xmlns:a16="http://schemas.microsoft.com/office/drawing/2014/main" id="{46343658-5268-9521-1B67-E0433DA283F3}"/>
              </a:ext>
            </a:extLst>
          </p:cNvPr>
          <p:cNvGrpSpPr/>
          <p:nvPr/>
        </p:nvGrpSpPr>
        <p:grpSpPr>
          <a:xfrm>
            <a:off x="9774716" y="2463506"/>
            <a:ext cx="2158409" cy="2254102"/>
            <a:chOff x="3449676" y="489689"/>
            <a:chExt cx="2158409" cy="2254102"/>
          </a:xfrm>
        </p:grpSpPr>
        <p:sp>
          <p:nvSpPr>
            <p:cNvPr id="12" name="Rectangle: Rounded Corners 11">
              <a:extLst>
                <a:ext uri="{FF2B5EF4-FFF2-40B4-BE49-F238E27FC236}">
                  <a16:creationId xmlns:a16="http://schemas.microsoft.com/office/drawing/2014/main" id="{AF0F9E7A-03DD-EC18-FA9E-3AFB8CBF4FF7}"/>
                </a:ext>
              </a:extLst>
            </p:cNvPr>
            <p:cNvSpPr/>
            <p:nvPr/>
          </p:nvSpPr>
          <p:spPr>
            <a:xfrm>
              <a:off x="3449676" y="489689"/>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5" name="Graphic 34" descr="Blockchain with solid fill">
              <a:extLst>
                <a:ext uri="{FF2B5EF4-FFF2-40B4-BE49-F238E27FC236}">
                  <a16:creationId xmlns:a16="http://schemas.microsoft.com/office/drawing/2014/main" id="{18908973-E10C-CAF7-C220-2FB756BEAEF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14480" y="629389"/>
              <a:ext cx="1828800" cy="1828800"/>
            </a:xfrm>
            <a:prstGeom prst="rect">
              <a:avLst/>
            </a:prstGeom>
          </p:spPr>
        </p:pic>
      </p:grpSp>
      <p:grpSp>
        <p:nvGrpSpPr>
          <p:cNvPr id="44" name="Group 43">
            <a:extLst>
              <a:ext uri="{FF2B5EF4-FFF2-40B4-BE49-F238E27FC236}">
                <a16:creationId xmlns:a16="http://schemas.microsoft.com/office/drawing/2014/main" id="{F0089652-57CA-F6B1-54F2-1553FA521060}"/>
              </a:ext>
            </a:extLst>
          </p:cNvPr>
          <p:cNvGrpSpPr/>
          <p:nvPr/>
        </p:nvGrpSpPr>
        <p:grpSpPr>
          <a:xfrm>
            <a:off x="14538987" y="2443128"/>
            <a:ext cx="2158409" cy="2254102"/>
            <a:chOff x="9042990" y="629389"/>
            <a:chExt cx="2158409" cy="2254102"/>
          </a:xfrm>
        </p:grpSpPr>
        <p:sp>
          <p:nvSpPr>
            <p:cNvPr id="15" name="Rectangle: Rounded Corners 14">
              <a:extLst>
                <a:ext uri="{FF2B5EF4-FFF2-40B4-BE49-F238E27FC236}">
                  <a16:creationId xmlns:a16="http://schemas.microsoft.com/office/drawing/2014/main" id="{FDA0A31D-A295-616D-0CFD-DDE6F57E13BA}"/>
                </a:ext>
              </a:extLst>
            </p:cNvPr>
            <p:cNvSpPr/>
            <p:nvPr/>
          </p:nvSpPr>
          <p:spPr>
            <a:xfrm>
              <a:off x="9042990" y="629389"/>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7" name="Graphic 36" descr="Chemicals with solid fill">
              <a:extLst>
                <a:ext uri="{FF2B5EF4-FFF2-40B4-BE49-F238E27FC236}">
                  <a16:creationId xmlns:a16="http://schemas.microsoft.com/office/drawing/2014/main" id="{9ED1793E-8C88-6D57-648A-1F3C7B47C77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07794" y="826091"/>
              <a:ext cx="1828800" cy="1828800"/>
            </a:xfrm>
            <a:prstGeom prst="rect">
              <a:avLst/>
            </a:prstGeom>
          </p:spPr>
        </p:pic>
      </p:grpSp>
      <p:grpSp>
        <p:nvGrpSpPr>
          <p:cNvPr id="43" name="Group 42">
            <a:extLst>
              <a:ext uri="{FF2B5EF4-FFF2-40B4-BE49-F238E27FC236}">
                <a16:creationId xmlns:a16="http://schemas.microsoft.com/office/drawing/2014/main" id="{999F30A8-23FD-F3CD-BF7F-DC10EB682A52}"/>
              </a:ext>
            </a:extLst>
          </p:cNvPr>
          <p:cNvGrpSpPr/>
          <p:nvPr/>
        </p:nvGrpSpPr>
        <p:grpSpPr>
          <a:xfrm>
            <a:off x="12215773" y="2463506"/>
            <a:ext cx="2158409" cy="2254102"/>
            <a:chOff x="6363585" y="629980"/>
            <a:chExt cx="2158409" cy="2254102"/>
          </a:xfrm>
        </p:grpSpPr>
        <p:sp>
          <p:nvSpPr>
            <p:cNvPr id="14" name="Rectangle: Rounded Corners 13">
              <a:extLst>
                <a:ext uri="{FF2B5EF4-FFF2-40B4-BE49-F238E27FC236}">
                  <a16:creationId xmlns:a16="http://schemas.microsoft.com/office/drawing/2014/main" id="{6F77C313-13A8-F1F6-093C-55C33418572D}"/>
                </a:ext>
              </a:extLst>
            </p:cNvPr>
            <p:cNvSpPr/>
            <p:nvPr/>
          </p:nvSpPr>
          <p:spPr>
            <a:xfrm>
              <a:off x="6363585" y="629980"/>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9" name="Graphic 38" descr="Bullseye with solid fill">
              <a:extLst>
                <a:ext uri="{FF2B5EF4-FFF2-40B4-BE49-F238E27FC236}">
                  <a16:creationId xmlns:a16="http://schemas.microsoft.com/office/drawing/2014/main" id="{BFC772F6-6136-2FE0-6C95-6B582FE7E8A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26617" y="966973"/>
              <a:ext cx="1828800" cy="1828800"/>
            </a:xfrm>
            <a:prstGeom prst="rect">
              <a:avLst/>
            </a:prstGeom>
          </p:spPr>
        </p:pic>
      </p:grpSp>
      <p:sp>
        <p:nvSpPr>
          <p:cNvPr id="2" name="TextBox 1">
            <a:extLst>
              <a:ext uri="{FF2B5EF4-FFF2-40B4-BE49-F238E27FC236}">
                <a16:creationId xmlns:a16="http://schemas.microsoft.com/office/drawing/2014/main" id="{103085B7-C327-8F73-228F-8A3689A3E836}"/>
              </a:ext>
            </a:extLst>
          </p:cNvPr>
          <p:cNvSpPr txBox="1"/>
          <p:nvPr/>
        </p:nvSpPr>
        <p:spPr>
          <a:xfrm>
            <a:off x="4229985" y="3050625"/>
            <a:ext cx="4241800" cy="3293209"/>
          </a:xfrm>
          <a:prstGeom prst="rect">
            <a:avLst/>
          </a:prstGeom>
          <a:noFill/>
        </p:spPr>
        <p:txBody>
          <a:bodyPr wrap="square" rtlCol="0">
            <a:spAutoFit/>
          </a:bodyPr>
          <a:lstStyle/>
          <a:p>
            <a:r>
              <a:rPr lang="en-US" sz="4000" b="1" dirty="0">
                <a:effectLst>
                  <a:outerShdw blurRad="38100" dist="38100" dir="2700000" algn="tl">
                    <a:srgbClr val="000000">
                      <a:alpha val="43137"/>
                    </a:srgbClr>
                  </a:outerShdw>
                </a:effectLst>
              </a:rPr>
              <a:t>2-</a:t>
            </a:r>
            <a:r>
              <a:rPr lang="en-US" sz="2400" b="1" dirty="0">
                <a:effectLst>
                  <a:outerShdw blurRad="38100" dist="38100" dir="2700000" algn="tl">
                    <a:srgbClr val="000000">
                      <a:alpha val="43137"/>
                    </a:srgbClr>
                  </a:outerShdw>
                </a:effectLst>
              </a:rPr>
              <a:t>   </a:t>
            </a:r>
            <a:r>
              <a:rPr lang="en-US" sz="2400" b="1" dirty="0">
                <a:solidFill>
                  <a:srgbClr val="FF0000"/>
                </a:solidFill>
                <a:effectLst>
                  <a:outerShdw blurRad="38100" dist="38100" dir="2700000" algn="tl">
                    <a:srgbClr val="000000">
                      <a:alpha val="43137"/>
                    </a:srgbClr>
                  </a:outerShdw>
                </a:effectLst>
              </a:rPr>
              <a:t>Selecting (Supplier- Carrier- transportation- Route) </a:t>
            </a:r>
            <a:r>
              <a:rPr lang="en-US" sz="2400" b="1" dirty="0">
                <a:solidFill>
                  <a:srgbClr val="002060"/>
                </a:solidFill>
                <a:effectLst>
                  <a:outerShdw blurRad="38100" dist="38100" dir="2700000" algn="tl">
                    <a:srgbClr val="000000">
                      <a:alpha val="43137"/>
                    </a:srgbClr>
                  </a:outerShdw>
                </a:effectLst>
              </a:rPr>
              <a:t>based on Product Quality and Time (even high costs). (reduces costs rework, replacements, and compensations)</a:t>
            </a:r>
          </a:p>
          <a:p>
            <a:endParaRPr lang="en-US" sz="2400" dirty="0"/>
          </a:p>
        </p:txBody>
      </p:sp>
      <p:sp>
        <p:nvSpPr>
          <p:cNvPr id="3" name="TextBox 2">
            <a:extLst>
              <a:ext uri="{FF2B5EF4-FFF2-40B4-BE49-F238E27FC236}">
                <a16:creationId xmlns:a16="http://schemas.microsoft.com/office/drawing/2014/main" id="{308CA76A-FF74-6AAD-FC08-F9FA64532617}"/>
              </a:ext>
            </a:extLst>
          </p:cNvPr>
          <p:cNvSpPr txBox="1"/>
          <p:nvPr/>
        </p:nvSpPr>
        <p:spPr>
          <a:xfrm>
            <a:off x="-146345" y="85357"/>
            <a:ext cx="6096000" cy="1938992"/>
          </a:xfrm>
          <a:prstGeom prst="rect">
            <a:avLst/>
          </a:prstGeom>
          <a:noFill/>
        </p:spPr>
        <p:txBody>
          <a:bodyPr wrap="square" rtlCol="0">
            <a:spAutoFit/>
          </a:bodyPr>
          <a:lstStyle/>
          <a:p>
            <a:pPr algn="ctr"/>
            <a:r>
              <a:rPr lang="en-US" sz="6000" dirty="0">
                <a:ln w="0"/>
                <a:solidFill>
                  <a:schemeClr val="bg1"/>
                </a:solidFill>
                <a:effectLst>
                  <a:outerShdw blurRad="38100" dist="19050" dir="2700000" algn="tl" rotWithShape="0">
                    <a:schemeClr val="dk1">
                      <a:alpha val="40000"/>
                    </a:schemeClr>
                  </a:outerShdw>
                </a:effectLst>
                <a:latin typeface="Andalus" panose="02020603050405020304" pitchFamily="18" charset="-78"/>
                <a:cs typeface="Andalus" panose="02020603050405020304" pitchFamily="18" charset="-78"/>
              </a:rPr>
              <a:t>Recommendations</a:t>
            </a:r>
            <a:endParaRPr lang="en-US" sz="4400" dirty="0">
              <a:ln w="0"/>
              <a:solidFill>
                <a:schemeClr val="bg1"/>
              </a:solidFill>
              <a:effectLst>
                <a:outerShdw blurRad="38100" dist="19050" dir="2700000" algn="tl" rotWithShape="0">
                  <a:schemeClr val="dk1">
                    <a:alpha val="40000"/>
                  </a:schemeClr>
                </a:outerShdw>
              </a:effectLst>
              <a:latin typeface="Andalus" panose="02020603050405020304" pitchFamily="18" charset="-78"/>
              <a:cs typeface="Andalus" panose="02020603050405020304" pitchFamily="18" charset="-78"/>
            </a:endParaRPr>
          </a:p>
          <a:p>
            <a:pPr algn="ctr"/>
            <a:endParaRPr lang="en-US" sz="6000"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85085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AC88A-6AD1-0A32-00FB-F1110759312A}"/>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7D2A7F78-66CB-21D2-E54F-DA95FDA32B8D}"/>
              </a:ext>
            </a:extLst>
          </p:cNvPr>
          <p:cNvGrpSpPr/>
          <p:nvPr/>
        </p:nvGrpSpPr>
        <p:grpSpPr>
          <a:xfrm>
            <a:off x="-2281125" y="2388488"/>
            <a:ext cx="2158409" cy="2254102"/>
            <a:chOff x="838789" y="541671"/>
            <a:chExt cx="2158409" cy="2254102"/>
          </a:xfrm>
        </p:grpSpPr>
        <p:sp>
          <p:nvSpPr>
            <p:cNvPr id="8" name="Rectangle: Rounded Corners 7">
              <a:extLst>
                <a:ext uri="{FF2B5EF4-FFF2-40B4-BE49-F238E27FC236}">
                  <a16:creationId xmlns:a16="http://schemas.microsoft.com/office/drawing/2014/main" id="{352264FB-8A1A-6DA1-03FF-0CD920AAFA78}"/>
                </a:ext>
              </a:extLst>
            </p:cNvPr>
            <p:cNvSpPr/>
            <p:nvPr/>
          </p:nvSpPr>
          <p:spPr>
            <a:xfrm>
              <a:off x="838789" y="541671"/>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1" name="Graphic 30" descr="Alarm clock with solid fill">
              <a:extLst>
                <a:ext uri="{FF2B5EF4-FFF2-40B4-BE49-F238E27FC236}">
                  <a16:creationId xmlns:a16="http://schemas.microsoft.com/office/drawing/2014/main" id="{8FE31AF8-7749-64FC-F0B7-55BBD664EF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3973" y="826091"/>
              <a:ext cx="1828800" cy="1828800"/>
            </a:xfrm>
            <a:prstGeom prst="rect">
              <a:avLst/>
            </a:prstGeom>
          </p:spPr>
        </p:pic>
      </p:grpSp>
      <p:grpSp>
        <p:nvGrpSpPr>
          <p:cNvPr id="41" name="Group 40">
            <a:extLst>
              <a:ext uri="{FF2B5EF4-FFF2-40B4-BE49-F238E27FC236}">
                <a16:creationId xmlns:a16="http://schemas.microsoft.com/office/drawing/2014/main" id="{A4F232EB-2073-38FB-9B3B-256757934DAA}"/>
              </a:ext>
            </a:extLst>
          </p:cNvPr>
          <p:cNvGrpSpPr/>
          <p:nvPr/>
        </p:nvGrpSpPr>
        <p:grpSpPr>
          <a:xfrm>
            <a:off x="101010" y="2349797"/>
            <a:ext cx="2158409" cy="2254102"/>
            <a:chOff x="7276213" y="4255091"/>
            <a:chExt cx="2158409" cy="2254102"/>
          </a:xfrm>
        </p:grpSpPr>
        <p:sp>
          <p:nvSpPr>
            <p:cNvPr id="13" name="Rectangle: Rounded Corners 12">
              <a:extLst>
                <a:ext uri="{FF2B5EF4-FFF2-40B4-BE49-F238E27FC236}">
                  <a16:creationId xmlns:a16="http://schemas.microsoft.com/office/drawing/2014/main" id="{A3DB2FED-3529-DF4D-F396-553FA03711E3}"/>
                </a:ext>
              </a:extLst>
            </p:cNvPr>
            <p:cNvSpPr/>
            <p:nvPr/>
          </p:nvSpPr>
          <p:spPr>
            <a:xfrm>
              <a:off x="7276213" y="4255091"/>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3" name="Graphic 32" descr="Bar chart with solid fill">
              <a:extLst>
                <a:ext uri="{FF2B5EF4-FFF2-40B4-BE49-F238E27FC236}">
                  <a16:creationId xmlns:a16="http://schemas.microsoft.com/office/drawing/2014/main" id="{30DF93DD-D136-D19B-F93D-EB89505E81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78994" y="4506433"/>
              <a:ext cx="1828800" cy="1828800"/>
            </a:xfrm>
            <a:prstGeom prst="rect">
              <a:avLst/>
            </a:prstGeom>
          </p:spPr>
        </p:pic>
      </p:grpSp>
      <p:grpSp>
        <p:nvGrpSpPr>
          <p:cNvPr id="42" name="Group 41">
            <a:extLst>
              <a:ext uri="{FF2B5EF4-FFF2-40B4-BE49-F238E27FC236}">
                <a16:creationId xmlns:a16="http://schemas.microsoft.com/office/drawing/2014/main" id="{D458034D-EF79-D890-30BA-988DA94D1107}"/>
              </a:ext>
            </a:extLst>
          </p:cNvPr>
          <p:cNvGrpSpPr/>
          <p:nvPr/>
        </p:nvGrpSpPr>
        <p:grpSpPr>
          <a:xfrm>
            <a:off x="2622550" y="1115239"/>
            <a:ext cx="6946900" cy="5384800"/>
            <a:chOff x="3439811" y="472752"/>
            <a:chExt cx="2158409" cy="2254102"/>
          </a:xfrm>
        </p:grpSpPr>
        <p:sp>
          <p:nvSpPr>
            <p:cNvPr id="12" name="Rectangle: Rounded Corners 11">
              <a:extLst>
                <a:ext uri="{FF2B5EF4-FFF2-40B4-BE49-F238E27FC236}">
                  <a16:creationId xmlns:a16="http://schemas.microsoft.com/office/drawing/2014/main" id="{71E305BE-3BBC-7C81-A24B-B80B31EC2A5B}"/>
                </a:ext>
              </a:extLst>
            </p:cNvPr>
            <p:cNvSpPr/>
            <p:nvPr/>
          </p:nvSpPr>
          <p:spPr>
            <a:xfrm>
              <a:off x="3439811" y="472752"/>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5" name="Graphic 34" descr="Blockchain with solid fill">
              <a:extLst>
                <a:ext uri="{FF2B5EF4-FFF2-40B4-BE49-F238E27FC236}">
                  <a16:creationId xmlns:a16="http://schemas.microsoft.com/office/drawing/2014/main" id="{56B038A3-FC05-9E0B-54A5-C8CAA570BE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14750" y="659432"/>
              <a:ext cx="587642" cy="587642"/>
            </a:xfrm>
            <a:prstGeom prst="rect">
              <a:avLst/>
            </a:prstGeom>
          </p:spPr>
        </p:pic>
      </p:grpSp>
      <p:grpSp>
        <p:nvGrpSpPr>
          <p:cNvPr id="44" name="Group 43">
            <a:extLst>
              <a:ext uri="{FF2B5EF4-FFF2-40B4-BE49-F238E27FC236}">
                <a16:creationId xmlns:a16="http://schemas.microsoft.com/office/drawing/2014/main" id="{C9F0216F-FBED-EAC4-D2B0-218CA9F0EAD2}"/>
              </a:ext>
            </a:extLst>
          </p:cNvPr>
          <p:cNvGrpSpPr/>
          <p:nvPr/>
        </p:nvGrpSpPr>
        <p:grpSpPr>
          <a:xfrm>
            <a:off x="12311615" y="2215416"/>
            <a:ext cx="2158409" cy="2254102"/>
            <a:chOff x="9042990" y="629389"/>
            <a:chExt cx="2158409" cy="2254102"/>
          </a:xfrm>
        </p:grpSpPr>
        <p:sp>
          <p:nvSpPr>
            <p:cNvPr id="15" name="Rectangle: Rounded Corners 14">
              <a:extLst>
                <a:ext uri="{FF2B5EF4-FFF2-40B4-BE49-F238E27FC236}">
                  <a16:creationId xmlns:a16="http://schemas.microsoft.com/office/drawing/2014/main" id="{F0B18B0E-3FAC-FA48-5542-10D52CC0551D}"/>
                </a:ext>
              </a:extLst>
            </p:cNvPr>
            <p:cNvSpPr/>
            <p:nvPr/>
          </p:nvSpPr>
          <p:spPr>
            <a:xfrm>
              <a:off x="9042990" y="629389"/>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7" name="Graphic 36" descr="Chemicals with solid fill">
              <a:extLst>
                <a:ext uri="{FF2B5EF4-FFF2-40B4-BE49-F238E27FC236}">
                  <a16:creationId xmlns:a16="http://schemas.microsoft.com/office/drawing/2014/main" id="{0211CE20-FF30-446C-BE0B-722750B0790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07794" y="826091"/>
              <a:ext cx="1828800" cy="1828800"/>
            </a:xfrm>
            <a:prstGeom prst="rect">
              <a:avLst/>
            </a:prstGeom>
          </p:spPr>
        </p:pic>
      </p:grpSp>
      <p:grpSp>
        <p:nvGrpSpPr>
          <p:cNvPr id="43" name="Group 42">
            <a:extLst>
              <a:ext uri="{FF2B5EF4-FFF2-40B4-BE49-F238E27FC236}">
                <a16:creationId xmlns:a16="http://schemas.microsoft.com/office/drawing/2014/main" id="{AA6A26F3-F46D-20A9-3A5F-66F69838B5BD}"/>
              </a:ext>
            </a:extLst>
          </p:cNvPr>
          <p:cNvGrpSpPr/>
          <p:nvPr/>
        </p:nvGrpSpPr>
        <p:grpSpPr>
          <a:xfrm>
            <a:off x="9988401" y="2235794"/>
            <a:ext cx="2158409" cy="2254102"/>
            <a:chOff x="6363585" y="629980"/>
            <a:chExt cx="2158409" cy="2254102"/>
          </a:xfrm>
        </p:grpSpPr>
        <p:sp>
          <p:nvSpPr>
            <p:cNvPr id="14" name="Rectangle: Rounded Corners 13">
              <a:extLst>
                <a:ext uri="{FF2B5EF4-FFF2-40B4-BE49-F238E27FC236}">
                  <a16:creationId xmlns:a16="http://schemas.microsoft.com/office/drawing/2014/main" id="{9AD2955C-1529-54E3-DDE3-E22FFAFE23C7}"/>
                </a:ext>
              </a:extLst>
            </p:cNvPr>
            <p:cNvSpPr/>
            <p:nvPr/>
          </p:nvSpPr>
          <p:spPr>
            <a:xfrm>
              <a:off x="6363585" y="629980"/>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9" name="Graphic 38" descr="Bullseye with solid fill">
              <a:extLst>
                <a:ext uri="{FF2B5EF4-FFF2-40B4-BE49-F238E27FC236}">
                  <a16:creationId xmlns:a16="http://schemas.microsoft.com/office/drawing/2014/main" id="{DCD19EB8-3FB0-6370-2FFB-B4B96A0EFED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26617" y="966973"/>
              <a:ext cx="1828800" cy="1828800"/>
            </a:xfrm>
            <a:prstGeom prst="rect">
              <a:avLst/>
            </a:prstGeom>
          </p:spPr>
        </p:pic>
      </p:grpSp>
      <p:sp>
        <p:nvSpPr>
          <p:cNvPr id="2" name="TextBox 1">
            <a:extLst>
              <a:ext uri="{FF2B5EF4-FFF2-40B4-BE49-F238E27FC236}">
                <a16:creationId xmlns:a16="http://schemas.microsoft.com/office/drawing/2014/main" id="{DFC1ED68-0E5E-26B0-AFDE-9879DB901F09}"/>
              </a:ext>
            </a:extLst>
          </p:cNvPr>
          <p:cNvSpPr txBox="1"/>
          <p:nvPr/>
        </p:nvSpPr>
        <p:spPr>
          <a:xfrm>
            <a:off x="3048294" y="2349797"/>
            <a:ext cx="4461778" cy="3570208"/>
          </a:xfrm>
          <a:prstGeom prst="rect">
            <a:avLst/>
          </a:prstGeom>
          <a:noFill/>
        </p:spPr>
        <p:txBody>
          <a:bodyPr wrap="square" rtlCol="0">
            <a:spAutoFit/>
          </a:bodyPr>
          <a:lstStyle/>
          <a:p>
            <a:r>
              <a:rPr lang="en-US" sz="6600" b="1" dirty="0">
                <a:effectLst>
                  <a:outerShdw blurRad="38100" dist="38100" dir="2700000" algn="tl">
                    <a:srgbClr val="000000">
                      <a:alpha val="43137"/>
                    </a:srgbClr>
                  </a:outerShdw>
                </a:effectLst>
                <a:latin typeface="Aptos" panose="02110004020202020204"/>
              </a:rPr>
              <a:t>3-</a:t>
            </a:r>
            <a:r>
              <a:rPr lang="en-US" sz="4000" b="1" dirty="0">
                <a:solidFill>
                  <a:srgbClr val="002060"/>
                </a:solidFill>
                <a:effectLst>
                  <a:outerShdw blurRad="38100" dist="38100" dir="2700000" algn="tl">
                    <a:srgbClr val="000000">
                      <a:alpha val="43137"/>
                    </a:srgbClr>
                  </a:outerShdw>
                </a:effectLst>
                <a:latin typeface="Aptos" panose="02110004020202020204"/>
              </a:rPr>
              <a:t> </a:t>
            </a:r>
            <a:r>
              <a:rPr lang="en-US" sz="4000" b="1" dirty="0">
                <a:solidFill>
                  <a:srgbClr val="FF0000"/>
                </a:solidFill>
                <a:effectLst>
                  <a:outerShdw blurRad="38100" dist="38100" dir="2700000" algn="tl">
                    <a:srgbClr val="000000">
                      <a:alpha val="43137"/>
                    </a:srgbClr>
                  </a:outerShdw>
                </a:effectLst>
                <a:latin typeface="Aptos" panose="02110004020202020204"/>
              </a:rPr>
              <a:t>Skincare</a:t>
            </a:r>
          </a:p>
          <a:p>
            <a:r>
              <a:rPr lang="en-US" sz="4000" b="1" dirty="0">
                <a:solidFill>
                  <a:srgbClr val="FF0000"/>
                </a:solidFill>
                <a:effectLst>
                  <a:outerShdw blurRad="38100" dist="38100" dir="2700000" algn="tl">
                    <a:srgbClr val="000000">
                      <a:alpha val="43137"/>
                    </a:srgbClr>
                  </a:outerShdw>
                </a:effectLst>
                <a:latin typeface="Aptos" panose="02110004020202020204"/>
              </a:rPr>
              <a:t> </a:t>
            </a:r>
            <a:r>
              <a:rPr lang="en-US" sz="4000" b="1" dirty="0">
                <a:solidFill>
                  <a:srgbClr val="002060"/>
                </a:solidFill>
                <a:effectLst>
                  <a:outerShdw blurRad="38100" dist="38100" dir="2700000" algn="tl">
                    <a:srgbClr val="000000">
                      <a:alpha val="43137"/>
                    </a:srgbClr>
                  </a:outerShdw>
                </a:effectLst>
                <a:latin typeface="Aptos" panose="02110004020202020204"/>
              </a:rPr>
              <a:t>needs more production for safety stock level.</a:t>
            </a:r>
          </a:p>
          <a:p>
            <a:endParaRPr lang="en-US" sz="4000" dirty="0">
              <a:solidFill>
                <a:srgbClr val="002060"/>
              </a:solidFill>
            </a:endParaRPr>
          </a:p>
        </p:txBody>
      </p:sp>
      <p:sp>
        <p:nvSpPr>
          <p:cNvPr id="3" name="TextBox 2">
            <a:extLst>
              <a:ext uri="{FF2B5EF4-FFF2-40B4-BE49-F238E27FC236}">
                <a16:creationId xmlns:a16="http://schemas.microsoft.com/office/drawing/2014/main" id="{5403C238-D727-C133-C4A3-DBB586AFEB20}"/>
              </a:ext>
            </a:extLst>
          </p:cNvPr>
          <p:cNvSpPr txBox="1"/>
          <p:nvPr/>
        </p:nvSpPr>
        <p:spPr>
          <a:xfrm>
            <a:off x="5353344" y="128306"/>
            <a:ext cx="6096000" cy="1938992"/>
          </a:xfrm>
          <a:prstGeom prst="rect">
            <a:avLst/>
          </a:prstGeom>
          <a:noFill/>
        </p:spPr>
        <p:txBody>
          <a:bodyPr wrap="square" rtlCol="0">
            <a:spAutoFit/>
          </a:bodyPr>
          <a:lstStyle/>
          <a:p>
            <a:pPr algn="ctr"/>
            <a:r>
              <a:rPr lang="en-US" sz="6000" b="1" dirty="0">
                <a:ln w="22225">
                  <a:solidFill>
                    <a:schemeClr val="accent2"/>
                  </a:solidFill>
                  <a:prstDash val="solid"/>
                </a:ln>
                <a:solidFill>
                  <a:schemeClr val="accent2">
                    <a:lumMod val="40000"/>
                    <a:lumOff val="60000"/>
                  </a:schemeClr>
                </a:solidFill>
                <a:latin typeface="Andalus" panose="02020603050405020304" pitchFamily="18" charset="-78"/>
                <a:cs typeface="Andalus" panose="02020603050405020304" pitchFamily="18" charset="-78"/>
              </a:rPr>
              <a:t>Recommendations</a:t>
            </a:r>
            <a:endParaRPr lang="en-US" sz="4400" b="1" dirty="0">
              <a:ln w="22225">
                <a:solidFill>
                  <a:schemeClr val="accent2"/>
                </a:solidFill>
                <a:prstDash val="solid"/>
              </a:ln>
              <a:solidFill>
                <a:schemeClr val="accent2">
                  <a:lumMod val="40000"/>
                  <a:lumOff val="60000"/>
                </a:schemeClr>
              </a:solidFill>
              <a:latin typeface="Andalus" panose="02020603050405020304" pitchFamily="18" charset="-78"/>
              <a:cs typeface="Andalus" panose="02020603050405020304" pitchFamily="18" charset="-78"/>
            </a:endParaRPr>
          </a:p>
          <a:p>
            <a:pPr algn="ctr"/>
            <a:endParaRPr lang="en-US" sz="60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2171030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626E2-C329-E6ED-200F-CF3E8DB5AFA8}"/>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01D0A821-B8ED-666B-749B-882A71E05C93}"/>
              </a:ext>
            </a:extLst>
          </p:cNvPr>
          <p:cNvGrpSpPr/>
          <p:nvPr/>
        </p:nvGrpSpPr>
        <p:grpSpPr>
          <a:xfrm>
            <a:off x="-4567125" y="2301949"/>
            <a:ext cx="2158409" cy="2254102"/>
            <a:chOff x="838789" y="541671"/>
            <a:chExt cx="2158409" cy="2254102"/>
          </a:xfrm>
        </p:grpSpPr>
        <p:sp>
          <p:nvSpPr>
            <p:cNvPr id="8" name="Rectangle: Rounded Corners 7">
              <a:extLst>
                <a:ext uri="{FF2B5EF4-FFF2-40B4-BE49-F238E27FC236}">
                  <a16:creationId xmlns:a16="http://schemas.microsoft.com/office/drawing/2014/main" id="{C117D5DD-698E-F5F7-4A5C-AE2D1D958ACF}"/>
                </a:ext>
              </a:extLst>
            </p:cNvPr>
            <p:cNvSpPr/>
            <p:nvPr/>
          </p:nvSpPr>
          <p:spPr>
            <a:xfrm>
              <a:off x="838789" y="541671"/>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1" name="Graphic 30" descr="Alarm clock with solid fill">
              <a:extLst>
                <a:ext uri="{FF2B5EF4-FFF2-40B4-BE49-F238E27FC236}">
                  <a16:creationId xmlns:a16="http://schemas.microsoft.com/office/drawing/2014/main" id="{FE46AAF2-3F79-39A1-50E1-7E991C7BF1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3973" y="826091"/>
              <a:ext cx="1828800" cy="1828800"/>
            </a:xfrm>
            <a:prstGeom prst="rect">
              <a:avLst/>
            </a:prstGeom>
          </p:spPr>
        </p:pic>
      </p:grpSp>
      <p:grpSp>
        <p:nvGrpSpPr>
          <p:cNvPr id="41" name="Group 40">
            <a:extLst>
              <a:ext uri="{FF2B5EF4-FFF2-40B4-BE49-F238E27FC236}">
                <a16:creationId xmlns:a16="http://schemas.microsoft.com/office/drawing/2014/main" id="{2C3FD9BE-6405-032C-B34F-39E1C2E83FF3}"/>
              </a:ext>
            </a:extLst>
          </p:cNvPr>
          <p:cNvGrpSpPr/>
          <p:nvPr/>
        </p:nvGrpSpPr>
        <p:grpSpPr>
          <a:xfrm>
            <a:off x="-2184990" y="2263258"/>
            <a:ext cx="2158409" cy="2254102"/>
            <a:chOff x="7276213" y="4255091"/>
            <a:chExt cx="2158409" cy="2254102"/>
          </a:xfrm>
        </p:grpSpPr>
        <p:sp>
          <p:nvSpPr>
            <p:cNvPr id="13" name="Rectangle: Rounded Corners 12">
              <a:extLst>
                <a:ext uri="{FF2B5EF4-FFF2-40B4-BE49-F238E27FC236}">
                  <a16:creationId xmlns:a16="http://schemas.microsoft.com/office/drawing/2014/main" id="{681DBC0D-FF87-0D06-05BB-E56F71C38DFC}"/>
                </a:ext>
              </a:extLst>
            </p:cNvPr>
            <p:cNvSpPr/>
            <p:nvPr/>
          </p:nvSpPr>
          <p:spPr>
            <a:xfrm>
              <a:off x="7276213" y="4255091"/>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3" name="Graphic 32" descr="Bar chart with solid fill">
              <a:extLst>
                <a:ext uri="{FF2B5EF4-FFF2-40B4-BE49-F238E27FC236}">
                  <a16:creationId xmlns:a16="http://schemas.microsoft.com/office/drawing/2014/main" id="{2C759473-84DA-26E6-6DF9-B51EFCBB5B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78994" y="4506433"/>
              <a:ext cx="1828800" cy="1828800"/>
            </a:xfrm>
            <a:prstGeom prst="rect">
              <a:avLst/>
            </a:prstGeom>
          </p:spPr>
        </p:pic>
      </p:grpSp>
      <p:grpSp>
        <p:nvGrpSpPr>
          <p:cNvPr id="42" name="Group 41">
            <a:extLst>
              <a:ext uri="{FF2B5EF4-FFF2-40B4-BE49-F238E27FC236}">
                <a16:creationId xmlns:a16="http://schemas.microsoft.com/office/drawing/2014/main" id="{28FB79D4-4939-C2D4-459F-D981AF236A76}"/>
              </a:ext>
            </a:extLst>
          </p:cNvPr>
          <p:cNvGrpSpPr/>
          <p:nvPr/>
        </p:nvGrpSpPr>
        <p:grpSpPr>
          <a:xfrm>
            <a:off x="117844" y="2283636"/>
            <a:ext cx="2158409" cy="2254102"/>
            <a:chOff x="3449676" y="489689"/>
            <a:chExt cx="2158409" cy="2254102"/>
          </a:xfrm>
        </p:grpSpPr>
        <p:sp>
          <p:nvSpPr>
            <p:cNvPr id="12" name="Rectangle: Rounded Corners 11">
              <a:extLst>
                <a:ext uri="{FF2B5EF4-FFF2-40B4-BE49-F238E27FC236}">
                  <a16:creationId xmlns:a16="http://schemas.microsoft.com/office/drawing/2014/main" id="{2451A385-DCE3-E8E4-A7E0-432B1FA627E6}"/>
                </a:ext>
              </a:extLst>
            </p:cNvPr>
            <p:cNvSpPr/>
            <p:nvPr/>
          </p:nvSpPr>
          <p:spPr>
            <a:xfrm>
              <a:off x="3449676" y="489689"/>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5" name="Graphic 34" descr="Blockchain with solid fill">
              <a:extLst>
                <a:ext uri="{FF2B5EF4-FFF2-40B4-BE49-F238E27FC236}">
                  <a16:creationId xmlns:a16="http://schemas.microsoft.com/office/drawing/2014/main" id="{3A10CC55-9785-0136-74F9-0D6FE0F0819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14480" y="629389"/>
              <a:ext cx="1828800" cy="1828800"/>
            </a:xfrm>
            <a:prstGeom prst="rect">
              <a:avLst/>
            </a:prstGeom>
          </p:spPr>
        </p:pic>
      </p:grpSp>
      <p:grpSp>
        <p:nvGrpSpPr>
          <p:cNvPr id="44" name="Group 43">
            <a:extLst>
              <a:ext uri="{FF2B5EF4-FFF2-40B4-BE49-F238E27FC236}">
                <a16:creationId xmlns:a16="http://schemas.microsoft.com/office/drawing/2014/main" id="{7DE7005E-3859-678A-2998-8BEE82A5A6D8}"/>
              </a:ext>
            </a:extLst>
          </p:cNvPr>
          <p:cNvGrpSpPr/>
          <p:nvPr/>
        </p:nvGrpSpPr>
        <p:grpSpPr>
          <a:xfrm>
            <a:off x="9915747" y="2247015"/>
            <a:ext cx="2158409" cy="2254102"/>
            <a:chOff x="9042990" y="629389"/>
            <a:chExt cx="2158409" cy="2254102"/>
          </a:xfrm>
        </p:grpSpPr>
        <p:sp>
          <p:nvSpPr>
            <p:cNvPr id="15" name="Rectangle: Rounded Corners 14">
              <a:extLst>
                <a:ext uri="{FF2B5EF4-FFF2-40B4-BE49-F238E27FC236}">
                  <a16:creationId xmlns:a16="http://schemas.microsoft.com/office/drawing/2014/main" id="{A0EA77E6-1D9A-64D6-5753-87F09E41F8A4}"/>
                </a:ext>
              </a:extLst>
            </p:cNvPr>
            <p:cNvSpPr/>
            <p:nvPr/>
          </p:nvSpPr>
          <p:spPr>
            <a:xfrm>
              <a:off x="9042990" y="629389"/>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7" name="Graphic 36" descr="Chemicals with solid fill">
              <a:extLst>
                <a:ext uri="{FF2B5EF4-FFF2-40B4-BE49-F238E27FC236}">
                  <a16:creationId xmlns:a16="http://schemas.microsoft.com/office/drawing/2014/main" id="{AEE5BCF2-3186-8291-BF3F-C78D7CBE82F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07794" y="826091"/>
              <a:ext cx="1828800" cy="1828800"/>
            </a:xfrm>
            <a:prstGeom prst="rect">
              <a:avLst/>
            </a:prstGeom>
          </p:spPr>
        </p:pic>
      </p:grpSp>
      <p:grpSp>
        <p:nvGrpSpPr>
          <p:cNvPr id="43" name="Group 42">
            <a:extLst>
              <a:ext uri="{FF2B5EF4-FFF2-40B4-BE49-F238E27FC236}">
                <a16:creationId xmlns:a16="http://schemas.microsoft.com/office/drawing/2014/main" id="{32B25D23-C3D1-5575-F09D-60933595B3A2}"/>
              </a:ext>
            </a:extLst>
          </p:cNvPr>
          <p:cNvGrpSpPr/>
          <p:nvPr/>
        </p:nvGrpSpPr>
        <p:grpSpPr>
          <a:xfrm>
            <a:off x="3086101" y="876300"/>
            <a:ext cx="6184900" cy="5613400"/>
            <a:chOff x="6363585" y="629980"/>
            <a:chExt cx="2158409" cy="2254102"/>
          </a:xfrm>
        </p:grpSpPr>
        <p:sp>
          <p:nvSpPr>
            <p:cNvPr id="14" name="Rectangle: Rounded Corners 13">
              <a:extLst>
                <a:ext uri="{FF2B5EF4-FFF2-40B4-BE49-F238E27FC236}">
                  <a16:creationId xmlns:a16="http://schemas.microsoft.com/office/drawing/2014/main" id="{BE3347BA-0031-4BD9-C4B2-75AF352FBF69}"/>
                </a:ext>
              </a:extLst>
            </p:cNvPr>
            <p:cNvSpPr/>
            <p:nvPr/>
          </p:nvSpPr>
          <p:spPr>
            <a:xfrm>
              <a:off x="6363585" y="629980"/>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9" name="Graphic 38" descr="Bullseye with solid fill">
              <a:extLst>
                <a:ext uri="{FF2B5EF4-FFF2-40B4-BE49-F238E27FC236}">
                  <a16:creationId xmlns:a16="http://schemas.microsoft.com/office/drawing/2014/main" id="{0473C45F-1E2F-FD87-7FC5-E02EE286343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63585" y="629980"/>
              <a:ext cx="710970" cy="710970"/>
            </a:xfrm>
            <a:prstGeom prst="rect">
              <a:avLst/>
            </a:prstGeom>
          </p:spPr>
        </p:pic>
      </p:grpSp>
      <p:sp>
        <p:nvSpPr>
          <p:cNvPr id="2" name="TextBox 1">
            <a:extLst>
              <a:ext uri="{FF2B5EF4-FFF2-40B4-BE49-F238E27FC236}">
                <a16:creationId xmlns:a16="http://schemas.microsoft.com/office/drawing/2014/main" id="{2FFFC476-BFC7-C111-2E14-DB3D84C86FDA}"/>
              </a:ext>
            </a:extLst>
          </p:cNvPr>
          <p:cNvSpPr txBox="1"/>
          <p:nvPr/>
        </p:nvSpPr>
        <p:spPr>
          <a:xfrm>
            <a:off x="3469759" y="2891675"/>
            <a:ext cx="5791200" cy="3293209"/>
          </a:xfrm>
          <a:prstGeom prst="rect">
            <a:avLst/>
          </a:prstGeom>
          <a:noFill/>
        </p:spPr>
        <p:txBody>
          <a:bodyPr wrap="square" rtlCol="0">
            <a:spAutoFit/>
          </a:bodyPr>
          <a:lstStyle/>
          <a:p>
            <a:r>
              <a:rPr lang="en-US" sz="4800" b="1" dirty="0">
                <a:effectLst>
                  <a:outerShdw blurRad="38100" dist="38100" dir="2700000" algn="tl">
                    <a:srgbClr val="000000">
                      <a:alpha val="43137"/>
                    </a:srgbClr>
                  </a:outerShdw>
                </a:effectLst>
                <a:latin typeface="Aptos" panose="02110004020202020204"/>
              </a:rPr>
              <a:t>4-</a:t>
            </a:r>
            <a:r>
              <a:rPr lang="en-US" sz="3200" b="1" dirty="0">
                <a:solidFill>
                  <a:srgbClr val="002060"/>
                </a:solidFill>
                <a:effectLst>
                  <a:outerShdw blurRad="38100" dist="38100" dir="2700000" algn="tl">
                    <a:srgbClr val="000000">
                      <a:alpha val="43137"/>
                    </a:srgbClr>
                  </a:outerShdw>
                </a:effectLst>
                <a:latin typeface="Aptos" panose="02110004020202020204"/>
              </a:rPr>
              <a:t>    </a:t>
            </a:r>
            <a:r>
              <a:rPr lang="en-US" sz="3200" b="1" dirty="0">
                <a:solidFill>
                  <a:srgbClr val="FF0000"/>
                </a:solidFill>
                <a:effectLst>
                  <a:outerShdw blurRad="38100" dist="38100" dir="2700000" algn="tl">
                    <a:srgbClr val="000000">
                      <a:alpha val="43137"/>
                    </a:srgbClr>
                  </a:outerShdw>
                </a:effectLst>
                <a:latin typeface="Aptos" panose="02110004020202020204"/>
              </a:rPr>
              <a:t>Manage stock with rapid replenishment-Locations</a:t>
            </a:r>
            <a:r>
              <a:rPr lang="en-US" sz="3200" b="1" dirty="0">
                <a:solidFill>
                  <a:srgbClr val="002060"/>
                </a:solidFill>
                <a:effectLst>
                  <a:outerShdw blurRad="38100" dist="38100" dir="2700000" algn="tl">
                    <a:srgbClr val="000000">
                      <a:alpha val="43137"/>
                    </a:srgbClr>
                  </a:outerShdw>
                </a:effectLst>
                <a:latin typeface="Aptos" panose="02110004020202020204"/>
              </a:rPr>
              <a:t> to optimize fulfillment skincare and haircare for Kolkata, cosmetics for Delhi </a:t>
            </a:r>
          </a:p>
          <a:p>
            <a:endParaRPr lang="en-US" sz="3200" dirty="0">
              <a:solidFill>
                <a:srgbClr val="002060"/>
              </a:solidFill>
            </a:endParaRPr>
          </a:p>
        </p:txBody>
      </p:sp>
      <p:sp>
        <p:nvSpPr>
          <p:cNvPr id="3" name="TextBox 2">
            <a:extLst>
              <a:ext uri="{FF2B5EF4-FFF2-40B4-BE49-F238E27FC236}">
                <a16:creationId xmlns:a16="http://schemas.microsoft.com/office/drawing/2014/main" id="{783F34C6-B656-2911-A680-7CC43DF44C2C}"/>
              </a:ext>
            </a:extLst>
          </p:cNvPr>
          <p:cNvSpPr txBox="1"/>
          <p:nvPr/>
        </p:nvSpPr>
        <p:spPr>
          <a:xfrm>
            <a:off x="38101" y="99801"/>
            <a:ext cx="6096000" cy="1938992"/>
          </a:xfrm>
          <a:prstGeom prst="rect">
            <a:avLst/>
          </a:prstGeom>
          <a:noFill/>
        </p:spPr>
        <p:txBody>
          <a:bodyPr wrap="square" rtlCol="0">
            <a:spAutoFit/>
          </a:bodyPr>
          <a:lstStyle/>
          <a:p>
            <a:pPr algn="ctr"/>
            <a:r>
              <a:rPr lang="en-US" sz="6000" b="1" dirty="0">
                <a:ln w="22225">
                  <a:solidFill>
                    <a:schemeClr val="accent2"/>
                  </a:solidFill>
                  <a:prstDash val="solid"/>
                </a:ln>
                <a:solidFill>
                  <a:schemeClr val="bg1"/>
                </a:solidFill>
                <a:latin typeface="Andalus" panose="02020603050405020304" pitchFamily="18" charset="-78"/>
                <a:cs typeface="Andalus" panose="02020603050405020304" pitchFamily="18" charset="-78"/>
              </a:rPr>
              <a:t>Recommendations</a:t>
            </a:r>
            <a:endParaRPr lang="en-US" sz="4400" b="1" dirty="0">
              <a:ln w="22225">
                <a:solidFill>
                  <a:schemeClr val="accent2"/>
                </a:solidFill>
                <a:prstDash val="solid"/>
              </a:ln>
              <a:solidFill>
                <a:schemeClr val="bg1"/>
              </a:solidFill>
              <a:latin typeface="Andalus" panose="02020603050405020304" pitchFamily="18" charset="-78"/>
              <a:cs typeface="Andalus" panose="02020603050405020304" pitchFamily="18" charset="-78"/>
            </a:endParaRPr>
          </a:p>
          <a:p>
            <a:pPr algn="ctr"/>
            <a:endParaRPr lang="en-US" sz="6000" b="1" dirty="0">
              <a:ln w="22225">
                <a:solidFill>
                  <a:schemeClr val="accent2"/>
                </a:solidFill>
                <a:prstDash val="solid"/>
              </a:ln>
              <a:solidFill>
                <a:schemeClr val="bg1"/>
              </a:solidFill>
            </a:endParaRPr>
          </a:p>
        </p:txBody>
      </p:sp>
    </p:spTree>
    <p:extLst>
      <p:ext uri="{BB962C8B-B14F-4D97-AF65-F5344CB8AC3E}">
        <p14:creationId xmlns:p14="http://schemas.microsoft.com/office/powerpoint/2010/main" val="3750490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3777-E5BA-3247-FBBB-6F0BDBA298FA}"/>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B8B48228-5C6E-372F-D86A-4F15CA6468C9}"/>
              </a:ext>
            </a:extLst>
          </p:cNvPr>
          <p:cNvGrpSpPr/>
          <p:nvPr/>
        </p:nvGrpSpPr>
        <p:grpSpPr>
          <a:xfrm>
            <a:off x="-6967425" y="2540888"/>
            <a:ext cx="2158409" cy="2254102"/>
            <a:chOff x="838789" y="541671"/>
            <a:chExt cx="2158409" cy="2254102"/>
          </a:xfrm>
        </p:grpSpPr>
        <p:sp>
          <p:nvSpPr>
            <p:cNvPr id="8" name="Rectangle: Rounded Corners 7">
              <a:extLst>
                <a:ext uri="{FF2B5EF4-FFF2-40B4-BE49-F238E27FC236}">
                  <a16:creationId xmlns:a16="http://schemas.microsoft.com/office/drawing/2014/main" id="{705D3CC9-6442-2B92-AF3A-6AEF40AD9A9A}"/>
                </a:ext>
              </a:extLst>
            </p:cNvPr>
            <p:cNvSpPr/>
            <p:nvPr/>
          </p:nvSpPr>
          <p:spPr>
            <a:xfrm>
              <a:off x="838789" y="541671"/>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1" name="Graphic 30" descr="Alarm clock with solid fill">
              <a:extLst>
                <a:ext uri="{FF2B5EF4-FFF2-40B4-BE49-F238E27FC236}">
                  <a16:creationId xmlns:a16="http://schemas.microsoft.com/office/drawing/2014/main" id="{62A30DA3-38B2-C31D-59F3-2418D6809C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3973" y="826091"/>
              <a:ext cx="1828800" cy="1828800"/>
            </a:xfrm>
            <a:prstGeom prst="rect">
              <a:avLst/>
            </a:prstGeom>
          </p:spPr>
        </p:pic>
      </p:grpSp>
      <p:grpSp>
        <p:nvGrpSpPr>
          <p:cNvPr id="41" name="Group 40">
            <a:extLst>
              <a:ext uri="{FF2B5EF4-FFF2-40B4-BE49-F238E27FC236}">
                <a16:creationId xmlns:a16="http://schemas.microsoft.com/office/drawing/2014/main" id="{826C3B9B-767F-3FFF-1B81-EC727BEB0CCE}"/>
              </a:ext>
            </a:extLst>
          </p:cNvPr>
          <p:cNvGrpSpPr/>
          <p:nvPr/>
        </p:nvGrpSpPr>
        <p:grpSpPr>
          <a:xfrm>
            <a:off x="-4585290" y="2502197"/>
            <a:ext cx="2158409" cy="2254102"/>
            <a:chOff x="7276213" y="4255091"/>
            <a:chExt cx="2158409" cy="2254102"/>
          </a:xfrm>
        </p:grpSpPr>
        <p:sp>
          <p:nvSpPr>
            <p:cNvPr id="13" name="Rectangle: Rounded Corners 12">
              <a:extLst>
                <a:ext uri="{FF2B5EF4-FFF2-40B4-BE49-F238E27FC236}">
                  <a16:creationId xmlns:a16="http://schemas.microsoft.com/office/drawing/2014/main" id="{28392FDA-DD8F-327D-B4C9-4760914CAB5E}"/>
                </a:ext>
              </a:extLst>
            </p:cNvPr>
            <p:cNvSpPr/>
            <p:nvPr/>
          </p:nvSpPr>
          <p:spPr>
            <a:xfrm>
              <a:off x="7276213" y="4255091"/>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3" name="Graphic 32" descr="Bar chart with solid fill">
              <a:extLst>
                <a:ext uri="{FF2B5EF4-FFF2-40B4-BE49-F238E27FC236}">
                  <a16:creationId xmlns:a16="http://schemas.microsoft.com/office/drawing/2014/main" id="{1F4ED02C-23DA-5061-DD68-BF004FF428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78994" y="4506433"/>
              <a:ext cx="1828800" cy="1828800"/>
            </a:xfrm>
            <a:prstGeom prst="rect">
              <a:avLst/>
            </a:prstGeom>
          </p:spPr>
        </p:pic>
      </p:grpSp>
      <p:grpSp>
        <p:nvGrpSpPr>
          <p:cNvPr id="42" name="Group 41">
            <a:extLst>
              <a:ext uri="{FF2B5EF4-FFF2-40B4-BE49-F238E27FC236}">
                <a16:creationId xmlns:a16="http://schemas.microsoft.com/office/drawing/2014/main" id="{D51071E0-0D81-13A8-FD01-FCD42DC90CF1}"/>
              </a:ext>
            </a:extLst>
          </p:cNvPr>
          <p:cNvGrpSpPr/>
          <p:nvPr/>
        </p:nvGrpSpPr>
        <p:grpSpPr>
          <a:xfrm>
            <a:off x="-2282456" y="2522575"/>
            <a:ext cx="2158409" cy="2254102"/>
            <a:chOff x="3449676" y="489689"/>
            <a:chExt cx="2158409" cy="2254102"/>
          </a:xfrm>
        </p:grpSpPr>
        <p:sp>
          <p:nvSpPr>
            <p:cNvPr id="12" name="Rectangle: Rounded Corners 11">
              <a:extLst>
                <a:ext uri="{FF2B5EF4-FFF2-40B4-BE49-F238E27FC236}">
                  <a16:creationId xmlns:a16="http://schemas.microsoft.com/office/drawing/2014/main" id="{4D5DDDCD-5023-2374-94D3-A264366019F8}"/>
                </a:ext>
              </a:extLst>
            </p:cNvPr>
            <p:cNvSpPr/>
            <p:nvPr/>
          </p:nvSpPr>
          <p:spPr>
            <a:xfrm>
              <a:off x="3449676" y="489689"/>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5" name="Graphic 34" descr="Blockchain with solid fill">
              <a:extLst>
                <a:ext uri="{FF2B5EF4-FFF2-40B4-BE49-F238E27FC236}">
                  <a16:creationId xmlns:a16="http://schemas.microsoft.com/office/drawing/2014/main" id="{1E9684CB-A65E-ABFB-378A-714BD934545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14480" y="629389"/>
              <a:ext cx="1828800" cy="1828800"/>
            </a:xfrm>
            <a:prstGeom prst="rect">
              <a:avLst/>
            </a:prstGeom>
          </p:spPr>
        </p:pic>
      </p:grpSp>
      <p:grpSp>
        <p:nvGrpSpPr>
          <p:cNvPr id="44" name="Group 43">
            <a:extLst>
              <a:ext uri="{FF2B5EF4-FFF2-40B4-BE49-F238E27FC236}">
                <a16:creationId xmlns:a16="http://schemas.microsoft.com/office/drawing/2014/main" id="{5F41ED66-0C8F-F5A2-7B09-D847A185CA30}"/>
              </a:ext>
            </a:extLst>
          </p:cNvPr>
          <p:cNvGrpSpPr/>
          <p:nvPr/>
        </p:nvGrpSpPr>
        <p:grpSpPr>
          <a:xfrm>
            <a:off x="3210737" y="1282700"/>
            <a:ext cx="7980325" cy="5334000"/>
            <a:chOff x="9042990" y="629389"/>
            <a:chExt cx="2158409" cy="2254102"/>
          </a:xfrm>
        </p:grpSpPr>
        <p:sp>
          <p:nvSpPr>
            <p:cNvPr id="15" name="Rectangle: Rounded Corners 14">
              <a:extLst>
                <a:ext uri="{FF2B5EF4-FFF2-40B4-BE49-F238E27FC236}">
                  <a16:creationId xmlns:a16="http://schemas.microsoft.com/office/drawing/2014/main" id="{0998DDF8-9C9B-4E19-048A-308072291C61}"/>
                </a:ext>
              </a:extLst>
            </p:cNvPr>
            <p:cNvSpPr/>
            <p:nvPr/>
          </p:nvSpPr>
          <p:spPr>
            <a:xfrm>
              <a:off x="9042990" y="629389"/>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7" name="Graphic 36" descr="Chemicals with solid fill">
              <a:extLst>
                <a:ext uri="{FF2B5EF4-FFF2-40B4-BE49-F238E27FC236}">
                  <a16:creationId xmlns:a16="http://schemas.microsoft.com/office/drawing/2014/main" id="{56E5E7E5-BAE8-9070-2EC8-A640369A1F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391689" y="826091"/>
              <a:ext cx="644905" cy="644905"/>
            </a:xfrm>
            <a:prstGeom prst="rect">
              <a:avLst/>
            </a:prstGeom>
          </p:spPr>
        </p:pic>
      </p:grpSp>
      <p:grpSp>
        <p:nvGrpSpPr>
          <p:cNvPr id="43" name="Group 42">
            <a:extLst>
              <a:ext uri="{FF2B5EF4-FFF2-40B4-BE49-F238E27FC236}">
                <a16:creationId xmlns:a16="http://schemas.microsoft.com/office/drawing/2014/main" id="{FD0AADE2-F81E-0060-C3E5-8140C16A0021}"/>
              </a:ext>
            </a:extLst>
          </p:cNvPr>
          <p:cNvGrpSpPr/>
          <p:nvPr/>
        </p:nvGrpSpPr>
        <p:grpSpPr>
          <a:xfrm>
            <a:off x="158601" y="2522575"/>
            <a:ext cx="2158409" cy="2254102"/>
            <a:chOff x="6363585" y="629980"/>
            <a:chExt cx="2158409" cy="2254102"/>
          </a:xfrm>
        </p:grpSpPr>
        <p:sp>
          <p:nvSpPr>
            <p:cNvPr id="14" name="Rectangle: Rounded Corners 13">
              <a:extLst>
                <a:ext uri="{FF2B5EF4-FFF2-40B4-BE49-F238E27FC236}">
                  <a16:creationId xmlns:a16="http://schemas.microsoft.com/office/drawing/2014/main" id="{0C631AE7-C21F-80D4-D3BA-D80CA05F73C6}"/>
                </a:ext>
              </a:extLst>
            </p:cNvPr>
            <p:cNvSpPr/>
            <p:nvPr/>
          </p:nvSpPr>
          <p:spPr>
            <a:xfrm>
              <a:off x="6363585" y="629980"/>
              <a:ext cx="2158409" cy="225410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9" name="Graphic 38" descr="Bullseye with solid fill">
              <a:extLst>
                <a:ext uri="{FF2B5EF4-FFF2-40B4-BE49-F238E27FC236}">
                  <a16:creationId xmlns:a16="http://schemas.microsoft.com/office/drawing/2014/main" id="{18FB87CA-7063-1107-1458-3CD260AF8B5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26617" y="966973"/>
              <a:ext cx="1828800" cy="1828800"/>
            </a:xfrm>
            <a:prstGeom prst="rect">
              <a:avLst/>
            </a:prstGeom>
          </p:spPr>
        </p:pic>
      </p:grpSp>
      <p:sp>
        <p:nvSpPr>
          <p:cNvPr id="2" name="TextBox 1">
            <a:extLst>
              <a:ext uri="{FF2B5EF4-FFF2-40B4-BE49-F238E27FC236}">
                <a16:creationId xmlns:a16="http://schemas.microsoft.com/office/drawing/2014/main" id="{9949FA96-11D3-95CE-3E4C-172485B6B12C}"/>
              </a:ext>
            </a:extLst>
          </p:cNvPr>
          <p:cNvSpPr txBox="1"/>
          <p:nvPr/>
        </p:nvSpPr>
        <p:spPr>
          <a:xfrm>
            <a:off x="3864787" y="2272317"/>
            <a:ext cx="3923264" cy="3354765"/>
          </a:xfrm>
          <a:prstGeom prst="rect">
            <a:avLst/>
          </a:prstGeom>
          <a:noFill/>
        </p:spPr>
        <p:txBody>
          <a:bodyPr wrap="square" rtlCol="0">
            <a:spAutoFit/>
          </a:bodyPr>
          <a:lstStyle/>
          <a:p>
            <a:r>
              <a:rPr lang="en-US" sz="4400" b="1" dirty="0">
                <a:solidFill>
                  <a:srgbClr val="FF0000"/>
                </a:solidFill>
                <a:effectLst>
                  <a:outerShdw blurRad="38100" dist="38100" dir="2700000" algn="tl">
                    <a:srgbClr val="000000">
                      <a:alpha val="43137"/>
                    </a:srgbClr>
                  </a:outerShdw>
                </a:effectLst>
                <a:latin typeface="Aptos" panose="02110004020202020204"/>
              </a:rPr>
              <a:t>5-</a:t>
            </a:r>
            <a:r>
              <a:rPr lang="en-US" sz="2800" b="1" dirty="0">
                <a:solidFill>
                  <a:srgbClr val="FF0000"/>
                </a:solidFill>
                <a:effectLst>
                  <a:outerShdw blurRad="38100" dist="38100" dir="2700000" algn="tl">
                    <a:srgbClr val="000000">
                      <a:alpha val="43137"/>
                    </a:srgbClr>
                  </a:outerShdw>
                </a:effectLst>
                <a:latin typeface="Aptos" panose="02110004020202020204"/>
              </a:rPr>
              <a:t> Unknown gender </a:t>
            </a:r>
            <a:r>
              <a:rPr lang="en-US" sz="2800" b="1" dirty="0">
                <a:solidFill>
                  <a:srgbClr val="002060"/>
                </a:solidFill>
                <a:effectLst>
                  <a:outerShdw blurRad="38100" dist="38100" dir="2700000" algn="tl">
                    <a:srgbClr val="000000">
                      <a:alpha val="43137"/>
                    </a:srgbClr>
                  </a:outerShdw>
                </a:effectLst>
                <a:latin typeface="Aptos" panose="02110004020202020204"/>
              </a:rPr>
              <a:t>cases can be avoided by validation rule before entering data. Customers-Lack of targeted marketing</a:t>
            </a:r>
          </a:p>
          <a:p>
            <a:endParaRPr lang="en-US" sz="2800" dirty="0">
              <a:solidFill>
                <a:srgbClr val="002060"/>
              </a:solidFill>
            </a:endParaRPr>
          </a:p>
        </p:txBody>
      </p:sp>
      <p:sp>
        <p:nvSpPr>
          <p:cNvPr id="3" name="TextBox 2">
            <a:extLst>
              <a:ext uri="{FF2B5EF4-FFF2-40B4-BE49-F238E27FC236}">
                <a16:creationId xmlns:a16="http://schemas.microsoft.com/office/drawing/2014/main" id="{B6CF909D-EBE9-1D6B-61CF-01334623C872}"/>
              </a:ext>
            </a:extLst>
          </p:cNvPr>
          <p:cNvSpPr txBox="1"/>
          <p:nvPr/>
        </p:nvSpPr>
        <p:spPr>
          <a:xfrm>
            <a:off x="3864787" y="241300"/>
            <a:ext cx="6096000" cy="1938992"/>
          </a:xfrm>
          <a:prstGeom prst="rect">
            <a:avLst/>
          </a:prstGeom>
          <a:noFill/>
        </p:spPr>
        <p:txBody>
          <a:bodyPr wrap="square" rtlCol="0">
            <a:spAutoFit/>
          </a:bodyPr>
          <a:lstStyle/>
          <a:p>
            <a:pPr algn="ctr"/>
            <a:r>
              <a:rPr lang="en-US" sz="6000" b="1" dirty="0">
                <a:ln w="22225">
                  <a:solidFill>
                    <a:schemeClr val="accent2"/>
                  </a:solidFill>
                  <a:prstDash val="solid"/>
                </a:ln>
                <a:solidFill>
                  <a:schemeClr val="accent2">
                    <a:lumMod val="40000"/>
                    <a:lumOff val="60000"/>
                  </a:schemeClr>
                </a:solidFill>
                <a:latin typeface="Andalus" panose="02020603050405020304" pitchFamily="18" charset="-78"/>
                <a:cs typeface="Andalus" panose="02020603050405020304" pitchFamily="18" charset="-78"/>
              </a:rPr>
              <a:t>Recommendations</a:t>
            </a:r>
            <a:endParaRPr lang="en-US" sz="4400" b="1" dirty="0">
              <a:ln w="22225">
                <a:solidFill>
                  <a:schemeClr val="accent2"/>
                </a:solidFill>
                <a:prstDash val="solid"/>
              </a:ln>
              <a:solidFill>
                <a:schemeClr val="accent2">
                  <a:lumMod val="40000"/>
                  <a:lumOff val="60000"/>
                </a:schemeClr>
              </a:solidFill>
              <a:latin typeface="Andalus" panose="02020603050405020304" pitchFamily="18" charset="-78"/>
              <a:cs typeface="Andalus" panose="02020603050405020304" pitchFamily="18" charset="-78"/>
            </a:endParaRPr>
          </a:p>
          <a:p>
            <a:pPr algn="ctr"/>
            <a:endParaRPr lang="en-US" sz="60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917661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5DDAC-24CB-1ECA-08D0-C4CDACF582C1}"/>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B46A591F-88E7-9A05-3937-D27C093726E9}"/>
              </a:ext>
            </a:extLst>
          </p:cNvPr>
          <p:cNvGrpSpPr/>
          <p:nvPr/>
        </p:nvGrpSpPr>
        <p:grpSpPr>
          <a:xfrm rot="1541555">
            <a:off x="-2046889" y="1353483"/>
            <a:ext cx="3922301" cy="3862589"/>
            <a:chOff x="-1714500" y="1054100"/>
            <a:chExt cx="4640700" cy="4076700"/>
          </a:xfrm>
        </p:grpSpPr>
        <p:sp>
          <p:nvSpPr>
            <p:cNvPr id="13" name="Circle: Hollow 12">
              <a:extLst>
                <a:ext uri="{FF2B5EF4-FFF2-40B4-BE49-F238E27FC236}">
                  <a16:creationId xmlns:a16="http://schemas.microsoft.com/office/drawing/2014/main" id="{39AD032F-DAD8-B638-A09E-399A5DC049BF}"/>
                </a:ext>
              </a:extLst>
            </p:cNvPr>
            <p:cNvSpPr/>
            <p:nvPr/>
          </p:nvSpPr>
          <p:spPr>
            <a:xfrm>
              <a:off x="-1714500" y="1054100"/>
              <a:ext cx="4622800" cy="4076700"/>
            </a:xfrm>
            <a:prstGeom prst="donut">
              <a:avLst>
                <a:gd name="adj" fmla="val 20328"/>
              </a:avLst>
            </a:prstGeom>
            <a:gradFill flip="none" rotWithShape="1">
              <a:gsLst>
                <a:gs pos="0">
                  <a:schemeClr val="accent1">
                    <a:lumMod val="40000"/>
                    <a:lumOff val="60000"/>
                    <a:shade val="30000"/>
                    <a:satMod val="115000"/>
                  </a:schemeClr>
                </a:gs>
                <a:gs pos="50000">
                  <a:schemeClr val="accent1">
                    <a:lumMod val="40000"/>
                    <a:lumOff val="60000"/>
                    <a:shade val="67500"/>
                    <a:satMod val="115000"/>
                  </a:schemeClr>
                </a:gs>
                <a:gs pos="100000">
                  <a:schemeClr val="accent1">
                    <a:lumMod val="40000"/>
                    <a:lumOff val="60000"/>
                    <a:shade val="100000"/>
                    <a:satMod val="115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Block Arc 15">
              <a:extLst>
                <a:ext uri="{FF2B5EF4-FFF2-40B4-BE49-F238E27FC236}">
                  <a16:creationId xmlns:a16="http://schemas.microsoft.com/office/drawing/2014/main" id="{77846BE5-48C8-5849-3562-615BB322A68D}"/>
                </a:ext>
              </a:extLst>
            </p:cNvPr>
            <p:cNvSpPr/>
            <p:nvPr/>
          </p:nvSpPr>
          <p:spPr>
            <a:xfrm rot="11412620">
              <a:off x="-985215" y="1484633"/>
              <a:ext cx="3911415" cy="3604223"/>
            </a:xfrm>
            <a:prstGeom prst="blockArc">
              <a:avLst>
                <a:gd name="adj1" fmla="val 10800000"/>
                <a:gd name="adj2" fmla="val 14911070"/>
                <a:gd name="adj3" fmla="val 29888"/>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0" name="Rectangle: Rounded Corners 19">
            <a:extLst>
              <a:ext uri="{FF2B5EF4-FFF2-40B4-BE49-F238E27FC236}">
                <a16:creationId xmlns:a16="http://schemas.microsoft.com/office/drawing/2014/main" id="{E067EA72-656A-179D-1942-B29F16FF70B6}"/>
              </a:ext>
            </a:extLst>
          </p:cNvPr>
          <p:cNvSpPr/>
          <p:nvPr/>
        </p:nvSpPr>
        <p:spPr>
          <a:xfrm>
            <a:off x="3404751" y="1790699"/>
            <a:ext cx="8169134" cy="4584701"/>
          </a:xfrm>
          <a:prstGeom prst="roundRect">
            <a:avLst>
              <a:gd name="adj" fmla="val 16131"/>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9" name="Rectangle: Rounded Corners 18">
            <a:extLst>
              <a:ext uri="{FF2B5EF4-FFF2-40B4-BE49-F238E27FC236}">
                <a16:creationId xmlns:a16="http://schemas.microsoft.com/office/drawing/2014/main" id="{140B923C-1D85-03D9-E306-17290CDB8B99}"/>
              </a:ext>
            </a:extLst>
          </p:cNvPr>
          <p:cNvSpPr/>
          <p:nvPr/>
        </p:nvSpPr>
        <p:spPr>
          <a:xfrm>
            <a:off x="2771728" y="876300"/>
            <a:ext cx="8535613" cy="1498600"/>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2" name="TextBox 21">
            <a:extLst>
              <a:ext uri="{FF2B5EF4-FFF2-40B4-BE49-F238E27FC236}">
                <a16:creationId xmlns:a16="http://schemas.microsoft.com/office/drawing/2014/main" id="{7FFBCF95-BD1C-572C-A552-F8B0CB7E1ADA}"/>
              </a:ext>
            </a:extLst>
          </p:cNvPr>
          <p:cNvSpPr txBox="1"/>
          <p:nvPr/>
        </p:nvSpPr>
        <p:spPr>
          <a:xfrm>
            <a:off x="5202928" y="1232900"/>
            <a:ext cx="68834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w="0"/>
                <a:solidFill>
                  <a:srgbClr val="FFFFFF"/>
                </a:solidFill>
                <a:effectLst>
                  <a:outerShdw blurRad="38100" dist="19050" dir="2700000" algn="tl" rotWithShape="0">
                    <a:srgbClr val="000000">
                      <a:alpha val="40000"/>
                    </a:srgbClr>
                  </a:outerShdw>
                </a:effectLst>
                <a:uLnTx/>
                <a:uFillTx/>
                <a:latin typeface="Arial"/>
                <a:ea typeface="+mn-ea"/>
                <a:cs typeface="+mn-cs"/>
              </a:rPr>
              <a:t>Deliverables</a:t>
            </a:r>
            <a:endParaRPr kumimoji="0" lang="en-US" sz="4800" b="0" i="0" u="none" strike="noStrike" kern="1200" cap="none" spc="0" normalizeH="0" baseline="0" noProof="0" dirty="0">
              <a:ln w="0"/>
              <a:solidFill>
                <a:srgbClr val="FFFFFF"/>
              </a:solidFill>
              <a:effectLst>
                <a:glow rad="101600">
                  <a:srgbClr val="0065A4">
                    <a:satMod val="175000"/>
                    <a:alpha val="40000"/>
                  </a:srgbClr>
                </a:glow>
                <a:outerShdw blurRad="38100" dist="19050" dir="2700000" algn="tl" rotWithShape="0">
                  <a:srgbClr val="000000">
                    <a:alpha val="40000"/>
                  </a:srgbClr>
                </a:outerShdw>
              </a:effectLst>
              <a:uLnTx/>
              <a:uFillTx/>
              <a:latin typeface="Arial"/>
              <a:ea typeface="+mn-ea"/>
              <a:cs typeface="+mn-cs"/>
            </a:endParaRPr>
          </a:p>
        </p:txBody>
      </p:sp>
      <p:pic>
        <p:nvPicPr>
          <p:cNvPr id="26" name="Graphic 25" descr="Abacus with solid fill">
            <a:extLst>
              <a:ext uri="{FF2B5EF4-FFF2-40B4-BE49-F238E27FC236}">
                <a16:creationId xmlns:a16="http://schemas.microsoft.com/office/drawing/2014/main" id="{694F74AC-5665-9711-AEC9-6682608C93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2540" y="1782938"/>
            <a:ext cx="741624" cy="741624"/>
          </a:xfrm>
          <a:prstGeom prst="rect">
            <a:avLst/>
          </a:prstGeom>
        </p:spPr>
      </p:pic>
      <p:pic>
        <p:nvPicPr>
          <p:cNvPr id="3" name="Graphic 2" descr="Circles with lines with solid fill">
            <a:extLst>
              <a:ext uri="{FF2B5EF4-FFF2-40B4-BE49-F238E27FC236}">
                <a16:creationId xmlns:a16="http://schemas.microsoft.com/office/drawing/2014/main" id="{1BE31CF7-A3FD-EB45-B721-F11EC8435D1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7329" y="2463899"/>
            <a:ext cx="1016000" cy="914400"/>
          </a:xfrm>
          <a:prstGeom prst="rect">
            <a:avLst/>
          </a:prstGeom>
        </p:spPr>
      </p:pic>
      <p:pic>
        <p:nvPicPr>
          <p:cNvPr id="6" name="Graphic 5" descr="Chemicals with solid fill">
            <a:extLst>
              <a:ext uri="{FF2B5EF4-FFF2-40B4-BE49-F238E27FC236}">
                <a16:creationId xmlns:a16="http://schemas.microsoft.com/office/drawing/2014/main" id="{690DBD26-FB43-8D6A-47BC-5E349F322D4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7329" y="3378299"/>
            <a:ext cx="914400" cy="914400"/>
          </a:xfrm>
          <a:prstGeom prst="rect">
            <a:avLst/>
          </a:prstGeom>
        </p:spPr>
      </p:pic>
      <p:pic>
        <p:nvPicPr>
          <p:cNvPr id="7" name="Graphic 6" descr="Bullseye with solid fill">
            <a:extLst>
              <a:ext uri="{FF2B5EF4-FFF2-40B4-BE49-F238E27FC236}">
                <a16:creationId xmlns:a16="http://schemas.microsoft.com/office/drawing/2014/main" id="{FA22A117-9808-8D32-8719-CDCAF8615CB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340" y="4209518"/>
            <a:ext cx="914400" cy="914400"/>
          </a:xfrm>
          <a:prstGeom prst="rect">
            <a:avLst/>
          </a:prstGeom>
        </p:spPr>
      </p:pic>
      <p:sp>
        <p:nvSpPr>
          <p:cNvPr id="8" name="TextBox 7">
            <a:extLst>
              <a:ext uri="{FF2B5EF4-FFF2-40B4-BE49-F238E27FC236}">
                <a16:creationId xmlns:a16="http://schemas.microsoft.com/office/drawing/2014/main" id="{3F130538-4E8C-E8F8-7D9D-B584E1D73F1C}"/>
              </a:ext>
            </a:extLst>
          </p:cNvPr>
          <p:cNvSpPr txBox="1"/>
          <p:nvPr/>
        </p:nvSpPr>
        <p:spPr>
          <a:xfrm>
            <a:off x="4166752" y="2437142"/>
            <a:ext cx="6645132" cy="3938258"/>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Loaded Files on GitHub:</a:t>
            </a:r>
          </a:p>
          <a:p>
            <a:pPr marL="0" marR="0" lvl="0" indent="0" algn="l" defTabSz="914400" rtl="0" eaLnBrk="1" fontAlgn="auto" latinLnBrk="0" hangingPunct="1">
              <a:lnSpc>
                <a:spcPct val="110000"/>
              </a:lnSpc>
              <a:spcBef>
                <a:spcPts val="0"/>
              </a:spcBef>
              <a:spcAft>
                <a:spcPts val="0"/>
              </a:spcAft>
              <a:buClrTx/>
              <a:buSzTx/>
              <a:buFontTx/>
              <a:buNone/>
              <a:tabLst/>
              <a:defRPr/>
            </a:pPr>
            <a:r>
              <a:rPr lang="en-US" sz="2000" b="1" dirty="0">
                <a:solidFill>
                  <a:srgbClr val="0E2841">
                    <a:lumMod val="90000"/>
                    <a:lumOff val="10000"/>
                  </a:srgbClr>
                </a:solidFill>
                <a:effectLst>
                  <a:outerShdw blurRad="38100" dist="38100" dir="2700000" algn="tl">
                    <a:srgbClr val="000000">
                      <a:alpha val="43137"/>
                    </a:srgbClr>
                  </a:outerShdw>
                </a:effectLst>
                <a:latin typeface="Aptos" panose="020B0004020202020204" pitchFamily="34" charset="0"/>
                <a:cs typeface="Angsana New" panose="02020603050405020304" pitchFamily="18" charset="-34"/>
              </a:rPr>
              <a:t>1- Presentation</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2- Documentation PDF</a:t>
            </a:r>
          </a:p>
          <a:p>
            <a:pPr marL="0" marR="0" lvl="0" indent="0" algn="l" defTabSz="914400" rtl="0" eaLnBrk="1" fontAlgn="auto" latinLnBrk="0" hangingPunct="1">
              <a:lnSpc>
                <a:spcPct val="110000"/>
              </a:lnSpc>
              <a:spcBef>
                <a:spcPts val="0"/>
              </a:spcBef>
              <a:spcAft>
                <a:spcPts val="0"/>
              </a:spcAft>
              <a:buClrTx/>
              <a:buSzTx/>
              <a:buFontTx/>
              <a:buNone/>
              <a:tabLst/>
              <a:defRPr/>
            </a:pPr>
            <a:r>
              <a:rPr lang="en-US" sz="2000" b="1" dirty="0">
                <a:solidFill>
                  <a:srgbClr val="0E2841">
                    <a:lumMod val="90000"/>
                    <a:lumOff val="10000"/>
                  </a:srgbClr>
                </a:solidFill>
                <a:effectLst>
                  <a:outerShdw blurRad="38100" dist="38100" dir="2700000" algn="tl">
                    <a:srgbClr val="000000">
                      <a:alpha val="43137"/>
                    </a:srgbClr>
                  </a:outerShdw>
                </a:effectLst>
                <a:latin typeface="Aptos" panose="020B0004020202020204" pitchFamily="34" charset="0"/>
                <a:cs typeface="Angsana New" panose="02020603050405020304" pitchFamily="18" charset="-34"/>
              </a:rPr>
              <a:t>3- Final Notebook</a:t>
            </a:r>
          </a:p>
          <a:p>
            <a:pPr>
              <a:lnSpc>
                <a:spcPct val="110000"/>
              </a:lnSpc>
              <a:defRPr/>
            </a:pP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4- </a:t>
            </a:r>
            <a:r>
              <a:rPr lang="en-US" sz="2000" b="1" dirty="0">
                <a:solidFill>
                  <a:srgbClr val="0E2841">
                    <a:lumMod val="90000"/>
                    <a:lumOff val="10000"/>
                  </a:srgbClr>
                </a:solidFill>
                <a:effectLst>
                  <a:outerShdw blurRad="38100" dist="38100" dir="2700000" algn="tl">
                    <a:srgbClr val="000000">
                      <a:alpha val="43137"/>
                    </a:srgbClr>
                  </a:outerShdw>
                </a:effectLst>
                <a:latin typeface="Aptos" panose="020B0004020202020204" pitchFamily="34" charset="0"/>
                <a:cs typeface="Angsana New" panose="02020603050405020304" pitchFamily="18" charset="-34"/>
              </a:rPr>
              <a:t>Final SQL</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5- Final Tableau</a:t>
            </a:r>
          </a:p>
          <a:p>
            <a:pPr>
              <a:lnSpc>
                <a:spcPct val="110000"/>
              </a:lnSpc>
              <a:defRPr/>
            </a:pPr>
            <a:r>
              <a:rPr lang="en-US" sz="2000" b="1" dirty="0">
                <a:solidFill>
                  <a:srgbClr val="0E2841">
                    <a:lumMod val="90000"/>
                    <a:lumOff val="10000"/>
                  </a:srgbClr>
                </a:solidFill>
                <a:effectLst>
                  <a:outerShdw blurRad="38100" dist="38100" dir="2700000" algn="tl">
                    <a:srgbClr val="000000">
                      <a:alpha val="43137"/>
                    </a:srgbClr>
                  </a:outerShdw>
                </a:effectLst>
                <a:latin typeface="Aptos" panose="020B0004020202020204" pitchFamily="34" charset="0"/>
                <a:cs typeface="Angsana New" panose="02020603050405020304" pitchFamily="18" charset="-34"/>
              </a:rPr>
              <a:t>6- Original data CSV file</a:t>
            </a:r>
          </a:p>
          <a:p>
            <a:pPr marL="0" marR="0" lvl="0" indent="0" algn="l" defTabSz="914400" rtl="0" eaLnBrk="1" fontAlgn="auto" latinLnBrk="0" hangingPunct="1">
              <a:lnSpc>
                <a:spcPct val="110000"/>
              </a:lnSpc>
              <a:spcBef>
                <a:spcPts val="0"/>
              </a:spcBef>
              <a:spcAft>
                <a:spcPts val="0"/>
              </a:spcAft>
              <a:buClrTx/>
              <a:buSzTx/>
              <a:buFontTx/>
              <a:buNone/>
              <a:tabLst/>
              <a:defRPr/>
            </a:pPr>
            <a:r>
              <a:rPr lang="en-US" sz="2000" b="1" dirty="0">
                <a:solidFill>
                  <a:srgbClr val="0E2841">
                    <a:lumMod val="90000"/>
                    <a:lumOff val="10000"/>
                  </a:srgbClr>
                </a:solidFill>
                <a:effectLst>
                  <a:outerShdw blurRad="38100" dist="38100" dir="2700000" algn="tl">
                    <a:srgbClr val="000000">
                      <a:alpha val="43137"/>
                    </a:srgbClr>
                  </a:outerShdw>
                </a:effectLst>
                <a:latin typeface="Aptos" panose="020B0004020202020204" pitchFamily="34" charset="0"/>
                <a:cs typeface="Angsana New" panose="02020603050405020304" pitchFamily="18" charset="-34"/>
              </a:rPr>
              <a:t>7</a:t>
            </a: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rPr>
              <a:t>- Excel data file</a:t>
            </a:r>
          </a:p>
          <a:p>
            <a:pPr marL="0" marR="0" lvl="0" indent="0" algn="l" defTabSz="914400" rtl="0" eaLnBrk="1" fontAlgn="auto" latinLnBrk="0" hangingPunct="1">
              <a:lnSpc>
                <a:spcPct val="110000"/>
              </a:lnSpc>
              <a:spcBef>
                <a:spcPts val="0"/>
              </a:spcBef>
              <a:spcAft>
                <a:spcPts val="0"/>
              </a:spcAft>
              <a:buClrTx/>
              <a:buSzTx/>
              <a:buFontTx/>
              <a:buNone/>
              <a:tabLst/>
              <a:defRPr/>
            </a:pPr>
            <a:r>
              <a:rPr lang="en-US" sz="2000" b="1" dirty="0">
                <a:solidFill>
                  <a:srgbClr val="FF0000"/>
                </a:solidFill>
                <a:effectLst>
                  <a:outerShdw blurRad="38100" dist="38100" dir="2700000" algn="tl">
                    <a:srgbClr val="000000">
                      <a:alpha val="43137"/>
                    </a:srgbClr>
                  </a:outerShdw>
                </a:effectLst>
                <a:latin typeface="Aptos" panose="020B0004020202020204" pitchFamily="34" charset="0"/>
                <a:cs typeface="Angsana New" panose="02020603050405020304" pitchFamily="18" charset="-34"/>
              </a:rPr>
              <a:t>GitHub Link:</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hlinkClick r:id="rId10"/>
              </a:rPr>
              <a:t>https://github.com/OmarAhmedAI/DEPI-Project</a:t>
            </a:r>
            <a:endPar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0E2841">
                  <a:lumMod val="90000"/>
                  <a:lumOff val="10000"/>
                </a:srgbClr>
              </a:solidFill>
              <a:effectLst>
                <a:outerShdw blurRad="38100" dist="38100" dir="2700000" algn="tl">
                  <a:srgbClr val="000000">
                    <a:alpha val="43137"/>
                  </a:srgbClr>
                </a:outerShdw>
              </a:effectLst>
              <a:uLnTx/>
              <a:uFillTx/>
              <a:latin typeface="Aptos" panose="020B0004020202020204" pitchFamily="34" charset="0"/>
              <a:ea typeface="+mn-ea"/>
              <a:cs typeface="Angsana New" panose="02020603050405020304" pitchFamily="18" charset="-34"/>
            </a:endParaRPr>
          </a:p>
        </p:txBody>
      </p:sp>
    </p:spTree>
    <p:extLst>
      <p:ext uri="{BB962C8B-B14F-4D97-AF65-F5344CB8AC3E}">
        <p14:creationId xmlns:p14="http://schemas.microsoft.com/office/powerpoint/2010/main" val="2450129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group of people standing together&#10;&#10;AI-generated content may be incorrect.">
            <a:extLst>
              <a:ext uri="{FF2B5EF4-FFF2-40B4-BE49-F238E27FC236}">
                <a16:creationId xmlns:a16="http://schemas.microsoft.com/office/drawing/2014/main" id="{99F1499B-1A80-2D32-B486-547433BB9A40}"/>
              </a:ext>
            </a:extLst>
          </p:cNvPr>
          <p:cNvPicPr>
            <a:picLocks noChangeAspect="1"/>
          </p:cNvPicPr>
          <p:nvPr/>
        </p:nvPicPr>
        <p:blipFill>
          <a:blip r:embed="rId2"/>
          <a:srcRect r="-1" b="9119"/>
          <a:stretch>
            <a:fillRect/>
          </a:stretch>
        </p:blipFill>
        <p:spPr>
          <a:xfrm>
            <a:off x="4110087" y="1444649"/>
            <a:ext cx="7548513" cy="45790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Text Placeholder 3">
            <a:extLst>
              <a:ext uri="{FF2B5EF4-FFF2-40B4-BE49-F238E27FC236}">
                <a16:creationId xmlns:a16="http://schemas.microsoft.com/office/drawing/2014/main" id="{C56E0CC5-128B-32A7-AF9D-5B63E4270C82}"/>
              </a:ext>
            </a:extLst>
          </p:cNvPr>
          <p:cNvSpPr>
            <a:spLocks noGrp="1"/>
          </p:cNvSpPr>
          <p:nvPr>
            <p:ph type="body" sz="half" idx="2"/>
          </p:nvPr>
        </p:nvSpPr>
        <p:spPr>
          <a:xfrm>
            <a:off x="305142" y="2050246"/>
            <a:ext cx="3365063" cy="3668384"/>
          </a:xfrm>
        </p:spPr>
        <p:txBody>
          <a:bodyPr>
            <a:normAutofit lnSpcReduction="10000"/>
          </a:bodyPr>
          <a:lstStyle/>
          <a:p>
            <a:r>
              <a:rPr lang="en-US" b="1" dirty="0"/>
              <a:t>Thanks to </a:t>
            </a:r>
            <a:r>
              <a:rPr lang="en-US" b="1" dirty="0">
                <a:solidFill>
                  <a:srgbClr val="FF0000"/>
                </a:solidFill>
              </a:rPr>
              <a:t>MCIT</a:t>
            </a:r>
            <a:r>
              <a:rPr lang="en-US" b="1" dirty="0"/>
              <a:t> and </a:t>
            </a:r>
            <a:r>
              <a:rPr lang="en-US" b="1" dirty="0">
                <a:solidFill>
                  <a:srgbClr val="FF0000"/>
                </a:solidFill>
              </a:rPr>
              <a:t>DEPI</a:t>
            </a:r>
          </a:p>
          <a:p>
            <a:r>
              <a:rPr lang="en-US" b="1" dirty="0"/>
              <a:t>We would like to extend our sincere gratitude to </a:t>
            </a:r>
            <a:r>
              <a:rPr lang="en-US" b="1" dirty="0">
                <a:solidFill>
                  <a:srgbClr val="FF0000"/>
                </a:solidFill>
              </a:rPr>
              <a:t>Eng. Ahmed Samir</a:t>
            </a:r>
            <a:r>
              <a:rPr lang="en-US" b="1" dirty="0"/>
              <a:t> , our Data Analysis instructor, for his exceptional leadership and professionalism throughout the past six months. His guidance and expertise have been instrumental in shaping our understanding and approach to analytical thinking.</a:t>
            </a:r>
          </a:p>
          <a:p>
            <a:r>
              <a:rPr lang="en-US" b="1" dirty="0"/>
              <a:t>We also deeply appreciate the dedication and collaborative spirit of our project team, whose consistent effort and commitment made this achievement possible.</a:t>
            </a:r>
          </a:p>
        </p:txBody>
      </p:sp>
      <p:pic>
        <p:nvPicPr>
          <p:cNvPr id="17" name="Picture 16">
            <a:extLst>
              <a:ext uri="{FF2B5EF4-FFF2-40B4-BE49-F238E27FC236}">
                <a16:creationId xmlns:a16="http://schemas.microsoft.com/office/drawing/2014/main" id="{764D89EF-4686-AFA1-645B-9E0DBB6E38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43617"/>
            <a:ext cx="1735080" cy="1301032"/>
          </a:xfrm>
          <a:prstGeom prst="roundRect">
            <a:avLst>
              <a:gd name="adj" fmla="val 17767"/>
            </a:avLst>
          </a:prstGeom>
          <a:solidFill>
            <a:srgbClr val="FFFFFF">
              <a:shade val="85000"/>
            </a:srgbClr>
          </a:solidFill>
          <a:ln>
            <a:noFill/>
          </a:ln>
          <a:effectLst>
            <a:reflection blurRad="12700" stA="38000" endPos="28000" dist="5000" dir="5400000" sy="-100000" algn="bl" rotWithShape="0"/>
          </a:effectLst>
        </p:spPr>
      </p:pic>
      <p:pic>
        <p:nvPicPr>
          <p:cNvPr id="18" name="Picture 17" descr="A logo for a company&#10;&#10;AI-generated content may be incorrect.">
            <a:extLst>
              <a:ext uri="{FF2B5EF4-FFF2-40B4-BE49-F238E27FC236}">
                <a16:creationId xmlns:a16="http://schemas.microsoft.com/office/drawing/2014/main" id="{11CA32E2-E8BF-34C5-5E5D-56DA42A8F4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66744" y="86620"/>
            <a:ext cx="1581941" cy="1212356"/>
          </a:xfrm>
          <a:prstGeom prst="roundRect">
            <a:avLst>
              <a:gd name="adj" fmla="val 17009"/>
            </a:avLst>
          </a:prstGeom>
          <a:solidFill>
            <a:srgbClr val="FFFFFF">
              <a:shade val="85000"/>
            </a:srgbClr>
          </a:solidFill>
          <a:ln>
            <a:noFill/>
          </a:ln>
          <a:effectLst>
            <a:reflection blurRad="12700" stA="38000" endPos="28000" dist="5000" dir="5400000" sy="-100000" algn="bl" rotWithShape="0"/>
          </a:effectLst>
        </p:spPr>
      </p:pic>
      <p:sp>
        <p:nvSpPr>
          <p:cNvPr id="2" name="Slide Number Placeholder 1">
            <a:extLst>
              <a:ext uri="{FF2B5EF4-FFF2-40B4-BE49-F238E27FC236}">
                <a16:creationId xmlns:a16="http://schemas.microsoft.com/office/drawing/2014/main" id="{DB700BA4-EA8F-A11E-D165-56565AD30091}"/>
              </a:ext>
            </a:extLst>
          </p:cNvPr>
          <p:cNvSpPr>
            <a:spLocks noGrp="1"/>
          </p:cNvSpPr>
          <p:nvPr>
            <p:ph type="sldNum" sz="quarter" idx="12"/>
          </p:nvPr>
        </p:nvSpPr>
        <p:spPr/>
        <p:txBody>
          <a:bodyPr/>
          <a:lstStyle/>
          <a:p>
            <a:fld id="{C263D6C4-4840-40CC-AC84-17E24B3B7BDE}" type="slidenum">
              <a:rPr lang="en-US" noProof="0" smtClean="0"/>
              <a:pPr/>
              <a:t>35</a:t>
            </a:fld>
            <a:endParaRPr lang="en-US" noProof="0" dirty="0"/>
          </a:p>
        </p:txBody>
      </p:sp>
    </p:spTree>
    <p:extLst>
      <p:ext uri="{BB962C8B-B14F-4D97-AF65-F5344CB8AC3E}">
        <p14:creationId xmlns:p14="http://schemas.microsoft.com/office/powerpoint/2010/main" val="385962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50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Video 2" title="Stars In The Sky">
            <a:hlinkClick r:id="" action="ppaction://media"/>
            <a:extLst>
              <a:ext uri="{FF2B5EF4-FFF2-40B4-BE49-F238E27FC236}">
                <a16:creationId xmlns:a16="http://schemas.microsoft.com/office/drawing/2014/main" id="{42AE29D9-C41A-E7AC-4C9F-B3FE5498785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AF1B1E86-E8FD-CE25-F0E9-27C0B94433D7}"/>
              </a:ext>
            </a:extLst>
          </p:cNvPr>
          <p:cNvSpPr txBox="1"/>
          <p:nvPr/>
        </p:nvSpPr>
        <p:spPr>
          <a:xfrm>
            <a:off x="2711116" y="586091"/>
            <a:ext cx="6769768" cy="10248960"/>
          </a:xfrm>
          <a:prstGeom prst="rect">
            <a:avLst/>
          </a:prstGeom>
          <a:noFill/>
        </p:spPr>
        <p:txBody>
          <a:bodyPr wrap="square" rtlCol="0">
            <a:spAutoFit/>
          </a:bodyPr>
          <a:lstStyle/>
          <a:p>
            <a:pPr algn="ctr"/>
            <a:r>
              <a:rPr lang="en-US" sz="6000" dirty="0">
                <a:solidFill>
                  <a:schemeClr val="bg1"/>
                </a:solidFill>
              </a:rPr>
              <a:t>Thanks For Challenge Team:</a:t>
            </a:r>
          </a:p>
          <a:p>
            <a:pPr algn="ctr"/>
            <a:r>
              <a:rPr lang="en-US" sz="6000" dirty="0">
                <a:solidFill>
                  <a:schemeClr val="bg1"/>
                </a:solidFill>
              </a:rPr>
              <a:t>Doaa </a:t>
            </a:r>
          </a:p>
          <a:p>
            <a:pPr algn="ctr"/>
            <a:r>
              <a:rPr lang="en-US" sz="6000" dirty="0">
                <a:solidFill>
                  <a:schemeClr val="bg1"/>
                </a:solidFill>
              </a:rPr>
              <a:t>Mervat </a:t>
            </a:r>
          </a:p>
          <a:p>
            <a:pPr algn="ctr"/>
            <a:r>
              <a:rPr lang="en-US" sz="6000" dirty="0">
                <a:solidFill>
                  <a:schemeClr val="bg1"/>
                </a:solidFill>
              </a:rPr>
              <a:t>Monica</a:t>
            </a:r>
          </a:p>
          <a:p>
            <a:pPr algn="ctr"/>
            <a:r>
              <a:rPr lang="en-US" sz="6000" dirty="0">
                <a:solidFill>
                  <a:schemeClr val="bg1"/>
                </a:solidFill>
              </a:rPr>
              <a:t>Reham </a:t>
            </a:r>
          </a:p>
          <a:p>
            <a:pPr algn="ctr"/>
            <a:r>
              <a:rPr lang="en-US" sz="6000" dirty="0">
                <a:solidFill>
                  <a:schemeClr val="bg1"/>
                </a:solidFill>
              </a:rPr>
              <a:t>Omar</a:t>
            </a:r>
          </a:p>
          <a:p>
            <a:pPr algn="ctr"/>
            <a:r>
              <a:rPr lang="en-US" sz="6000" dirty="0">
                <a:solidFill>
                  <a:schemeClr val="bg1"/>
                </a:solidFill>
              </a:rPr>
              <a:t>Thanks for your</a:t>
            </a:r>
          </a:p>
          <a:p>
            <a:pPr algn="ctr"/>
            <a:r>
              <a:rPr lang="en-US" sz="6000" dirty="0">
                <a:solidFill>
                  <a:schemeClr val="bg1"/>
                </a:solidFill>
              </a:rPr>
              <a:t> interest </a:t>
            </a:r>
          </a:p>
          <a:p>
            <a:pPr algn="ctr"/>
            <a:r>
              <a:rPr lang="en-US" sz="6000" dirty="0">
                <a:solidFill>
                  <a:schemeClr val="bg1"/>
                </a:solidFill>
              </a:rPr>
              <a:t>and</a:t>
            </a:r>
          </a:p>
          <a:p>
            <a:pPr algn="ctr"/>
            <a:r>
              <a:rPr lang="en-US" sz="6000" dirty="0">
                <a:solidFill>
                  <a:schemeClr val="bg1"/>
                </a:solidFill>
              </a:rPr>
              <a:t> valuable questions.</a:t>
            </a:r>
          </a:p>
        </p:txBody>
      </p:sp>
      <p:sp>
        <p:nvSpPr>
          <p:cNvPr id="2" name="Slide Number Placeholder 1">
            <a:extLst>
              <a:ext uri="{FF2B5EF4-FFF2-40B4-BE49-F238E27FC236}">
                <a16:creationId xmlns:a16="http://schemas.microsoft.com/office/drawing/2014/main" id="{75F13498-5BC4-7D42-724D-2D3D6F08A2C7}"/>
              </a:ext>
            </a:extLst>
          </p:cNvPr>
          <p:cNvSpPr>
            <a:spLocks noGrp="1"/>
          </p:cNvSpPr>
          <p:nvPr>
            <p:ph type="sldNum" sz="quarter" idx="12"/>
          </p:nvPr>
        </p:nvSpPr>
        <p:spPr/>
        <p:txBody>
          <a:bodyPr/>
          <a:lstStyle/>
          <a:p>
            <a:fld id="{C263D6C4-4840-40CC-AC84-17E24B3B7BDE}" type="slidenum">
              <a:rPr lang="en-US" noProof="0" smtClean="0"/>
              <a:pPr/>
              <a:t>36</a:t>
            </a:fld>
            <a:endParaRPr lang="en-US" noProof="0" dirty="0"/>
          </a:p>
        </p:txBody>
      </p:sp>
    </p:spTree>
    <p:extLst>
      <p:ext uri="{BB962C8B-B14F-4D97-AF65-F5344CB8AC3E}">
        <p14:creationId xmlns:p14="http://schemas.microsoft.com/office/powerpoint/2010/main" val="3686402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642" fill="hold"/>
                                        <p:tgtEl>
                                          <p:spTgt spid="3"/>
                                        </p:tgtEl>
                                      </p:cBhvr>
                                    </p:cmd>
                                  </p:childTnLst>
                                </p:cTn>
                              </p:par>
                              <p:par>
                                <p:cTn id="7" presetID="28"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p:cTn id="9" dur="7000" fill="hold"/>
                                        <p:tgtEl>
                                          <p:spTgt spid="4"/>
                                        </p:tgtEl>
                                        <p:attrNameLst>
                                          <p:attrName>ppt_x</p:attrName>
                                        </p:attrNameLst>
                                      </p:cBhvr>
                                      <p:tavLst>
                                        <p:tav tm="0">
                                          <p:val>
                                            <p:strVal val="#ppt_x"/>
                                          </p:val>
                                        </p:tav>
                                        <p:tav tm="100000">
                                          <p:val>
                                            <p:strVal val="#ppt_x"/>
                                          </p:val>
                                        </p:tav>
                                      </p:tavLst>
                                    </p:anim>
                                    <p:anim calcmode="lin" valueType="num">
                                      <p:cBhvr>
                                        <p:cTn id="10" dur="7000" fill="hold"/>
                                        <p:tgtEl>
                                          <p:spTgt spid="4"/>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1" repeatCount="indefinite" fill="hold" display="0">
                  <p:stCondLst>
                    <p:cond delay="indefinite"/>
                  </p:stCondLst>
                </p:cTn>
                <p:tgtEl>
                  <p:spTgt spid="3"/>
                </p:tgtEl>
              </p:cMediaNode>
            </p:video>
            <p:seq concurrent="1" nextAc="seek">
              <p:cTn id="12" restart="whenNotActive" fill="hold" evtFilter="cancelBubble" nodeType="interactiveSeq">
                <p:stCondLst>
                  <p:cond evt="onClick" delay="0">
                    <p:tgtEl>
                      <p:spTgt spid="3"/>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3"/>
                                        </p:tgtEl>
                                      </p:cBhvr>
                                    </p:cmd>
                                  </p:childTnLst>
                                </p:cTn>
                              </p:par>
                            </p:childTnLst>
                          </p:cTn>
                        </p:par>
                      </p:childTnLst>
                    </p:cTn>
                  </p:par>
                </p:childTnLst>
              </p:cTn>
              <p:nextCondLst>
                <p:cond evt="onClick" delay="0">
                  <p:tgtEl>
                    <p:spTgt spid="3"/>
                  </p:tgtEl>
                </p:cond>
              </p:nextCondLst>
            </p:seq>
          </p:childTnLst>
        </p:cTn>
      </p:par>
    </p:tnLst>
    <p:bldLst>
      <p:bldP spid="4" grpId="0"/>
    </p:bldLst>
  </p:timing>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F5757914-1161-4661-9696-421FD6935CDD}">
  <ds:schemaRefs>
    <ds:schemaRef ds:uri="http://purl.org/dc/terms/"/>
    <ds:schemaRef ds:uri="http://schemas.microsoft.com/office/2006/metadata/properties"/>
    <ds:schemaRef ds:uri="http://www.w3.org/XML/1998/namespace"/>
    <ds:schemaRef ds:uri="http://purl.org/dc/dcmitype/"/>
    <ds:schemaRef ds:uri="http://schemas.microsoft.com/office/2006/documentManagement/types"/>
    <ds:schemaRef ds:uri="http://schemas.openxmlformats.org/package/2006/metadata/core-properties"/>
    <ds:schemaRef ds:uri="http://purl.org/dc/elements/1.1/"/>
    <ds:schemaRef ds:uri="http://schemas.microsoft.com/office/infopath/2007/PartnerControls"/>
    <ds:schemaRef ds:uri="16c05727-aa75-4e4a-9b5f-8a80a1165891"/>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1102</TotalTime>
  <Words>1105</Words>
  <Application>Microsoft Office PowerPoint</Application>
  <PresentationFormat>Widescreen</PresentationFormat>
  <Paragraphs>274</Paragraphs>
  <Slides>36</Slides>
  <Notes>1</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Abadi</vt:lpstr>
      <vt:lpstr>Andalus</vt:lpstr>
      <vt:lpstr>Aptos</vt:lpstr>
      <vt:lpstr>Arial</vt:lpstr>
      <vt:lpstr>Calibri</vt:lpstr>
      <vt:lpstr>Trade Gothic LT Pro</vt:lpstr>
      <vt:lpstr>Trebuchet MS</vt:lpstr>
      <vt:lpstr>Tw Cen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Reham Hesham</dc:creator>
  <cp:lastModifiedBy>Doaa Abdellatif Mahmoud Abo_Zeid</cp:lastModifiedBy>
  <cp:revision>72</cp:revision>
  <dcterms:created xsi:type="dcterms:W3CDTF">2025-11-29T02:10:01Z</dcterms:created>
  <dcterms:modified xsi:type="dcterms:W3CDTF">2025-11-30T19:13:22Z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